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A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4A2C"/>
                </a:solidFill>
                <a:latin typeface="Calibri"/>
              </a:rPr>
              <a:t>Cumulative CO2e Savings by Shipment (kg)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Carbon Savings (kg CO2e)</c:v>
                </c:pt>
              </c:strCache>
            </c:strRef>
          </c:tx>
          <c:spPr>
            <a:solidFill>
              <a:srgbClr val="1F4A2C"/>
            </a:solidFill>
            <a:ln w="38100" cap="flat">
              <a:solidFill>
                <a:srgbClr val="1F4A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4A2C"/>
              </a:solidFill>
              <a:ln w="9525" cap="flat">
                <a:solidFill>
                  <a:srgbClr val="1F4A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S6</c:v>
                  </c:pt>
                  <c:pt idx="6">
                    <c:v>S7</c:v>
                  </c:pt>
                  <c:pt idx="7">
                    <c:v>S8</c:v>
                  </c:pt>
                  <c:pt idx="8">
                    <c:v>S9</c:v>
                  </c:pt>
                  <c:pt idx="9">
                    <c:v>S10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3.5</c:v>
                </c:pt>
                <c:pt idx="1">
                  <c:v>3.5</c:v>
                </c:pt>
                <c:pt idx="2">
                  <c:v>9</c:v>
                </c:pt>
                <c:pt idx="3">
                  <c:v>9</c:v>
                </c:pt>
                <c:pt idx="4">
                  <c:v>15</c:v>
                </c:pt>
                <c:pt idx="5">
                  <c:v>19.5</c:v>
                </c:pt>
                <c:pt idx="6">
                  <c:v>19.5</c:v>
                </c:pt>
                <c:pt idx="7">
                  <c:v>25</c:v>
                </c:pt>
                <c:pt idx="8">
                  <c:v>28</c:v>
                </c:pt>
                <c:pt idx="9">
                  <c:v>31.14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B6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B6C"/>
                    </a:solidFill>
                    <a:latin typeface="Arial"/>
                  </a:rPr>
                  <a:t>kg CO2e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Predicted CO2e (kg)</c:v>
                </c:pt>
              </c:strCache>
            </c:strRef>
          </c:tx>
          <c:spPr>
            <a:solidFill>
              <a:srgbClr val="1F4A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Diesel Truck</c:v>
                  </c:pt>
                  <c:pt idx="1">
                    <c:v>Hybrid Van</c:v>
                  </c:pt>
                  <c:pt idx="2">
                    <c:v>Electric Van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</c:v>
                </c:pt>
                <c:pt idx="1">
                  <c:v>4.8</c:v>
                </c:pt>
                <c:pt idx="2">
                  <c:v>-1.6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B6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B6C"/>
                    </a:solidFill>
                    <a:latin typeface="Arial"/>
                  </a:rPr>
                  <a:t>kg CO2e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6E9A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Carbon Savings
(kg, higher=better)</c:v>
                  </c:pt>
                  <c:pt idx="1">
                    <c:v>Emissions Intensity
(x100, lower=better)</c:v>
                  </c:pt>
                  <c:pt idx="2">
                    <c:v>Max CO2e/Shipment
(kg, lower=better)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31.14</c:v>
                </c:pt>
                <c:pt idx="1">
                  <c:v>1.51</c:v>
                </c:pt>
                <c:pt idx="2">
                  <c:v>15.4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D8E0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Carbon Savings
(kg, higher=better)</c:v>
                  </c:pt>
                  <c:pt idx="1">
                    <c:v>Emissions Intensity
(x100, lower=better)</c:v>
                  </c:pt>
                  <c:pt idx="2">
                    <c:v>Max CO2e/Shipment
(kg, lower=better)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2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B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760720"/>
            <a:ext cx="1005840" cy="100584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LOGISTICS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Logistics Optimization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Footprint &amp; Cost Analysis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data for ESG performance and operational efficiency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5074920"/>
            <a:ext cx="128016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[Your Name / Team Name]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[Current 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&amp; Business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predict, and optimize logistics operations to reduce carbon footprint and improve cost efficiency — directly supporting corporate ESG goals.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EF4E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ESG FOCUS AREAS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898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2461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gas emissions reduction (CO2e) and sustainable resource utilization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4270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6177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supply chain efficiency and fuel consumption management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5669280" cy="3931920"/>
          </a:xfrm>
          <a:prstGeom prst="roundRect">
            <a:avLst>
              <a:gd name="adj" fmla="val 1860"/>
            </a:avLst>
          </a:prstGeom>
          <a:solidFill>
            <a:srgbClr val="1F4A2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VALUE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935224"/>
            <a:ext cx="128016" cy="12801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752344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brand reputation and stakeholder trust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685032"/>
            <a:ext cx="128016" cy="12801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0215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evolving environmental regulations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434840"/>
            <a:ext cx="128016" cy="12801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2519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cost savings through optimized fuel use and operational planning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5184648"/>
            <a:ext cx="128016" cy="128016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5001768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in a sustainability-conscious market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logistics operational data (dummy CSV) — 10 shipments across 19 analyzed metrics.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37560" cy="1051560"/>
          </a:xfrm>
          <a:prstGeom prst="roundRect">
            <a:avLst>
              <a:gd name="adj" fmla="val 6087"/>
            </a:avLst>
          </a:prstGeom>
          <a:solidFill>
            <a:srgbClr val="EEF4E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(rows)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1965960"/>
            <a:ext cx="3337560" cy="1051560"/>
          </a:xfrm>
          <a:prstGeom prst="roundRect">
            <a:avLst>
              <a:gd name="adj" fmla="val 6087"/>
            </a:avLst>
          </a:prstGeom>
          <a:solidFill>
            <a:srgbClr val="EEF4E8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0116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40680" y="2011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metrics (columns)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965960"/>
            <a:ext cx="3337560" cy="1051560"/>
          </a:xfrm>
          <a:prstGeom prst="roundRect">
            <a:avLst>
              <a:gd name="adj" fmla="val 6087"/>
            </a:avLst>
          </a:prstGeom>
          <a:solidFill>
            <a:srgbClr val="EEF4E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0116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961120" y="20116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modes compared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KEY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394960" cy="2514600"/>
          </a:xfrm>
          <a:prstGeom prst="roundRect">
            <a:avLst>
              <a:gd name="adj" fmla="val 2545"/>
            </a:avLst>
          </a:prstGeom>
          <a:solidFill>
            <a:srgbClr val="EEF4E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Shipment_ID, Date, Facility_Type, Urban_Zone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Transit_Mode — primary determinant of emissions (Diesel Truck, Electric Van, Hybrid Van)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 — distance traveled per shipment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Medical_Payload_kg — weight of goods transported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Traffic_Density_Index — environmental efficiency factor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Actual_Fuel_Liters, Actual_CO2e_kg, Late_Delivery_Flag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3337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&amp; CALCULATED FEATURES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86400" cy="2514600"/>
          </a:xfrm>
          <a:prstGeom prst="roundRect">
            <a:avLst>
              <a:gd name="adj" fmla="val 2545"/>
            </a:avLst>
          </a:prstGeom>
          <a:solidFill>
            <a:srgbClr val="1F4A2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822192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Predicted_CO2e_kg — model-generated CO2e emissions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Emissions_Intensity_CO2e_per_kg — CO2e emitted per kg of payload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Carbon_Savings_kg — reduction vs. all-diesel-truck baseline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Actual_Fuel_Cost, Baseline_Fuel_Cost, Estimated_Fuel_Cost_Variance — financial impact metrics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forecast Actual_CO2e_kg from shipment characteristics using Multiple Linear Regression (Scikit-Learn).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EEF4E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 (PREDICTORS)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384048" cy="384048"/>
          </a:xfrm>
          <a:prstGeom prst="ellipse">
            <a:avLst/>
          </a:prstGeom>
          <a:solidFill>
            <a:srgbClr val="6E9A4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8895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384048" cy="384048"/>
          </a:xfrm>
          <a:prstGeom prst="ellipse">
            <a:avLst/>
          </a:prstGeom>
          <a:solidFill>
            <a:srgbClr val="6E9A4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5112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Medical_Payload_kg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123944"/>
            <a:ext cx="384048" cy="384048"/>
          </a:xfrm>
          <a:prstGeom prst="ellipse">
            <a:avLst/>
          </a:prstGeom>
          <a:solidFill>
            <a:srgbClr val="6E9A4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33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Traffic_Density_Index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745736"/>
            <a:ext cx="384048" cy="384048"/>
          </a:xfrm>
          <a:prstGeom prst="ellipse">
            <a:avLst/>
          </a:prstGeom>
          <a:solidFill>
            <a:srgbClr val="6E9A4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754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Transit_Mode (one-hot encoded)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45896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model generates Predicted_CO2e_kg per shipment, enabling proactive emissions monitoring.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(TEST SET)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9320" y="25146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1F4A2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~0.38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21792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variance in actual CO2e explained by the 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15400" y="25146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D99A2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926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~2.12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914400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squared difference: predicted vs. actual CO2e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34340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EEF4E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526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8006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reflects a 10-shipment pilot dataset intended to validate the end-to-end pipeline. Accuracy is expected to improve materially as historical shipment volume grows.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Reporting: Key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4E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92.49 kg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Predicted Emissions (CO2e)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4E8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75564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95.40 kg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53712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Emissions (CO2e)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4E8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75564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0.0151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30184" y="26060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Emissions Intensity (kg CO2e / kg payload)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4A2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502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31.14 kg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Carbon Savings vs. Baseline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EF4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39502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0.0299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53712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vs. High Emission Correlation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37490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F4A2C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39502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-$15.75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30184" y="4800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Fuel Cost Variance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 correlation is very weak — emissions are not a primary driver of delivery timeliness in this dataset.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ESG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Carbon Savings Over Time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1F4A2C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21031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carbon savings show a positive, growing trend — demonstrating effective emissions reduction over time, reaching over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3520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kg CO2e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503920" y="4114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 savings across the 10-shipment pilot.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VS. ESG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by Transit Mode &amp; ESG Target Attainment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PREDICTED CO2e EMISSIONS BY SHIPPING MODE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 VS. CORPORATE ESG TARGETS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72200" y="173736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099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Achieved Carbon Reductions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carbon savings through strategic logistics choices.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7830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7099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of Transit 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02996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is the most critical factor influencing CO2e — Electric and Hybrid Vans offer significant advantages.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C5F2D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004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1272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Efficiency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4472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changes produced a positive fuel cost variance — economic benefit alongside environmental gain.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20040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1272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Target Attainment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4472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performance exceeds all set ESG targets, showcasing strong sustainability progress.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D99A2B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617720"/>
            <a:ext cx="457200" cy="45720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5445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Analysis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48646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 correlation between higher emissions and late deliveries — emissions focus alone won't move delivery timeliness.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EEF4E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Transit Mode Optimization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prioritize Electric &amp; Hybrid Vans for feasible routes, especially high-density urban areas and lighter payloads.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60020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EEF4E8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Payload Utilization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301752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advanced load planning and route optimization tools to keep vehicles operating at optimal capacity.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60020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EEF4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828800"/>
            <a:ext cx="502920" cy="502920"/>
          </a:xfrm>
          <a:prstGeom prst="ellipse">
            <a:avLst/>
          </a:prstGeom>
          <a:solidFill>
            <a:srgbClr val="1F4A2C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92440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4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ESG Target Setting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92440" y="301752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current success, revise and set more ambitious targets for emissions, fuel efficiency, and sustainable practices.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41605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F4A2C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6040" y="43891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06040" y="502920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Leverage Advanced Analytics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06040" y="557784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data for dynamic route adjustments, predictive maintenance, and sharper emissions forecasting.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16052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F4A2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438912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502920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Stakeholder Engagement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5577840"/>
            <a:ext cx="29992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F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communicate sustainability performance, achievements, and future goals internally and externally.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2026-08-26T03:29:20Z</dcterms:created>
  <dcterms:modified xsi:type="dcterms:W3CDTF">2026-08-26T03:29:20Z</dcterms:modified>
</cp:coreProperties>
</file>