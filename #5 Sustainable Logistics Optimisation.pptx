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A2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1430000" y="5760720"/>
            <a:ext cx="1005840" cy="1005840"/>
          </a:xfrm>
          <a:prstGeom prst="ellipse">
            <a:avLst/>
          </a:prstGeom>
          <a:solidFill>
            <a:srgbClr val="D99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SUSTAINABLE LOGISTICS ANALYTICS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85800" y="187452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Sustainable Logistics Optimization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269748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97BC62"/>
                </a:solidFill>
                <a:latin typeface="Cambria"/>
                <a:ea typeface="Cambria"/>
                <a:cs typeface="Cambria"/>
                <a:sym typeface="Cambria"/>
              </a:rPr>
              <a:t>Carbon Footprint &amp; Cost Analysis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33375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E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4F7EF"/>
                </a:solidFill>
                <a:latin typeface="Calibri"/>
                <a:ea typeface="Calibri"/>
                <a:cs typeface="Calibri"/>
                <a:sym typeface="Calibri"/>
              </a:rPr>
              <a:t>Leveraging data for ESG performance and operational efficiency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749808" y="5074920"/>
            <a:ext cx="1280160" cy="0"/>
          </a:xfrm>
          <a:prstGeom prst="straightConnector1">
            <a:avLst/>
          </a:prstGeom>
          <a:noFill/>
          <a:ln cap="flat" cmpd="sng" w="254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9A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9A46"/>
                </a:solidFill>
                <a:latin typeface="Calibri"/>
                <a:ea typeface="Calibri"/>
                <a:cs typeface="Calibri"/>
                <a:sym typeface="Calibri"/>
              </a:rPr>
              <a:t>STRATEGIC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ESG &amp; Business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Analyze, predict, and optimize logistics operations to reduce carbon footprint and improve cost efficiency — directly supporting corporate ESG goals.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2194560"/>
            <a:ext cx="5212080" cy="3931920"/>
          </a:xfrm>
          <a:prstGeom prst="roundRect">
            <a:avLst>
              <a:gd fmla="val 1860" name="adj"/>
            </a:avLst>
          </a:prstGeom>
          <a:solidFill>
            <a:srgbClr val="EEF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68680" y="24231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KEY ESG FOCUS AREAS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68680" y="2926080"/>
            <a:ext cx="502920" cy="502920"/>
          </a:xfrm>
          <a:prstGeom prst="ellipse">
            <a:avLst/>
          </a:prstGeom>
          <a:solidFill>
            <a:srgbClr val="1F4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868680" y="2926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🌍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554480" y="28986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Environmental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554480" y="3246120"/>
            <a:ext cx="3977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Greenhouse gas emissions reduction (CO2e) and sustainable resource utilization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1F4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68680" y="4297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54480" y="42702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Operational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554480" y="4617720"/>
            <a:ext cx="3977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Enhanced supply chain efficiency and fuel consumption management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989320" y="2194560"/>
            <a:ext cx="5669280" cy="3931920"/>
          </a:xfrm>
          <a:prstGeom prst="roundRect">
            <a:avLst>
              <a:gd fmla="val 1860" name="adj"/>
            </a:avLst>
          </a:prstGeom>
          <a:solidFill>
            <a:srgbClr val="1F4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309360" y="24231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EXPECTED BUSINESS 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309360" y="2935224"/>
            <a:ext cx="128016" cy="128016"/>
          </a:xfrm>
          <a:prstGeom prst="ellipse">
            <a:avLst/>
          </a:prstGeom>
          <a:solidFill>
            <a:srgbClr val="D99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583680" y="2752344"/>
            <a:ext cx="4892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Improved brand reputation and stakeholder trust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09360" y="3685032"/>
            <a:ext cx="128016" cy="128016"/>
          </a:xfrm>
          <a:prstGeom prst="ellipse">
            <a:avLst/>
          </a:prstGeom>
          <a:solidFill>
            <a:srgbClr val="D99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583680" y="3502152"/>
            <a:ext cx="4892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 with evolving environmental regulations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309360" y="4434840"/>
            <a:ext cx="128016" cy="128016"/>
          </a:xfrm>
          <a:prstGeom prst="ellipse">
            <a:avLst/>
          </a:prstGeom>
          <a:solidFill>
            <a:srgbClr val="D99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583680" y="4251960"/>
            <a:ext cx="4892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Realized cost savings through optimized fuel use and operational planning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309360" y="5184648"/>
            <a:ext cx="128016" cy="128016"/>
          </a:xfrm>
          <a:prstGeom prst="ellipse">
            <a:avLst/>
          </a:prstGeom>
          <a:solidFill>
            <a:srgbClr val="D99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583680" y="5001768"/>
            <a:ext cx="4892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Competitive advantage in a sustainability-conscious market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9A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9A46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Data Acquisition &amp; Feature Engineering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Internal logistics operational data (dummy CSV) — 10 shipments across 19 analyzed metrics.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1965960"/>
            <a:ext cx="3337560" cy="1051560"/>
          </a:xfrm>
          <a:prstGeom prst="roundRect">
            <a:avLst>
              <a:gd fmla="val 6087" name="adj"/>
            </a:avLst>
          </a:prstGeom>
          <a:solidFill>
            <a:srgbClr val="EEF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731520" y="201168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920240" y="201168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Shipments (rows)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069080" y="1965960"/>
            <a:ext cx="3337560" cy="1051560"/>
          </a:xfrm>
          <a:prstGeom prst="roundRect">
            <a:avLst>
              <a:gd fmla="val 6087" name="adj"/>
            </a:avLst>
          </a:prstGeom>
          <a:solidFill>
            <a:srgbClr val="EEF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251960" y="201168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19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440680" y="201168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Analyzed metrics (columns)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589520" y="1965960"/>
            <a:ext cx="3337560" cy="1051560"/>
          </a:xfrm>
          <a:prstGeom prst="roundRect">
            <a:avLst>
              <a:gd fmla="val 6087" name="adj"/>
            </a:avLst>
          </a:prstGeom>
          <a:solidFill>
            <a:srgbClr val="EEF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772400" y="201168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961120" y="201168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Transit modes compared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48640" y="333756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ORIGINAL KEY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48640" y="3657600"/>
            <a:ext cx="5394960" cy="2514600"/>
          </a:xfrm>
          <a:prstGeom prst="roundRect">
            <a:avLst>
              <a:gd fmla="val 2545" name="adj"/>
            </a:avLst>
          </a:prstGeom>
          <a:solidFill>
            <a:srgbClr val="EEF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777240" y="3794760"/>
            <a:ext cx="49377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Shipment_ID, Date, Facility_Type, Urban_Zone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Transit_Mode — primary determinant of emissions (Diesel Truck, Electric Van, Hybrid Van)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Distance_km — distance traveled per shipment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Medical_Payload_kg — weight of goods transported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Traffic_Density_Index — environmental efficiency factor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Actual_Fuel_Liters, Actual_CO2e_kg, Late_Delivery_Flag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172200" y="333756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ENGINEERED &amp; CALCULATED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172200" y="3657600"/>
            <a:ext cx="5486400" cy="2514600"/>
          </a:xfrm>
          <a:prstGeom prst="roundRect">
            <a:avLst>
              <a:gd fmla="val 2545" name="adj"/>
            </a:avLst>
          </a:prstGeom>
          <a:solidFill>
            <a:srgbClr val="1F4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400800" y="3822192"/>
            <a:ext cx="50292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Predicted_CO2e_kg — model-generated CO2e emissions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Emissions_Intensity_CO2e_per_kg — CO2e emitted per kg of payload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Carbon_Savings_kg — reduction vs. all-diesel-truck baseline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Actual_Fuel_Cost, Baseline_Fuel_Cost, Estimated_Fuel_Cost_Variance — financial impact metrics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9A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9A46"/>
                </a:solidFill>
                <a:latin typeface="Calibri"/>
                <a:ea typeface="Calibri"/>
                <a:cs typeface="Calibri"/>
                <a:sym typeface="Calibri"/>
              </a:rPr>
              <a:t>MODELING APPROACH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Predictive Modeling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Goal: forecast Actual_CO2e_kg from shipment characteristics using Multiple Linear Regression (Scikit-Learn).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48640" y="2103120"/>
            <a:ext cx="5120640" cy="3840480"/>
          </a:xfrm>
          <a:prstGeom prst="roundRect">
            <a:avLst>
              <a:gd fmla="val 1905" name="adj"/>
            </a:avLst>
          </a:prstGeom>
          <a:solidFill>
            <a:srgbClr val="EEF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868680" y="2331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INDEPENDENT VARIABLES (PREDICTORS)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68680" y="2880360"/>
            <a:ext cx="384048" cy="384048"/>
          </a:xfrm>
          <a:prstGeom prst="ellipse">
            <a:avLst/>
          </a:prstGeom>
          <a:solidFill>
            <a:srgbClr val="6E9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868680" y="28803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417320" y="2889504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Distance_km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868680" y="3502152"/>
            <a:ext cx="384048" cy="384048"/>
          </a:xfrm>
          <a:prstGeom prst="ellipse">
            <a:avLst/>
          </a:prstGeom>
          <a:solidFill>
            <a:srgbClr val="6E9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868680" y="35021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417320" y="3511296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Medical_Payload_kg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868680" y="4123944"/>
            <a:ext cx="384048" cy="384048"/>
          </a:xfrm>
          <a:prstGeom prst="ellipse">
            <a:avLst/>
          </a:prstGeom>
          <a:solidFill>
            <a:srgbClr val="6E9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868680" y="41239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417320" y="4133088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Traffic_Density_Index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868680" y="4745736"/>
            <a:ext cx="384048" cy="384048"/>
          </a:xfrm>
          <a:prstGeom prst="ellipse">
            <a:avLst/>
          </a:prstGeom>
          <a:solidFill>
            <a:srgbClr val="6E9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68680" y="47457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417320" y="47548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Transit_Mode (one-hot encoded)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868680" y="5458968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6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B6C"/>
                </a:solidFill>
                <a:latin typeface="Calibri"/>
                <a:ea typeface="Calibri"/>
                <a:cs typeface="Calibri"/>
                <a:sym typeface="Calibri"/>
              </a:rPr>
              <a:t>Output: model generates Predicted_CO2e_kg per shipment, enabling proactive emissions monitoring.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989320" y="21031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MODEL PERFORMANCE (TEST SET)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989320" y="2514600"/>
            <a:ext cx="2743200" cy="1691640"/>
          </a:xfrm>
          <a:prstGeom prst="roundRect">
            <a:avLst>
              <a:gd fmla="val 4324" name="adj"/>
            </a:avLst>
          </a:prstGeom>
          <a:solidFill>
            <a:srgbClr val="1F4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21792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217920" y="29260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~0.38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217920" y="370332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4F7EF"/>
                </a:solidFill>
                <a:latin typeface="Calibri"/>
                <a:ea typeface="Calibri"/>
                <a:cs typeface="Calibri"/>
                <a:sym typeface="Calibri"/>
              </a:rPr>
              <a:t>of variance in actual CO2e explained by the 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915400" y="2514600"/>
            <a:ext cx="2743200" cy="1691640"/>
          </a:xfrm>
          <a:prstGeom prst="roundRect">
            <a:avLst>
              <a:gd fmla="val 4324" name="adj"/>
            </a:avLst>
          </a:prstGeom>
          <a:solidFill>
            <a:srgbClr val="D99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914400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MSE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9144000" y="29260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~2.12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9144000" y="370332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avg. squared difference: predicted vs. actual CO2e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989320" y="4343400"/>
            <a:ext cx="5669280" cy="1600200"/>
          </a:xfrm>
          <a:prstGeom prst="roundRect">
            <a:avLst>
              <a:gd fmla="val 4571" name="adj"/>
            </a:avLst>
          </a:prstGeom>
          <a:solidFill>
            <a:srgbClr val="EEF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309360" y="45262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Pipeline note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309360" y="4800600"/>
            <a:ext cx="5120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Performance reflects a 10-shipment pilot dataset intended to validate the end-to-end pipeline. Accuracy is expected to improve materially as historical shipment volume grows.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9A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9A46"/>
                </a:solidFill>
                <a:latin typeface="Calibri"/>
                <a:ea typeface="Calibri"/>
                <a:cs typeface="Calibri"/>
                <a:sym typeface="Calibri"/>
              </a:rPr>
              <a:t>BUSINESS INTELLIGENCE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ESG Reporting: Key Metrics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48640" y="1554480"/>
            <a:ext cx="3611880" cy="1965960"/>
          </a:xfrm>
          <a:prstGeom prst="roundRect">
            <a:avLst>
              <a:gd fmla="val 3721" name="adj"/>
            </a:avLst>
          </a:prstGeom>
          <a:solidFill>
            <a:srgbClr val="EEF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777240" y="1755648"/>
            <a:ext cx="3154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92.49 kg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77240" y="260604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Total Predicted Emissions (CO2e)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325112" y="1554480"/>
            <a:ext cx="3611880" cy="1965960"/>
          </a:xfrm>
          <a:prstGeom prst="roundRect">
            <a:avLst>
              <a:gd fmla="val 3721" name="adj"/>
            </a:avLst>
          </a:prstGeom>
          <a:solidFill>
            <a:srgbClr val="EEF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553712" y="1755648"/>
            <a:ext cx="3154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95.40 kg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553712" y="260604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Total Actual Emissions (CO2e)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8101584" y="1554480"/>
            <a:ext cx="3611880" cy="1965960"/>
          </a:xfrm>
          <a:prstGeom prst="roundRect">
            <a:avLst>
              <a:gd fmla="val 3721" name="adj"/>
            </a:avLst>
          </a:prstGeom>
          <a:solidFill>
            <a:srgbClr val="EEF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8330184" y="1755648"/>
            <a:ext cx="3154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0.0151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8330184" y="260604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Mean Emissions Intensity (kg CO2e / kg payload)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48640" y="3749040"/>
            <a:ext cx="3611880" cy="1965960"/>
          </a:xfrm>
          <a:prstGeom prst="roundRect">
            <a:avLst>
              <a:gd fmla="val 3721" name="adj"/>
            </a:avLst>
          </a:prstGeom>
          <a:solidFill>
            <a:srgbClr val="1F4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777240" y="3950208"/>
            <a:ext cx="3154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97BC62"/>
                </a:solidFill>
                <a:latin typeface="Cambria"/>
                <a:ea typeface="Cambria"/>
                <a:cs typeface="Cambria"/>
                <a:sym typeface="Cambria"/>
              </a:rPr>
              <a:t>31.14 kg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77240" y="480060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Carbon Savings vs. Baseline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325112" y="3749040"/>
            <a:ext cx="3611880" cy="1965960"/>
          </a:xfrm>
          <a:prstGeom prst="roundRect">
            <a:avLst>
              <a:gd fmla="val 3721" name="adj"/>
            </a:avLst>
          </a:prstGeom>
          <a:solidFill>
            <a:srgbClr val="EEF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553712" y="3950208"/>
            <a:ext cx="3154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0.0299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553712" y="480060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Late Delivery vs. High Emission Correlation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8101584" y="3749040"/>
            <a:ext cx="3611880" cy="1965960"/>
          </a:xfrm>
          <a:prstGeom prst="roundRect">
            <a:avLst>
              <a:gd fmla="val 3721" name="adj"/>
            </a:avLst>
          </a:prstGeom>
          <a:solidFill>
            <a:srgbClr val="1F4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8330184" y="3950208"/>
            <a:ext cx="3154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97BC62"/>
                </a:solidFill>
                <a:latin typeface="Cambria"/>
                <a:ea typeface="Cambria"/>
                <a:cs typeface="Cambria"/>
                <a:sym typeface="Cambria"/>
              </a:rPr>
              <a:t>-$15.75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330184" y="480060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Estimated Fuel Cost Variance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6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B6C"/>
                </a:solidFill>
                <a:latin typeface="Calibri"/>
                <a:ea typeface="Calibri"/>
                <a:cs typeface="Calibri"/>
                <a:sym typeface="Calibri"/>
              </a:rPr>
              <a:t>Late-delivery correlation is very weak — emissions are not a primary driver of delivery timeliness in this dataset.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9A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9A46"/>
                </a:solidFill>
                <a:latin typeface="Calibri"/>
                <a:ea typeface="Calibri"/>
                <a:cs typeface="Calibri"/>
                <a:sym typeface="Calibri"/>
              </a:rPr>
              <a:t>PERFORMANCE VS. ESG TARGETS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Cumulative Carbon Savings Over Time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740664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/>
          <p:nvPr/>
        </p:nvSpPr>
        <p:spPr>
          <a:xfrm>
            <a:off x="8229600" y="1554480"/>
            <a:ext cx="3429000" cy="4434840"/>
          </a:xfrm>
          <a:prstGeom prst="roundRect">
            <a:avLst>
              <a:gd fmla="val 2133" name="adj"/>
            </a:avLst>
          </a:prstGeom>
          <a:solidFill>
            <a:srgbClr val="1F4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8503920" y="17830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FINDING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8503920" y="210312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Cumulative carbon savings show a positive, growing trend — demonstrating effective emissions reduction over time, reaching over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503920" y="35204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A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D99A2B"/>
                </a:solidFill>
                <a:latin typeface="Cambria"/>
                <a:ea typeface="Cambria"/>
                <a:cs typeface="Cambria"/>
                <a:sym typeface="Cambria"/>
              </a:rPr>
              <a:t>31 kg CO2e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8503920" y="41148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E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7EF"/>
                </a:solidFill>
                <a:latin typeface="Calibri"/>
                <a:ea typeface="Calibri"/>
                <a:cs typeface="Calibri"/>
                <a:sym typeface="Calibri"/>
              </a:rPr>
              <a:t>in total savings across the 10-shipment pilot.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9A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9A46"/>
                </a:solidFill>
                <a:latin typeface="Calibri"/>
                <a:ea typeface="Calibri"/>
                <a:cs typeface="Calibri"/>
                <a:sym typeface="Calibri"/>
              </a:rPr>
              <a:t>PERFORMANCE VS. ESG TARGETS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Emissions by Transit Mode &amp; ESG Target Attainment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48640" y="14173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AVG. PREDICTED CO2e EMISSIONS BY SHIPPING MODE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37360"/>
            <a:ext cx="548640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/>
          <p:nvPr/>
        </p:nvSpPr>
        <p:spPr>
          <a:xfrm>
            <a:off x="6263640" y="14173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SUSTAINABILITY PERFORMANCE VS. CORPORATE ESG TARGETS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737360"/>
            <a:ext cx="557784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C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A2C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Summary Findings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548640" y="1600200"/>
            <a:ext cx="5349240" cy="1234440"/>
          </a:xfrm>
          <a:prstGeom prst="roundRect">
            <a:avLst>
              <a:gd fmla="val 5926" name="adj"/>
            </a:avLst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749808" y="1783080"/>
            <a:ext cx="457200" cy="45720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749808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417320" y="170992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Achieved Carbon Reductions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1417320" y="2029968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E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4F7EF"/>
                </a:solidFill>
                <a:latin typeface="Calibri"/>
                <a:ea typeface="Calibri"/>
                <a:cs typeface="Calibri"/>
                <a:sym typeface="Calibri"/>
              </a:rPr>
              <a:t>Quantifiable carbon savings through strategic logistics choices.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6172200" y="1600200"/>
            <a:ext cx="5349240" cy="1234440"/>
          </a:xfrm>
          <a:prstGeom prst="roundRect">
            <a:avLst>
              <a:gd fmla="val 5926" name="adj"/>
            </a:avLst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6373368" y="1783080"/>
            <a:ext cx="457200" cy="45720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6373368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7040880" y="170992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Impact of Transit Mode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7040880" y="2029968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E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4F7EF"/>
                </a:solidFill>
                <a:latin typeface="Calibri"/>
                <a:ea typeface="Calibri"/>
                <a:cs typeface="Calibri"/>
                <a:sym typeface="Calibri"/>
              </a:rPr>
              <a:t>Vehicle type is the most critical factor influencing CO2e — Electric and Hybrid Vans offer significant advantages.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548640" y="3017520"/>
            <a:ext cx="5349240" cy="1234440"/>
          </a:xfrm>
          <a:prstGeom prst="roundRect">
            <a:avLst>
              <a:gd fmla="val 5926" name="adj"/>
            </a:avLst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749808" y="3200400"/>
            <a:ext cx="457200" cy="45720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749808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417320" y="312724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Cost Efficiency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1417320" y="3447288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E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4F7EF"/>
                </a:solidFill>
                <a:latin typeface="Calibri"/>
                <a:ea typeface="Calibri"/>
                <a:cs typeface="Calibri"/>
                <a:sym typeface="Calibri"/>
              </a:rPr>
              <a:t>Operational changes produced a positive fuel cost variance — economic benefit alongside environmental gain.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172200" y="3017520"/>
            <a:ext cx="5349240" cy="1234440"/>
          </a:xfrm>
          <a:prstGeom prst="roundRect">
            <a:avLst>
              <a:gd fmla="val 5926" name="adj"/>
            </a:avLst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6373368" y="3200400"/>
            <a:ext cx="457200" cy="45720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6373368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7040880" y="312724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ESG Target Attainment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7040880" y="3447288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E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4F7EF"/>
                </a:solidFill>
                <a:latin typeface="Calibri"/>
                <a:ea typeface="Calibri"/>
                <a:cs typeface="Calibri"/>
                <a:sym typeface="Calibri"/>
              </a:rPr>
              <a:t>Current performance exceeds all set ESG targets, showcasing strong sustainability progress.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548640" y="4434840"/>
            <a:ext cx="10972800" cy="1234440"/>
          </a:xfrm>
          <a:prstGeom prst="roundRect">
            <a:avLst>
              <a:gd fmla="val 5926" name="adj"/>
            </a:avLst>
          </a:prstGeom>
          <a:solidFill>
            <a:srgbClr val="D99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749808" y="4617720"/>
            <a:ext cx="457200" cy="457200"/>
          </a:xfrm>
          <a:prstGeom prst="ellipse">
            <a:avLst/>
          </a:prstGeom>
          <a:solidFill>
            <a:srgbClr val="1F4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749808" y="4617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1417320" y="4544568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Late Delivery Analysis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1417320" y="4864608"/>
            <a:ext cx="10149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Very weak correlation between higher emissions and late deliveries — emissions focus alone won't move delivery timeliness.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C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9A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9A46"/>
                </a:solidFill>
                <a:latin typeface="Calibri"/>
                <a:ea typeface="Calibri"/>
                <a:cs typeface="Calibri"/>
                <a:sym typeface="Calibri"/>
              </a:rPr>
              <a:t>PATH FORWARD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Recommendations &amp; Next Steps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548640" y="1600200"/>
            <a:ext cx="3456432" cy="2331720"/>
          </a:xfrm>
          <a:prstGeom prst="roundRect">
            <a:avLst>
              <a:gd fmla="val 3137" name="adj"/>
            </a:avLst>
          </a:prstGeom>
          <a:solidFill>
            <a:srgbClr val="EEF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F4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777240" y="246888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Strategic Transit Mode Optimization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777240" y="3017520"/>
            <a:ext cx="29992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Systematically prioritize Electric &amp; Hybrid Vans for feasible routes, especially high-density urban areas and lighter payloads.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4206240" y="1600200"/>
            <a:ext cx="3456432" cy="2331720"/>
          </a:xfrm>
          <a:prstGeom prst="roundRect">
            <a:avLst>
              <a:gd fmla="val 3137" name="adj"/>
            </a:avLst>
          </a:prstGeom>
          <a:solidFill>
            <a:srgbClr val="EEF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4434840" y="1828800"/>
            <a:ext cx="502920" cy="502920"/>
          </a:xfrm>
          <a:prstGeom prst="ellipse">
            <a:avLst/>
          </a:prstGeom>
          <a:solidFill>
            <a:srgbClr val="1F4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4434840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434840" y="246888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Maximize Payload Utilization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4434840" y="3017520"/>
            <a:ext cx="29992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Implement advanced load planning and route optimization tools to keep vehicles operating at optimal capacity.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7863840" y="1600200"/>
            <a:ext cx="3456432" cy="2331720"/>
          </a:xfrm>
          <a:prstGeom prst="roundRect">
            <a:avLst>
              <a:gd fmla="val 3137" name="adj"/>
            </a:avLst>
          </a:prstGeom>
          <a:solidFill>
            <a:srgbClr val="EEF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8092440" y="1828800"/>
            <a:ext cx="502920" cy="502920"/>
          </a:xfrm>
          <a:prstGeom prst="ellipse">
            <a:avLst/>
          </a:prstGeom>
          <a:solidFill>
            <a:srgbClr val="1F4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8092440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8092440" y="246888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F4A2C"/>
                </a:solidFill>
                <a:latin typeface="Cambria"/>
                <a:ea typeface="Cambria"/>
                <a:cs typeface="Cambria"/>
                <a:sym typeface="Cambria"/>
              </a:rPr>
              <a:t>Continuous ESG Target Setting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8092440" y="3017520"/>
            <a:ext cx="29992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Given current success, revise and set more ambitious targets for emissions, fuel efficiency, and sustainable practices.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2377440" y="4160520"/>
            <a:ext cx="3456432" cy="2331720"/>
          </a:xfrm>
          <a:prstGeom prst="roundRect">
            <a:avLst>
              <a:gd fmla="val 3137" name="adj"/>
            </a:avLst>
          </a:prstGeom>
          <a:solidFill>
            <a:srgbClr val="1F4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2606040" y="4389120"/>
            <a:ext cx="502920" cy="50292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2606040" y="4389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2606040" y="502920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Leverage Advanced Analytics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2606040" y="5577840"/>
            <a:ext cx="29992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4F7EF"/>
                </a:solidFill>
                <a:latin typeface="Calibri"/>
                <a:ea typeface="Calibri"/>
                <a:cs typeface="Calibri"/>
                <a:sym typeface="Calibri"/>
              </a:rPr>
              <a:t>Integrate real-time data for dynamic route adjustments, predictive maintenance, and sharper emissions forecasting.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6035040" y="4160520"/>
            <a:ext cx="3456432" cy="2331720"/>
          </a:xfrm>
          <a:prstGeom prst="roundRect">
            <a:avLst>
              <a:gd fmla="val 3137" name="adj"/>
            </a:avLst>
          </a:prstGeom>
          <a:solidFill>
            <a:srgbClr val="1F4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6263640" y="4389120"/>
            <a:ext cx="502920" cy="50292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6263640" y="4389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A2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F4A2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6263640" y="502920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Proactive Stakeholder Engagement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263640" y="5577840"/>
            <a:ext cx="29992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4F7EF"/>
                </a:solidFill>
                <a:latin typeface="Calibri"/>
                <a:ea typeface="Calibri"/>
                <a:cs typeface="Calibri"/>
                <a:sym typeface="Calibri"/>
              </a:rPr>
              <a:t>Regularly communicate sustainability performance, achievements, and future goals internally and externally.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C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