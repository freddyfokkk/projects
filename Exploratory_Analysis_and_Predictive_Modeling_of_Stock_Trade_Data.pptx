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Volume ($B)</c:v>
                </c:pt>
              </c:strCache>
            </c:strRef>
          </c:tx>
          <c:spPr>
            <a:solidFill>
              <a:srgbClr val="00C48C"/>
            </a:solidFill>
            <a:effectLst/>
          </c:spPr>
          <c:invertIfNegative val="0"/>
          <c:dLbls>
            <c:numFmt formatCode="&quot;$&quot;0.00&quot;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321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C4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Charles Schwab</c:v>
                  </c:pt>
                  <c:pt idx="1">
                    <c:v>Interactive Brokers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9.006</c:v>
                </c:pt>
                <c:pt idx="1">
                  <c:v>8.95</c:v>
                </c:pt>
              </c:numCache>
            </c:numRef>
          </c:val>
        </c:ser>
        <c:dLbls>
          <c:numFmt formatCode="&quot;$&quot;0.00&quot;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321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321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R2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C48C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3A4472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Explained</c:v>
                </c:pt>
                <c:pt idx="1">
                  <c:v>Unexplained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42.5</c:v>
                </c:pt>
                <c:pt idx="1">
                  <c:v>57.5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2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1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3365" y="5005493"/>
            <a:ext cx="506730" cy="1029547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266825" y="4715933"/>
            <a:ext cx="506730" cy="1319107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2280285" y="5198533"/>
            <a:ext cx="506730" cy="836507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3293745" y="4426373"/>
            <a:ext cx="506730" cy="1608667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4307205" y="4812453"/>
            <a:ext cx="506730" cy="1222587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5320665" y="4555067"/>
            <a:ext cx="506730" cy="1479973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6334125" y="5069840"/>
            <a:ext cx="506730" cy="965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7347585" y="4297680"/>
            <a:ext cx="506730" cy="1737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8361045" y="4683760"/>
            <a:ext cx="506730" cy="1351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9374505" y="4876800"/>
            <a:ext cx="506730" cy="1158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10387965" y="4458547"/>
            <a:ext cx="506730" cy="1576493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01425" y="4973320"/>
            <a:ext cx="506730" cy="1061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233172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Trade Data Analysis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Predictive Modeling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22960" y="42976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raw trade records  •  Jan 2020 – Dec 2023  •  Volume-Price Trend Analysis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Engineering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ingest and process raw trade records to uncover market trends and evaluate volume-price relationships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88036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pic>
        <p:nvPicPr>
          <p:cNvPr id="5" name="Image 0" descr="icon_databas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659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060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50,000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32004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trade records ingested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502152" y="2976372"/>
            <a:ext cx="356616" cy="219456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9" name="Shape 6"/>
          <p:cNvSpPr/>
          <p:nvPr/>
        </p:nvSpPr>
        <p:spPr>
          <a:xfrm>
            <a:off x="3931920" y="1691640"/>
            <a:ext cx="2880360" cy="2788920"/>
          </a:xfrm>
          <a:prstGeom prst="roundRect">
            <a:avLst>
              <a:gd name="adj" fmla="val 2623"/>
            </a:avLst>
          </a:prstGeom>
          <a:solidFill>
            <a:srgbClr val="132140"/>
          </a:solidFill>
          <a:ln/>
          <a:effectLst>
            <a:outerShdw sx="100000" sy="100000" kx="0" ky="0" algn="bl" rotWithShape="0" blurRad="101600" dist="38100" dir="5400000">
              <a:srgbClr val="1E2761">
                <a:alpha val="20000"/>
              </a:srgbClr>
            </a:outerShdw>
          </a:effectLst>
        </p:spPr>
      </p:sp>
      <p:pic>
        <p:nvPicPr>
          <p:cNvPr id="10" name="Image 1" descr="icon_filter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96596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06240" y="2606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Pipeline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206240" y="301752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1–3% missing values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mismatched date formats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string-currency artifacts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885432" y="2976372"/>
            <a:ext cx="356616" cy="219456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4" name="Shape 10"/>
          <p:cNvSpPr/>
          <p:nvPr/>
        </p:nvSpPr>
        <p:spPr>
          <a:xfrm>
            <a:off x="7315200" y="1691640"/>
            <a:ext cx="288036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9050">
            <a:solidFill>
              <a:srgbClr val="00C48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pic>
        <p:nvPicPr>
          <p:cNvPr id="15" name="Image 2" descr="icon_chec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96596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589520" y="26060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35,728</a:t>
            </a:r>
            <a:endParaRPr lang="en-US" sz="3400" dirty="0"/>
          </a:p>
        </p:txBody>
      </p:sp>
      <p:sp>
        <p:nvSpPr>
          <p:cNvPr id="17" name="Text 12"/>
          <p:cNvSpPr/>
          <p:nvPr/>
        </p:nvSpPr>
        <p:spPr>
          <a:xfrm>
            <a:off x="7589520" y="32004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valid records — ready for exploratory analysis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48640" y="4800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71.5% </a:t>
            </a:r>
            <a:pPr algn="l" indent="0" marL="0">
              <a:buNone/>
            </a:pPr>
            <a:r>
              <a:rPr lang="en-US" sz="1300" dirty="0">
                <a:solidFill>
                  <a:srgbClr val="13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raw records retained after cleaning — a high-integrity foundation for the analysis that follows.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window: January 2020 – December 2023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Exploratory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12064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pic>
        <p:nvPicPr>
          <p:cNvPr id="4" name="Image 0" descr="icon_ba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49047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Equities by Trade Volume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2960" y="2103120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00C48C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103120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45920" y="208483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Procter &amp; Gamble — volume leader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645920" y="23591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737,873 shares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" y="2852928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2852928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JPM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645920" y="293522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Closely followed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22960" y="3602736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3602736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645920" y="368503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Closely followed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22960" y="4352544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4352544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645920" y="443484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Closely followed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22960" y="5102352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" y="5102352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645920" y="518464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Closely followed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989320" y="1234440"/>
            <a:ext cx="56235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pic>
        <p:nvPicPr>
          <p:cNvPr id="23" name="Image 1" descr="icon_pi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90472"/>
            <a:ext cx="365760" cy="36576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766560" y="1472184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Brokerage Parity — Total Volume</a:t>
            </a:r>
            <a:endParaRPr lang="en-US" sz="16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6263640" y="2011680"/>
          <a:ext cx="507492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6" name="Shape 21"/>
          <p:cNvSpPr/>
          <p:nvPr/>
        </p:nvSpPr>
        <p:spPr>
          <a:xfrm>
            <a:off x="5989320" y="3794760"/>
            <a:ext cx="5623560" cy="2331720"/>
          </a:xfrm>
          <a:prstGeom prst="roundRect">
            <a:avLst>
              <a:gd name="adj" fmla="val 3137"/>
            </a:avLst>
          </a:prstGeom>
          <a:solidFill>
            <a:srgbClr val="132140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27" name="Image 2" descr="icon_dollar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4050792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766560" y="4032504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Trade Size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6263640" y="4617720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C4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$501k – $503k</a:t>
            </a:r>
            <a:endParaRPr lang="en-US" sz="4000" dirty="0"/>
          </a:p>
        </p:txBody>
      </p:sp>
      <p:sp>
        <p:nvSpPr>
          <p:cNvPr id="30" name="Text 24"/>
          <p:cNvSpPr/>
          <p:nvPr/>
        </p:nvSpPr>
        <p:spPr>
          <a:xfrm>
            <a:off x="6263640" y="539496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averages remained tightly balanced across platforms — a sign of consistent, competitive execution industry-wide.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1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Modeling Insights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Least Squares (OLS) regression of stock price on trade volume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pic>
        <p:nvPicPr>
          <p:cNvPr id="5" name="Image 0" descr="icon_activity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116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60604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Correlation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301752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C4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0.6518</a:t>
            </a:r>
            <a:endParaRPr lang="en-US" sz="4600" dirty="0"/>
          </a:p>
        </p:txBody>
      </p:sp>
      <p:sp>
        <p:nvSpPr>
          <p:cNvPr id="8" name="Shape 5"/>
          <p:cNvSpPr/>
          <p:nvPr/>
        </p:nvSpPr>
        <p:spPr>
          <a:xfrm>
            <a:off x="868680" y="4023360"/>
            <a:ext cx="2788920" cy="146304"/>
          </a:xfrm>
          <a:prstGeom prst="roundRect">
            <a:avLst>
              <a:gd name="adj" fmla="val 50000"/>
            </a:avLst>
          </a:prstGeom>
          <a:solidFill>
            <a:srgbClr val="3A4472"/>
          </a:solidFill>
          <a:ln/>
        </p:spPr>
      </p:sp>
      <p:sp>
        <p:nvSpPr>
          <p:cNvPr id="9" name="Shape 6"/>
          <p:cNvSpPr/>
          <p:nvPr/>
        </p:nvSpPr>
        <p:spPr>
          <a:xfrm>
            <a:off x="3089753" y="3959352"/>
            <a:ext cx="274320" cy="274320"/>
          </a:xfrm>
          <a:prstGeom prst="ellipse">
            <a:avLst/>
          </a:prstGeom>
          <a:solidFill>
            <a:srgbClr val="00C48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4224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291840" y="42245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68680" y="4572000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Moderately strong positive relationship between total Trade Volume and Price.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97680" y="169164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pic>
        <p:nvPicPr>
          <p:cNvPr id="14" name="Image 1" descr="icon_pie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01168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17720" y="260604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Fit (R²)</a:t>
            </a:r>
            <a:endParaRPr lang="en-US" sz="16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800600" y="2926080"/>
          <a:ext cx="242316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Text 12"/>
          <p:cNvSpPr/>
          <p:nvPr/>
        </p:nvSpPr>
        <p:spPr>
          <a:xfrm>
            <a:off x="4800600" y="33832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42.5%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4617720" y="480060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stock price variance is explained by trade volume in this dataset.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046720" y="169164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pic>
        <p:nvPicPr>
          <p:cNvPr id="20" name="Image 2" descr="icon_check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201168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66760" y="260604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Significance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8366760" y="301752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C4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&lt; 0.001</a:t>
            </a:r>
            <a:endParaRPr lang="en-US" sz="4000" dirty="0"/>
          </a:p>
        </p:txBody>
      </p:sp>
      <p:sp>
        <p:nvSpPr>
          <p:cNvPr id="23" name="Shape 17"/>
          <p:cNvSpPr/>
          <p:nvPr/>
        </p:nvSpPr>
        <p:spPr>
          <a:xfrm>
            <a:off x="8366760" y="402336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00C48C"/>
          </a:solidFill>
          <a:ln/>
        </p:spPr>
      </p:sp>
      <p:sp>
        <p:nvSpPr>
          <p:cNvPr id="24" name="Text 18"/>
          <p:cNvSpPr/>
          <p:nvPr/>
        </p:nvSpPr>
        <p:spPr>
          <a:xfrm>
            <a:off x="8366760" y="40233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3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SIGNIFICANT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8366760" y="4663440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trade volume is a highly significant predictor within the model parameters.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2026-08-24T04:46:40Z</dcterms:created>
  <dcterms:modified xsi:type="dcterms:W3CDTF">2026-08-24T04:46:40Z</dcterms:modified>
</cp:coreProperties>
</file>