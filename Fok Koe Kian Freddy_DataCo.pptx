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77" r:id="rId4"/>
    <p:sldId id="258" r:id="rId5"/>
    <p:sldId id="259" r:id="rId6"/>
    <p:sldId id="260" r:id="rId7"/>
    <p:sldId id="262" r:id="rId8"/>
    <p:sldId id="287" r:id="rId9"/>
    <p:sldId id="275" r:id="rId10"/>
    <p:sldId id="284" r:id="rId11"/>
    <p:sldId id="289" r:id="rId12"/>
    <p:sldId id="288" r:id="rId13"/>
    <p:sldId id="285" r:id="rId14"/>
    <p:sldId id="264" r:id="rId15"/>
    <p:sldId id="265" r:id="rId16"/>
    <p:sldId id="278" r:id="rId17"/>
    <p:sldId id="280" r:id="rId18"/>
    <p:sldId id="266" r:id="rId19"/>
    <p:sldId id="267" r:id="rId20"/>
    <p:sldId id="268" r:id="rId21"/>
    <p:sldId id="281" r:id="rId22"/>
    <p:sldId id="271" r:id="rId23"/>
    <p:sldId id="282" r:id="rId24"/>
    <p:sldId id="272" r:id="rId25"/>
    <p:sldId id="283" r:id="rId26"/>
    <p:sldId id="273" r:id="rId27"/>
    <p:sldId id="274"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3" d="100"/>
          <a:sy n="143" d="100"/>
        </p:scale>
        <p:origin x="102" y="9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065A82"/>
                </a:solidFill>
                <a:latin typeface="Arial"/>
              </a:defRPr>
            </a:pPr>
            <a:r>
              <a:rPr lang="en-SG" sz="1200" b="0" i="0" u="none" strike="noStrike">
                <a:solidFill>
                  <a:srgbClr val="065A82"/>
                </a:solidFill>
                <a:latin typeface="Arial"/>
              </a:rPr>
              <a:t>Late Rate by Shipping Mode (%)</a:t>
            </a:r>
          </a:p>
        </c:rich>
      </c:tx>
      <c:overlay val="0"/>
    </c:title>
    <c:autoTitleDeleted val="0"/>
    <c:plotArea>
      <c:layout/>
      <c:barChart>
        <c:barDir val="bar"/>
        <c:grouping val="clustered"/>
        <c:varyColors val="0"/>
        <c:ser>
          <c:idx val="0"/>
          <c:order val="0"/>
          <c:tx>
            <c:strRef>
              <c:f>Sheet1!$B$1</c:f>
              <c:strCache>
                <c:ptCount val="1"/>
                <c:pt idx="0">
                  <c:v>Late Delivery Rate</c:v>
                </c:pt>
              </c:strCache>
            </c:strRef>
          </c:tx>
          <c:spPr>
            <a:solidFill>
              <a:srgbClr val="EF4444"/>
            </a:solidFill>
            <a:effectLst/>
          </c:spPr>
          <c:invertIfNegative val="0"/>
          <c:dPt>
            <c:idx val="0"/>
            <c:invertIfNegative val="0"/>
            <c:bubble3D val="0"/>
            <c:extLst>
              <c:ext xmlns:c16="http://schemas.microsoft.com/office/drawing/2014/chart" uri="{C3380CC4-5D6E-409C-BE32-E72D297353CC}">
                <c16:uniqueId val="{00000001-42D6-4B34-A834-9C9A02487519}"/>
              </c:ext>
            </c:extLst>
          </c:dPt>
          <c:dPt>
            <c:idx val="1"/>
            <c:invertIfNegative val="0"/>
            <c:bubble3D val="0"/>
            <c:spPr>
              <a:solidFill>
                <a:srgbClr val="F97316"/>
              </a:solidFill>
              <a:effectLst/>
            </c:spPr>
            <c:extLst>
              <c:ext xmlns:c16="http://schemas.microsoft.com/office/drawing/2014/chart" uri="{C3380CC4-5D6E-409C-BE32-E72D297353CC}">
                <c16:uniqueId val="{00000003-42D6-4B34-A834-9C9A02487519}"/>
              </c:ext>
            </c:extLst>
          </c:dPt>
          <c:dPt>
            <c:idx val="2"/>
            <c:invertIfNegative val="0"/>
            <c:bubble3D val="0"/>
            <c:spPr>
              <a:solidFill>
                <a:srgbClr val="F59E0B"/>
              </a:solidFill>
              <a:effectLst/>
            </c:spPr>
            <c:extLst>
              <c:ext xmlns:c16="http://schemas.microsoft.com/office/drawing/2014/chart" uri="{C3380CC4-5D6E-409C-BE32-E72D297353CC}">
                <c16:uniqueId val="{00000005-42D6-4B34-A834-9C9A02487519}"/>
              </c:ext>
            </c:extLst>
          </c:dPt>
          <c:dPt>
            <c:idx val="3"/>
            <c:invertIfNegative val="0"/>
            <c:bubble3D val="0"/>
            <c:spPr>
              <a:solidFill>
                <a:srgbClr val="1C7293"/>
              </a:solidFill>
              <a:effectLst/>
            </c:spPr>
            <c:extLst>
              <c:ext xmlns:c16="http://schemas.microsoft.com/office/drawing/2014/chart" uri="{C3380CC4-5D6E-409C-BE32-E72D297353CC}">
                <c16:uniqueId val="{00000007-42D6-4B34-A834-9C9A02487519}"/>
              </c:ext>
            </c:extLst>
          </c:dPt>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First Class</c:v>
                </c:pt>
                <c:pt idx="1">
                  <c:v>Second Class</c:v>
                </c:pt>
                <c:pt idx="2">
                  <c:v>Same Day</c:v>
                </c:pt>
                <c:pt idx="3">
                  <c:v>Standard</c:v>
                </c:pt>
              </c:strCache>
            </c:strRef>
          </c:cat>
          <c:val>
            <c:numRef>
              <c:f>Sheet1!$B$2:$B$5</c:f>
              <c:numCache>
                <c:formatCode>General</c:formatCode>
                <c:ptCount val="4"/>
                <c:pt idx="0">
                  <c:v>95.27</c:v>
                </c:pt>
                <c:pt idx="1">
                  <c:v>72.400000000000006</c:v>
                </c:pt>
                <c:pt idx="2">
                  <c:v>65.099999999999994</c:v>
                </c:pt>
                <c:pt idx="3">
                  <c:v>38.130000000000003</c:v>
                </c:pt>
              </c:numCache>
            </c:numRef>
          </c:val>
          <c:extLst>
            <c:ext xmlns:c16="http://schemas.microsoft.com/office/drawing/2014/chart" uri="{C3380CC4-5D6E-409C-BE32-E72D297353CC}">
              <c16:uniqueId val="{00000008-42D6-4B34-A834-9C9A0248751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Order Count</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E9E3-49DD-AD27-478D07355040}"/>
              </c:ext>
            </c:extLst>
          </c:dPt>
          <c:dPt>
            <c:idx val="1"/>
            <c:invertIfNegative val="0"/>
            <c:bubble3D val="0"/>
            <c:spPr>
              <a:solidFill>
                <a:srgbClr val="F59E0B"/>
              </a:solidFill>
              <a:effectLst/>
            </c:spPr>
            <c:extLst>
              <c:ext xmlns:c16="http://schemas.microsoft.com/office/drawing/2014/chart" uri="{C3380CC4-5D6E-409C-BE32-E72D297353CC}">
                <c16:uniqueId val="{00000003-E9E3-49DD-AD27-478D07355040}"/>
              </c:ext>
            </c:extLst>
          </c:dPt>
          <c:dPt>
            <c:idx val="2"/>
            <c:invertIfNegative val="0"/>
            <c:bubble3D val="0"/>
            <c:spPr>
              <a:solidFill>
                <a:srgbClr val="6366F1"/>
              </a:solidFill>
              <a:effectLst/>
            </c:spPr>
            <c:extLst>
              <c:ext xmlns:c16="http://schemas.microsoft.com/office/drawing/2014/chart" uri="{C3380CC4-5D6E-409C-BE32-E72D297353CC}">
                <c16:uniqueId val="{00000005-E9E3-49DD-AD27-478D07355040}"/>
              </c:ext>
            </c:extLst>
          </c:dPt>
          <c:dPt>
            <c:idx val="3"/>
            <c:invertIfNegative val="0"/>
            <c:bubble3D val="0"/>
            <c:spPr>
              <a:solidFill>
                <a:srgbClr val="8B5CF6"/>
              </a:solidFill>
              <a:effectLst/>
            </c:spPr>
            <c:extLst>
              <c:ext xmlns:c16="http://schemas.microsoft.com/office/drawing/2014/chart" uri="{C3380CC4-5D6E-409C-BE32-E72D297353CC}">
                <c16:uniqueId val="{00000007-E9E3-49DD-AD27-478D07355040}"/>
              </c:ext>
            </c:extLst>
          </c:dPt>
          <c:dPt>
            <c:idx val="4"/>
            <c:invertIfNegative val="0"/>
            <c:bubble3D val="0"/>
            <c:spPr>
              <a:solidFill>
                <a:srgbClr val="065A82"/>
              </a:solidFill>
              <a:effectLst/>
            </c:spPr>
            <c:extLst>
              <c:ext xmlns:c16="http://schemas.microsoft.com/office/drawing/2014/chart" uri="{C3380CC4-5D6E-409C-BE32-E72D297353CC}">
                <c16:uniqueId val="{00000009-E9E3-49DD-AD27-478D07355040}"/>
              </c:ext>
            </c:extLst>
          </c:dPt>
          <c:dPt>
            <c:idx val="5"/>
            <c:invertIfNegative val="0"/>
            <c:bubble3D val="0"/>
            <c:spPr>
              <a:solidFill>
                <a:srgbClr val="F97316"/>
              </a:solidFill>
              <a:effectLst/>
            </c:spPr>
            <c:extLst>
              <c:ext xmlns:c16="http://schemas.microsoft.com/office/drawing/2014/chart" uri="{C3380CC4-5D6E-409C-BE32-E72D297353CC}">
                <c16:uniqueId val="{0000000B-E9E3-49DD-AD27-478D07355040}"/>
              </c:ext>
            </c:extLst>
          </c:dPt>
          <c:dPt>
            <c:idx val="6"/>
            <c:invertIfNegative val="0"/>
            <c:bubble3D val="0"/>
            <c:spPr>
              <a:solidFill>
                <a:srgbClr val="EF4444"/>
              </a:solidFill>
              <a:effectLst/>
            </c:spPr>
            <c:extLst>
              <c:ext xmlns:c16="http://schemas.microsoft.com/office/drawing/2014/chart" uri="{C3380CC4-5D6E-409C-BE32-E72D297353CC}">
                <c16:uniqueId val="{0000000D-E9E3-49DD-AD27-478D07355040}"/>
              </c:ext>
            </c:extLst>
          </c:dPt>
          <c:dPt>
            <c:idx val="7"/>
            <c:invertIfNegative val="0"/>
            <c:bubble3D val="0"/>
            <c:spPr>
              <a:solidFill>
                <a:srgbClr val="DC2626"/>
              </a:solidFill>
              <a:effectLst/>
            </c:spPr>
            <c:extLst>
              <c:ext xmlns:c16="http://schemas.microsoft.com/office/drawing/2014/chart" uri="{C3380CC4-5D6E-409C-BE32-E72D297353CC}">
                <c16:uniqueId val="{0000000F-E9E3-49DD-AD27-478D07355040}"/>
              </c:ext>
            </c:extLst>
          </c:dPt>
          <c:dPt>
            <c:idx val="8"/>
            <c:invertIfNegative val="0"/>
            <c:bubble3D val="0"/>
            <c:spPr>
              <a:solidFill>
                <a:srgbClr val="9CA3AF"/>
              </a:solidFill>
              <a:effectLst/>
            </c:spPr>
            <c:extLst>
              <c:ext xmlns:c16="http://schemas.microsoft.com/office/drawing/2014/chart" uri="{C3380CC4-5D6E-409C-BE32-E72D297353CC}">
                <c16:uniqueId val="{00000011-E9E3-49DD-AD27-478D07355040}"/>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COMPLETE</c:v>
                </c:pt>
                <c:pt idx="1">
                  <c:v>PENDING_PAYMENT</c:v>
                </c:pt>
                <c:pt idx="2">
                  <c:v>PROCESSING</c:v>
                </c:pt>
                <c:pt idx="3">
                  <c:v>PENDING</c:v>
                </c:pt>
                <c:pt idx="4">
                  <c:v>CLOSED</c:v>
                </c:pt>
                <c:pt idx="5">
                  <c:v>ON_HOLD</c:v>
                </c:pt>
                <c:pt idx="6">
                  <c:v>FRAUD</c:v>
                </c:pt>
                <c:pt idx="7">
                  <c:v>CANCELED</c:v>
                </c:pt>
                <c:pt idx="8">
                  <c:v>PAY_REVIEW</c:v>
                </c:pt>
              </c:strCache>
            </c:strRef>
          </c:cat>
          <c:val>
            <c:numRef>
              <c:f>Sheet1!$B$2:$B$10</c:f>
              <c:numCache>
                <c:formatCode>General</c:formatCode>
                <c:ptCount val="9"/>
                <c:pt idx="0">
                  <c:v>59491</c:v>
                </c:pt>
                <c:pt idx="1">
                  <c:v>39832</c:v>
                </c:pt>
                <c:pt idx="2">
                  <c:v>21902</c:v>
                </c:pt>
                <c:pt idx="3">
                  <c:v>20227</c:v>
                </c:pt>
                <c:pt idx="4">
                  <c:v>19616</c:v>
                </c:pt>
                <c:pt idx="5">
                  <c:v>9804</c:v>
                </c:pt>
                <c:pt idx="6">
                  <c:v>4062</c:v>
                </c:pt>
                <c:pt idx="7">
                  <c:v>3692</c:v>
                </c:pt>
                <c:pt idx="8">
                  <c:v>1893</c:v>
                </c:pt>
              </c:numCache>
            </c:numRef>
          </c:val>
          <c:extLst>
            <c:ext xmlns:c16="http://schemas.microsoft.com/office/drawing/2014/chart" uri="{C3380CC4-5D6E-409C-BE32-E72D297353CC}">
              <c16:uniqueId val="{00000012-E9E3-49DD-AD27-478D0735504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100" b="0" i="0" u="none" strike="noStrike">
                <a:solidFill>
                  <a:srgbClr val="065A82"/>
                </a:solidFill>
                <a:latin typeface="Arial"/>
              </a:defRPr>
            </a:pPr>
            <a:r>
              <a:rPr lang="en-SG" sz="1100" b="0" i="0" u="none" strike="noStrike">
                <a:solidFill>
                  <a:srgbClr val="065A82"/>
                </a:solidFill>
                <a:latin typeface="Arial"/>
              </a:rPr>
              <a:t>Pending-to-Complete Ratio by Category</a:t>
            </a:r>
          </a:p>
        </c:rich>
      </c:tx>
      <c:overlay val="0"/>
    </c:title>
    <c:autoTitleDeleted val="0"/>
    <c:plotArea>
      <c:layout/>
      <c:barChart>
        <c:barDir val="bar"/>
        <c:grouping val="clustered"/>
        <c:varyColors val="0"/>
        <c:ser>
          <c:idx val="0"/>
          <c:order val="0"/>
          <c:tx>
            <c:strRef>
              <c:f>Sheet1!$B$1</c:f>
              <c:strCache>
                <c:ptCount val="1"/>
                <c:pt idx="0">
                  <c:v>Pending-to-Complete Ratio</c:v>
                </c:pt>
              </c:strCache>
            </c:strRef>
          </c:tx>
          <c:spPr>
            <a:solidFill>
              <a:srgbClr val="EF4444"/>
            </a:solidFill>
            <a:effectLst/>
          </c:spPr>
          <c:invertIfNegative val="0"/>
          <c:dPt>
            <c:idx val="0"/>
            <c:invertIfNegative val="0"/>
            <c:bubble3D val="0"/>
            <c:extLst>
              <c:ext xmlns:c16="http://schemas.microsoft.com/office/drawing/2014/chart" uri="{C3380CC4-5D6E-409C-BE32-E72D297353CC}">
                <c16:uniqueId val="{00000001-229D-4ABF-AF2B-5032D08F7951}"/>
              </c:ext>
            </c:extLst>
          </c:dPt>
          <c:dPt>
            <c:idx val="1"/>
            <c:invertIfNegative val="0"/>
            <c:bubble3D val="0"/>
            <c:extLst>
              <c:ext xmlns:c16="http://schemas.microsoft.com/office/drawing/2014/chart" uri="{C3380CC4-5D6E-409C-BE32-E72D297353CC}">
                <c16:uniqueId val="{00000003-229D-4ABF-AF2B-5032D08F7951}"/>
              </c:ext>
            </c:extLst>
          </c:dPt>
          <c:dPt>
            <c:idx val="2"/>
            <c:invertIfNegative val="0"/>
            <c:bubble3D val="0"/>
            <c:spPr>
              <a:solidFill>
                <a:srgbClr val="F59E0B"/>
              </a:solidFill>
              <a:effectLst/>
            </c:spPr>
            <c:extLst>
              <c:ext xmlns:c16="http://schemas.microsoft.com/office/drawing/2014/chart" uri="{C3380CC4-5D6E-409C-BE32-E72D297353CC}">
                <c16:uniqueId val="{00000005-229D-4ABF-AF2B-5032D08F7951}"/>
              </c:ext>
            </c:extLst>
          </c:dPt>
          <c:dPt>
            <c:idx val="3"/>
            <c:invertIfNegative val="0"/>
            <c:bubble3D val="0"/>
            <c:spPr>
              <a:solidFill>
                <a:srgbClr val="F59E0B"/>
              </a:solidFill>
              <a:effectLst/>
            </c:spPr>
            <c:extLst>
              <c:ext xmlns:c16="http://schemas.microsoft.com/office/drawing/2014/chart" uri="{C3380CC4-5D6E-409C-BE32-E72D297353CC}">
                <c16:uniqueId val="{00000007-229D-4ABF-AF2B-5032D08F7951}"/>
              </c:ext>
            </c:extLst>
          </c:dPt>
          <c:dPt>
            <c:idx val="4"/>
            <c:invertIfNegative val="0"/>
            <c:bubble3D val="0"/>
            <c:spPr>
              <a:solidFill>
                <a:srgbClr val="1C7293"/>
              </a:solidFill>
              <a:effectLst/>
            </c:spPr>
            <c:extLst>
              <c:ext xmlns:c16="http://schemas.microsoft.com/office/drawing/2014/chart" uri="{C3380CC4-5D6E-409C-BE32-E72D297353CC}">
                <c16:uniqueId val="{00000009-229D-4ABF-AF2B-5032D08F7951}"/>
              </c:ext>
            </c:extLst>
          </c:dPt>
          <c:dLbls>
            <c:numFmt formatCode="#,##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As Seen on TV!</c:v>
                </c:pt>
                <c:pt idx="1">
                  <c:v>Cleats</c:v>
                </c:pt>
                <c:pt idx="2">
                  <c:v>Men's Footwear</c:v>
                </c:pt>
                <c:pt idx="3">
                  <c:v>Women's Apparel</c:v>
                </c:pt>
                <c:pt idx="4">
                  <c:v>Avg</c:v>
                </c:pt>
              </c:strCache>
            </c:strRef>
          </c:cat>
          <c:val>
            <c:numRef>
              <c:f>Sheet1!$B$2:$B$6</c:f>
              <c:numCache>
                <c:formatCode>General</c:formatCode>
                <c:ptCount val="5"/>
                <c:pt idx="0">
                  <c:v>0.94</c:v>
                </c:pt>
                <c:pt idx="1">
                  <c:v>0.78</c:v>
                </c:pt>
                <c:pt idx="2">
                  <c:v>0.72</c:v>
                </c:pt>
                <c:pt idx="3">
                  <c:v>0.68</c:v>
                </c:pt>
                <c:pt idx="4">
                  <c:v>0.45</c:v>
                </c:pt>
              </c:numCache>
            </c:numRef>
          </c:val>
          <c:extLst>
            <c:ext xmlns:c16="http://schemas.microsoft.com/office/drawing/2014/chart" uri="{C3380CC4-5D6E-409C-BE32-E72D297353CC}">
              <c16:uniqueId val="{0000000A-229D-4ABF-AF2B-5032D08F795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83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A04C1-C393-73A5-06CD-5931FE5E9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D0B2D8-E9F5-3356-FD6E-0BDAA47F6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B040F1-870F-1487-82D1-51DBC37CCE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D9D5A3-B5E3-5719-ADBF-0EAF98B94EB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49109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5943600" y="-1097280"/>
            <a:ext cx="5486400" cy="5486400"/>
          </a:xfrm>
          <a:prstGeom prst="ellipse">
            <a:avLst/>
          </a:prstGeom>
          <a:solidFill>
            <a:srgbClr val="1C7293">
              <a:alpha val="20000"/>
            </a:srgbClr>
          </a:solidFill>
          <a:ln w="12700">
            <a:solidFill>
              <a:srgbClr val="1C7293">
                <a:alpha val="20000"/>
              </a:srgbClr>
            </a:solidFill>
            <a:prstDash val="solid"/>
          </a:ln>
        </p:spPr>
        <p:txBody>
          <a:bodyPr/>
          <a:lstStyle/>
          <a:p>
            <a:endParaRPr lang="en-SG"/>
          </a:p>
        </p:txBody>
      </p:sp>
      <p:sp>
        <p:nvSpPr>
          <p:cNvPr id="3" name="Shape 1"/>
          <p:cNvSpPr/>
          <p:nvPr/>
        </p:nvSpPr>
        <p:spPr>
          <a:xfrm>
            <a:off x="7315200" y="3200400"/>
            <a:ext cx="3200400" cy="3200400"/>
          </a:xfrm>
          <a:prstGeom prst="ellipse">
            <a:avLst/>
          </a:prstGeom>
          <a:solidFill>
            <a:srgbClr val="02C39A">
              <a:alpha val="15000"/>
            </a:srgbClr>
          </a:solidFill>
          <a:ln w="12700">
            <a:solidFill>
              <a:srgbClr val="02C39A">
                <a:alpha val="15000"/>
              </a:srgbClr>
            </a:solidFill>
            <a:prstDash val="solid"/>
          </a:ln>
        </p:spPr>
        <p:txBody>
          <a:bodyPr/>
          <a:lstStyle/>
          <a:p>
            <a:endParaRPr lang="en-SG"/>
          </a:p>
        </p:txBody>
      </p:sp>
      <p:sp>
        <p:nvSpPr>
          <p:cNvPr id="4" name="Text 2"/>
          <p:cNvSpPr/>
          <p:nvPr/>
        </p:nvSpPr>
        <p:spPr>
          <a:xfrm>
            <a:off x="548640" y="731520"/>
            <a:ext cx="7315200" cy="731520"/>
          </a:xfrm>
          <a:prstGeom prst="rect">
            <a:avLst/>
          </a:prstGeom>
          <a:noFill/>
          <a:ln/>
        </p:spPr>
        <p:txBody>
          <a:bodyPr wrap="square" rtlCol="0" anchor="ctr"/>
          <a:lstStyle/>
          <a:p>
            <a:pPr marL="0" indent="0">
              <a:buNone/>
            </a:pPr>
            <a:r>
              <a:rPr lang="en-US" sz="1600" b="1" kern="0" spc="600" dirty="0">
                <a:solidFill>
                  <a:srgbClr val="02C39A"/>
                </a:solidFill>
                <a:latin typeface="Calibri" pitchFamily="34" charset="0"/>
                <a:ea typeface="Calibri" pitchFamily="34" charset="-122"/>
                <a:cs typeface="Calibri" pitchFamily="34" charset="-120"/>
              </a:rPr>
              <a:t>DataCo</a:t>
            </a:r>
            <a:endParaRPr lang="en-US" sz="1600" dirty="0"/>
          </a:p>
        </p:txBody>
      </p:sp>
      <p:sp>
        <p:nvSpPr>
          <p:cNvPr id="5" name="Text 3"/>
          <p:cNvSpPr/>
          <p:nvPr/>
        </p:nvSpPr>
        <p:spPr>
          <a:xfrm>
            <a:off x="548640" y="1325880"/>
            <a:ext cx="7772400" cy="2194560"/>
          </a:xfrm>
          <a:prstGeom prst="rect">
            <a:avLst/>
          </a:prstGeom>
          <a:noFill/>
          <a:ln/>
        </p:spPr>
        <p:txBody>
          <a:bodyPr wrap="square"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Supply Chain</a:t>
            </a:r>
            <a:endParaRPr lang="en-US" sz="4400" dirty="0"/>
          </a:p>
          <a:p>
            <a:pPr marL="0" indent="0">
              <a:buNone/>
            </a:pPr>
            <a:r>
              <a:rPr lang="en-US" sz="4400" b="1" dirty="0">
                <a:solidFill>
                  <a:srgbClr val="FFFFFF"/>
                </a:solidFill>
                <a:latin typeface="Cambria" pitchFamily="34" charset="0"/>
                <a:ea typeface="Cambria" pitchFamily="34" charset="-122"/>
                <a:cs typeface="Cambria" pitchFamily="34" charset="-120"/>
              </a:rPr>
              <a:t>Analytics Report</a:t>
            </a:r>
            <a:endParaRPr lang="en-US" sz="4400" dirty="0"/>
          </a:p>
        </p:txBody>
      </p:sp>
      <p:sp>
        <p:nvSpPr>
          <p:cNvPr id="6" name="Text 4"/>
          <p:cNvSpPr/>
          <p:nvPr/>
        </p:nvSpPr>
        <p:spPr>
          <a:xfrm>
            <a:off x="548640" y="3429000"/>
            <a:ext cx="7498080" cy="914400"/>
          </a:xfrm>
          <a:prstGeom prst="rect">
            <a:avLst/>
          </a:prstGeom>
          <a:noFill/>
          <a:ln/>
        </p:spPr>
        <p:txBody>
          <a:bodyPr wrap="square" rtlCol="0" anchor="ctr"/>
          <a:lstStyle/>
          <a:p>
            <a:pPr marL="0" indent="0">
              <a:buNone/>
            </a:pPr>
            <a:r>
              <a:rPr lang="en-US" sz="1350" i="1" dirty="0">
                <a:solidFill>
                  <a:srgbClr val="A8C8E0"/>
                </a:solidFill>
                <a:latin typeface="Calibri" pitchFamily="34" charset="0"/>
                <a:ea typeface="Calibri" pitchFamily="34" charset="-122"/>
                <a:cs typeface="Calibri" pitchFamily="34" charset="-120"/>
              </a:rPr>
              <a:t>Identifying late delivery drivers · Optimising product profitability</a:t>
            </a:r>
            <a:endParaRPr lang="en-US" sz="1350" dirty="0"/>
          </a:p>
          <a:p>
            <a:pPr marL="0" indent="0">
              <a:buNone/>
            </a:pPr>
            <a:r>
              <a:rPr lang="en-US" sz="1350" i="1" dirty="0">
                <a:solidFill>
                  <a:srgbClr val="A8C8E0"/>
                </a:solidFill>
                <a:latin typeface="Calibri" pitchFamily="34" charset="0"/>
                <a:ea typeface="Calibri" pitchFamily="34" charset="-122"/>
                <a:cs typeface="Calibri" pitchFamily="34" charset="-120"/>
              </a:rPr>
              <a:t>Enhancing fulfilment efficiency · Strategic recommendations</a:t>
            </a:r>
            <a:endParaRPr lang="en-US" sz="1350" dirty="0"/>
          </a:p>
        </p:txBody>
      </p:sp>
      <p:sp>
        <p:nvSpPr>
          <p:cNvPr id="7" name="Shape 5"/>
          <p:cNvSpPr/>
          <p:nvPr/>
        </p:nvSpPr>
        <p:spPr>
          <a:xfrm>
            <a:off x="548640" y="3291840"/>
            <a:ext cx="1097280" cy="36576"/>
          </a:xfrm>
          <a:prstGeom prst="rect">
            <a:avLst/>
          </a:prstGeom>
          <a:solidFill>
            <a:srgbClr val="02C39A"/>
          </a:solidFill>
          <a:ln w="12700">
            <a:solidFill>
              <a:srgbClr val="02C39A"/>
            </a:solidFill>
            <a:prstDash val="solid"/>
          </a:ln>
        </p:spPr>
        <p:txBody>
          <a:bodyPr/>
          <a:lstStyle/>
          <a:p>
            <a:endParaRPr lang="en-SG"/>
          </a:p>
        </p:txBody>
      </p:sp>
      <p:sp>
        <p:nvSpPr>
          <p:cNvPr id="8" name="Text 6"/>
          <p:cNvSpPr/>
          <p:nvPr/>
        </p:nvSpPr>
        <p:spPr>
          <a:xfrm>
            <a:off x="548640" y="4389120"/>
            <a:ext cx="6400800" cy="411480"/>
          </a:xfrm>
          <a:prstGeom prst="rect">
            <a:avLst/>
          </a:prstGeom>
          <a:noFill/>
          <a:ln/>
        </p:spPr>
        <p:txBody>
          <a:bodyPr wrap="square" rtlCol="0" anchor="ctr"/>
          <a:lstStyle/>
          <a:p>
            <a:pPr marL="0" indent="0">
              <a:buNone/>
            </a:pPr>
            <a:r>
              <a:rPr lang="en-US" sz="1100" dirty="0">
                <a:solidFill>
                  <a:srgbClr val="7FB8D4"/>
                </a:solidFill>
                <a:latin typeface="Calibri" pitchFamily="34" charset="0"/>
                <a:ea typeface="Calibri" pitchFamily="34" charset="-122"/>
                <a:cs typeface="Calibri" pitchFamily="34" charset="-120"/>
              </a:rPr>
              <a:t>Comprehensive analysis across supply chain, sales &amp; customer data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30352"/>
          </a:xfrm>
          <a:prstGeom prst="rect">
            <a:avLst/>
          </a:prstGeom>
          <a:noFill/>
          <a:ln/>
        </p:spPr>
        <p:txBody>
          <a:bodyPr wrap="square"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Problem Statement</a:t>
            </a:r>
            <a:endParaRPr lang="en-US" sz="2800" dirty="0"/>
          </a:p>
        </p:txBody>
      </p:sp>
      <p:sp>
        <p:nvSpPr>
          <p:cNvPr id="3" name="Shape 1"/>
          <p:cNvSpPr/>
          <p:nvPr/>
        </p:nvSpPr>
        <p:spPr>
          <a:xfrm>
            <a:off x="457200" y="960120"/>
            <a:ext cx="8321040" cy="3291840"/>
          </a:xfrm>
          <a:prstGeom prst="roundRect">
            <a:avLst>
              <a:gd name="adj" fmla="val 3333"/>
            </a:avLst>
          </a:prstGeom>
          <a:solidFill>
            <a:srgbClr val="FFFFFF"/>
          </a:solidFill>
          <a:ln/>
          <a:effectLst>
            <a:outerShdw blurRad="76200" dist="25400" dir="2700000" algn="bl" rotWithShape="0">
              <a:srgbClr val="000000">
                <a:alpha val="12000"/>
              </a:srgbClr>
            </a:outerShdw>
          </a:effectLst>
        </p:spPr>
        <p:txBody>
          <a:bodyPr/>
          <a:lstStyle/>
          <a:p>
            <a:endParaRPr lang="en-SG"/>
          </a:p>
        </p:txBody>
      </p:sp>
      <p:sp>
        <p:nvSpPr>
          <p:cNvPr id="4" name="Text 2"/>
          <p:cNvSpPr/>
          <p:nvPr/>
        </p:nvSpPr>
        <p:spPr>
          <a:xfrm>
            <a:off x="594360" y="868680"/>
            <a:ext cx="914400" cy="1097280"/>
          </a:xfrm>
          <a:prstGeom prst="rect">
            <a:avLst/>
          </a:prstGeom>
          <a:noFill/>
          <a:ln/>
        </p:spPr>
        <p:txBody>
          <a:bodyPr wrap="square" lIns="0" tIns="0" rIns="0" bIns="0" rtlCol="0" anchor="ctr"/>
          <a:lstStyle/>
          <a:p>
            <a:pPr marL="0" indent="0">
              <a:buNone/>
            </a:pPr>
            <a:r>
              <a:rPr lang="en-US" sz="7200" b="1" dirty="0">
                <a:solidFill>
                  <a:srgbClr val="1C7293"/>
                </a:solidFill>
                <a:latin typeface="Cambria" pitchFamily="34" charset="0"/>
                <a:ea typeface="Cambria" pitchFamily="34" charset="-122"/>
                <a:cs typeface="Cambria" pitchFamily="34" charset="-120"/>
              </a:rPr>
              <a:t>“</a:t>
            </a:r>
            <a:endParaRPr lang="en-US" sz="7200" dirty="0"/>
          </a:p>
        </p:txBody>
      </p:sp>
      <p:sp>
        <p:nvSpPr>
          <p:cNvPr id="5" name="Text 3"/>
          <p:cNvSpPr/>
          <p:nvPr/>
        </p:nvSpPr>
        <p:spPr>
          <a:xfrm>
            <a:off x="777240" y="1234440"/>
            <a:ext cx="7772400" cy="2651760"/>
          </a:xfrm>
          <a:prstGeom prst="rect">
            <a:avLst/>
          </a:prstGeom>
          <a:noFill/>
          <a:ln/>
        </p:spPr>
        <p:txBody>
          <a:bodyPr wrap="square" lIns="0" tIns="0" rIns="0" bIns="0" rtlCol="0" anchor="ctr"/>
          <a:lstStyle/>
          <a:p>
            <a:pPr marL="0" indent="0">
              <a:buNone/>
            </a:pPr>
            <a:r>
              <a:rPr lang="en-US" sz="1450" i="1" dirty="0">
                <a:solidFill>
                  <a:srgbClr val="1E293B"/>
                </a:solidFill>
                <a:latin typeface="Calibri" pitchFamily="34" charset="0"/>
                <a:ea typeface="Calibri" pitchFamily="34" charset="-122"/>
                <a:cs typeface="Calibri" pitchFamily="34" charset="-120"/>
              </a:rPr>
              <a:t>How can we leverage comprehensive supply chain, sales, and customer data to develop an analytics system that accurately identifies and predicts key factors contributing to late deliveries, optimises product and customer profitability, enhances fulfilment efficiency, and provides actionable insights and strategic recommendations to improve overall business performance and customer satisfaction?</a:t>
            </a:r>
            <a:endParaRPr lang="en-US" sz="1450" dirty="0"/>
          </a:p>
        </p:txBody>
      </p:sp>
      <p:sp>
        <p:nvSpPr>
          <p:cNvPr id="6" name="Shape 4"/>
          <p:cNvSpPr/>
          <p:nvPr/>
        </p:nvSpPr>
        <p:spPr>
          <a:xfrm>
            <a:off x="457200" y="4434840"/>
            <a:ext cx="1920240" cy="594360"/>
          </a:xfrm>
          <a:prstGeom prst="roundRect">
            <a:avLst>
              <a:gd name="adj" fmla="val 12308"/>
            </a:avLst>
          </a:prstGeom>
          <a:solidFill>
            <a:srgbClr val="065A82"/>
          </a:solidFill>
          <a:ln/>
          <a:effectLst>
            <a:outerShdw blurRad="76200" dist="25400" dir="2700000" algn="bl" rotWithShape="0">
              <a:srgbClr val="000000">
                <a:alpha val="12000"/>
              </a:srgbClr>
            </a:outerShdw>
          </a:effectLst>
        </p:spPr>
        <p:txBody>
          <a:bodyPr/>
          <a:lstStyle/>
          <a:p>
            <a:endParaRPr lang="en-SG"/>
          </a:p>
        </p:txBody>
      </p:sp>
      <p:sp>
        <p:nvSpPr>
          <p:cNvPr id="7" name="Text 5"/>
          <p:cNvSpPr/>
          <p:nvPr/>
        </p:nvSpPr>
        <p:spPr>
          <a:xfrm>
            <a:off x="530352" y="4434840"/>
            <a:ext cx="1773936" cy="5943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  Late Delivery Prediction</a:t>
            </a:r>
            <a:endParaRPr lang="en-US" sz="1050" dirty="0"/>
          </a:p>
        </p:txBody>
      </p:sp>
      <p:sp>
        <p:nvSpPr>
          <p:cNvPr id="8" name="Shape 6"/>
          <p:cNvSpPr/>
          <p:nvPr/>
        </p:nvSpPr>
        <p:spPr>
          <a:xfrm>
            <a:off x="2560320" y="4434840"/>
            <a:ext cx="1920240" cy="594360"/>
          </a:xfrm>
          <a:prstGeom prst="roundRect">
            <a:avLst>
              <a:gd name="adj" fmla="val 12308"/>
            </a:avLst>
          </a:prstGeom>
          <a:solidFill>
            <a:srgbClr val="065A82"/>
          </a:solidFill>
          <a:ln/>
          <a:effectLst>
            <a:outerShdw blurRad="76200" dist="25400" dir="2700000" algn="bl" rotWithShape="0">
              <a:srgbClr val="000000">
                <a:alpha val="12000"/>
              </a:srgbClr>
            </a:outerShdw>
          </a:effectLst>
        </p:spPr>
        <p:txBody>
          <a:bodyPr/>
          <a:lstStyle/>
          <a:p>
            <a:endParaRPr lang="en-SG"/>
          </a:p>
        </p:txBody>
      </p:sp>
      <p:sp>
        <p:nvSpPr>
          <p:cNvPr id="9" name="Text 7"/>
          <p:cNvSpPr/>
          <p:nvPr/>
        </p:nvSpPr>
        <p:spPr>
          <a:xfrm>
            <a:off x="2633472" y="4434840"/>
            <a:ext cx="1773936" cy="5943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  Product &amp; Profitability</a:t>
            </a:r>
            <a:endParaRPr lang="en-US" sz="1050" dirty="0"/>
          </a:p>
        </p:txBody>
      </p:sp>
      <p:sp>
        <p:nvSpPr>
          <p:cNvPr id="10" name="Shape 8"/>
          <p:cNvSpPr/>
          <p:nvPr/>
        </p:nvSpPr>
        <p:spPr>
          <a:xfrm>
            <a:off x="4663440" y="4434840"/>
            <a:ext cx="1920240" cy="594360"/>
          </a:xfrm>
          <a:prstGeom prst="roundRect">
            <a:avLst>
              <a:gd name="adj" fmla="val 12308"/>
            </a:avLst>
          </a:prstGeom>
          <a:solidFill>
            <a:srgbClr val="065A82"/>
          </a:solidFill>
          <a:ln/>
          <a:effectLst>
            <a:outerShdw blurRad="76200" dist="25400" dir="2700000" algn="bl" rotWithShape="0">
              <a:srgbClr val="000000">
                <a:alpha val="12000"/>
              </a:srgbClr>
            </a:outerShdw>
          </a:effectLst>
        </p:spPr>
        <p:txBody>
          <a:bodyPr/>
          <a:lstStyle/>
          <a:p>
            <a:endParaRPr lang="en-SG"/>
          </a:p>
        </p:txBody>
      </p:sp>
      <p:sp>
        <p:nvSpPr>
          <p:cNvPr id="11" name="Text 9"/>
          <p:cNvSpPr/>
          <p:nvPr/>
        </p:nvSpPr>
        <p:spPr>
          <a:xfrm>
            <a:off x="4736592" y="4434840"/>
            <a:ext cx="1773936" cy="5943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  Fulfilment Efficiency</a:t>
            </a:r>
            <a:endParaRPr lang="en-US" sz="1050" dirty="0"/>
          </a:p>
        </p:txBody>
      </p:sp>
      <p:sp>
        <p:nvSpPr>
          <p:cNvPr id="12" name="Shape 10"/>
          <p:cNvSpPr/>
          <p:nvPr/>
        </p:nvSpPr>
        <p:spPr>
          <a:xfrm>
            <a:off x="6766560" y="4434840"/>
            <a:ext cx="1920240" cy="594360"/>
          </a:xfrm>
          <a:prstGeom prst="roundRect">
            <a:avLst>
              <a:gd name="adj" fmla="val 12308"/>
            </a:avLst>
          </a:prstGeom>
          <a:solidFill>
            <a:srgbClr val="065A82"/>
          </a:solidFill>
          <a:ln/>
          <a:effectLst>
            <a:outerShdw blurRad="76200" dist="25400" dir="2700000" algn="bl" rotWithShape="0">
              <a:srgbClr val="000000">
                <a:alpha val="12000"/>
              </a:srgbClr>
            </a:outerShdw>
          </a:effectLst>
        </p:spPr>
        <p:txBody>
          <a:bodyPr/>
          <a:lstStyle/>
          <a:p>
            <a:endParaRPr lang="en-SG"/>
          </a:p>
        </p:txBody>
      </p:sp>
      <p:sp>
        <p:nvSpPr>
          <p:cNvPr id="13" name="Text 11"/>
          <p:cNvSpPr/>
          <p:nvPr/>
        </p:nvSpPr>
        <p:spPr>
          <a:xfrm>
            <a:off x="6839712" y="4434840"/>
            <a:ext cx="1773936" cy="5943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  Actionable Insights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Title"/>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065A82"/>
                </a:solidFill>
                <a:latin typeface="Cambria" pitchFamily="34" charset="0"/>
              </a:rPr>
              <a:t>Objectives</a:t>
            </a:r>
          </a:p>
        </p:txBody>
      </p:sp>
      <p:sp>
        <p:nvSpPr>
          <p:cNvPr id="3" name="Subtitle"/>
          <p:cNvSpPr/>
          <p:nvPr/>
        </p:nvSpPr>
        <p:spPr>
          <a:xfrm>
            <a:off x="457200" y="749808"/>
            <a:ext cx="8229600" cy="330000"/>
          </a:xfrm>
          <a:prstGeom prst="rect">
            <a:avLst/>
          </a:prstGeom>
          <a:noFill/>
          <a:ln/>
        </p:spPr>
        <p:txBody>
          <a:bodyPr wrap="square" rtlCol="0" anchor="ctr"/>
          <a:lstStyle/>
          <a:p>
            <a:pPr marL="0" indent="0">
              <a:buNone/>
            </a:pPr>
            <a:r>
              <a:rPr lang="en-US" sz="1300" dirty="0">
                <a:solidFill>
                  <a:srgbClr val="64748B"/>
                </a:solidFill>
                <a:latin typeface="Calibri" pitchFamily="34" charset="0"/>
              </a:rPr>
              <a:t>Five analytical goals driving this supply chain study</a:t>
            </a:r>
          </a:p>
        </p:txBody>
      </p:sp>
      <p:sp>
        <p:nvSpPr>
          <p:cNvPr id="10" name="Card1"/>
          <p:cNvSpPr/>
          <p:nvPr/>
        </p:nvSpPr>
        <p:spPr>
          <a:xfrm>
            <a:off x="457200" y="1200000"/>
            <a:ext cx="3840480" cy="1200000"/>
          </a:xfrm>
          <a:prstGeom prst="roundRect">
            <a:avLst>
              <a:gd name="adj" fmla="val 5000"/>
            </a:avLst>
          </a:prstGeom>
          <a:solidFill>
            <a:srgbClr val="FFFFFF"/>
          </a:solidFill>
          <a:ln>
            <a:noFill/>
          </a:ln>
          <a:effectLst>
            <a:outerShdw blurRad="76200" dist="25400" dir="2700000" algn="bl" rotWithShape="0">
              <a:srgbClr val="000000">
                <a:alpha val="12000"/>
              </a:srgbClr>
            </a:outerShdw>
          </a:effectLst>
        </p:spPr>
        <p:txBody>
          <a:bodyPr/>
          <a:lstStyle/>
          <a:p>
            <a:endParaRPr lang="en-US"/>
          </a:p>
        </p:txBody>
      </p:sp>
      <p:sp>
        <p:nvSpPr>
          <p:cNvPr id="11" name="Badge1"/>
          <p:cNvSpPr/>
          <p:nvPr/>
        </p:nvSpPr>
        <p:spPr>
          <a:xfrm>
            <a:off x="509400" y="1240000"/>
            <a:ext cx="320000" cy="320000"/>
          </a:xfrm>
          <a:prstGeom prst="ellipse">
            <a:avLst/>
          </a:prstGeom>
          <a:solidFill>
            <a:srgbClr val="065A82"/>
          </a:solidFill>
          <a:ln>
            <a:noFill/>
          </a:ln>
        </p:spPr>
        <p:txBody>
          <a:bodyPr wrap="square" lIns="0" tIns="0" rIns="0" bIns="0" rtlCol="0" anchor="ctr"/>
          <a:lstStyle/>
          <a:p>
            <a:pPr algn="ctr">
              <a:buNone/>
            </a:pPr>
            <a:r>
              <a:rPr lang="en-US" sz="1200" b="1" dirty="0">
                <a:solidFill>
                  <a:srgbClr val="FFFFFF"/>
                </a:solidFill>
                <a:latin typeface="Cambria"/>
              </a:rPr>
              <a:t>1</a:t>
            </a:r>
          </a:p>
        </p:txBody>
      </p:sp>
      <p:sp>
        <p:nvSpPr>
          <p:cNvPr id="12" name="Card1Text"/>
          <p:cNvSpPr/>
          <p:nvPr/>
        </p:nvSpPr>
        <p:spPr>
          <a:xfrm>
            <a:off x="890000" y="1240000"/>
            <a:ext cx="3360000" cy="1100000"/>
          </a:xfrm>
          <a:prstGeom prst="rect">
            <a:avLst/>
          </a:prstGeom>
          <a:noFill/>
          <a:ln/>
        </p:spPr>
        <p:txBody>
          <a:bodyPr wrap="square" rtlCol="0" anchor="t"/>
          <a:lstStyle/>
          <a:p>
            <a:pPr marL="0" indent="0">
              <a:buNone/>
            </a:pPr>
            <a:r>
              <a:rPr lang="en-US" sz="1300" b="1" dirty="0">
                <a:solidFill>
                  <a:srgbClr val="065A82"/>
                </a:solidFill>
                <a:latin typeface="Cambria"/>
              </a:rPr>
              <a:t>Analyse Late Delivery Factors</a:t>
            </a:r>
          </a:p>
          <a:p>
            <a:pPr marL="0" indent="0">
              <a:buNone/>
            </a:pPr>
            <a:r>
              <a:rPr lang="en-US" sz="1050" dirty="0">
                <a:solidFill>
                  <a:srgbClr val="64748B"/>
                </a:solidFill>
                <a:latin typeface="Calibri"/>
              </a:rPr>
              <a:t>Across shipping mode, region, market.</a:t>
            </a:r>
          </a:p>
        </p:txBody>
      </p:sp>
      <p:sp>
        <p:nvSpPr>
          <p:cNvPr id="20" name="Card2"/>
          <p:cNvSpPr/>
          <p:nvPr/>
        </p:nvSpPr>
        <p:spPr>
          <a:xfrm>
            <a:off x="4525200" y="1200000"/>
            <a:ext cx="3840480" cy="1200000"/>
          </a:xfrm>
          <a:prstGeom prst="roundRect">
            <a:avLst>
              <a:gd name="adj" fmla="val 5000"/>
            </a:avLst>
          </a:prstGeom>
          <a:solidFill>
            <a:srgbClr val="FFFFFF"/>
          </a:solidFill>
          <a:ln>
            <a:noFill/>
          </a:ln>
          <a:effectLst>
            <a:outerShdw blurRad="76200" dist="25400" dir="2700000" algn="bl" rotWithShape="0">
              <a:srgbClr val="000000">
                <a:alpha val="12000"/>
              </a:srgbClr>
            </a:outerShdw>
          </a:effectLst>
        </p:spPr>
        <p:txBody>
          <a:bodyPr/>
          <a:lstStyle/>
          <a:p>
            <a:endParaRPr lang="en-US"/>
          </a:p>
        </p:txBody>
      </p:sp>
      <p:sp>
        <p:nvSpPr>
          <p:cNvPr id="21" name="Badge2"/>
          <p:cNvSpPr/>
          <p:nvPr/>
        </p:nvSpPr>
        <p:spPr>
          <a:xfrm>
            <a:off x="4577400" y="1240000"/>
            <a:ext cx="320000" cy="320000"/>
          </a:xfrm>
          <a:prstGeom prst="ellipse">
            <a:avLst/>
          </a:prstGeom>
          <a:solidFill>
            <a:srgbClr val="1C7293"/>
          </a:solidFill>
          <a:ln>
            <a:noFill/>
          </a:ln>
        </p:spPr>
        <p:txBody>
          <a:bodyPr wrap="square" lIns="0" tIns="0" rIns="0" bIns="0" rtlCol="0" anchor="ctr"/>
          <a:lstStyle/>
          <a:p>
            <a:pPr algn="ctr">
              <a:buNone/>
            </a:pPr>
            <a:r>
              <a:rPr lang="en-US" sz="1200" b="1" dirty="0">
                <a:solidFill>
                  <a:srgbClr val="FFFFFF"/>
                </a:solidFill>
                <a:latin typeface="Cambria"/>
              </a:rPr>
              <a:t>2</a:t>
            </a:r>
          </a:p>
        </p:txBody>
      </p:sp>
      <p:sp>
        <p:nvSpPr>
          <p:cNvPr id="22" name="Card2Text"/>
          <p:cNvSpPr/>
          <p:nvPr/>
        </p:nvSpPr>
        <p:spPr>
          <a:xfrm>
            <a:off x="4958000" y="1240000"/>
            <a:ext cx="3360000" cy="1100000"/>
          </a:xfrm>
          <a:prstGeom prst="rect">
            <a:avLst/>
          </a:prstGeom>
          <a:noFill/>
          <a:ln/>
        </p:spPr>
        <p:txBody>
          <a:bodyPr wrap="square" rtlCol="0" anchor="t"/>
          <a:lstStyle/>
          <a:p>
            <a:pPr marL="0" indent="0">
              <a:buNone/>
            </a:pPr>
            <a:r>
              <a:rPr lang="en-US" sz="1300" b="1" dirty="0">
                <a:solidFill>
                  <a:srgbClr val="1C7293"/>
                </a:solidFill>
                <a:latin typeface="Cambria"/>
              </a:rPr>
              <a:t>Identify Top Products</a:t>
            </a:r>
          </a:p>
          <a:p>
            <a:pPr marL="0" indent="0">
              <a:buNone/>
            </a:pPr>
            <a:r>
              <a:rPr lang="en-US" sz="1050" dirty="0">
                <a:solidFill>
                  <a:srgbClr val="64748B"/>
                </a:solidFill>
                <a:latin typeface="Calibri"/>
              </a:rPr>
              <a:t>Identify which products drive the most sales, profit, and order volume.</a:t>
            </a:r>
          </a:p>
        </p:txBody>
      </p:sp>
      <p:sp>
        <p:nvSpPr>
          <p:cNvPr id="30" name="Card3"/>
          <p:cNvSpPr/>
          <p:nvPr/>
        </p:nvSpPr>
        <p:spPr>
          <a:xfrm>
            <a:off x="457200" y="2520000"/>
            <a:ext cx="3840480" cy="1200000"/>
          </a:xfrm>
          <a:prstGeom prst="roundRect">
            <a:avLst>
              <a:gd name="adj" fmla="val 5000"/>
            </a:avLst>
          </a:prstGeom>
          <a:solidFill>
            <a:srgbClr val="FFFFFF"/>
          </a:solidFill>
          <a:ln>
            <a:noFill/>
          </a:ln>
          <a:effectLst>
            <a:outerShdw blurRad="76200" dist="25400" dir="2700000" algn="bl" rotWithShape="0">
              <a:srgbClr val="000000">
                <a:alpha val="12000"/>
              </a:srgbClr>
            </a:outerShdw>
          </a:effectLst>
        </p:spPr>
        <p:txBody>
          <a:bodyPr/>
          <a:lstStyle/>
          <a:p>
            <a:endParaRPr lang="en-US"/>
          </a:p>
        </p:txBody>
      </p:sp>
      <p:sp>
        <p:nvSpPr>
          <p:cNvPr id="31" name="Badge3"/>
          <p:cNvSpPr/>
          <p:nvPr/>
        </p:nvSpPr>
        <p:spPr>
          <a:xfrm>
            <a:off x="509400" y="2560000"/>
            <a:ext cx="320000" cy="320000"/>
          </a:xfrm>
          <a:prstGeom prst="ellipse">
            <a:avLst/>
          </a:prstGeom>
          <a:solidFill>
            <a:srgbClr val="21295C"/>
          </a:solidFill>
          <a:ln>
            <a:noFill/>
          </a:ln>
        </p:spPr>
        <p:txBody>
          <a:bodyPr wrap="square" lIns="0" tIns="0" rIns="0" bIns="0" rtlCol="0" anchor="ctr"/>
          <a:lstStyle/>
          <a:p>
            <a:pPr algn="ctr">
              <a:buNone/>
            </a:pPr>
            <a:r>
              <a:rPr lang="en-US" sz="1200" b="1" dirty="0">
                <a:solidFill>
                  <a:srgbClr val="FFFFFF"/>
                </a:solidFill>
                <a:latin typeface="Cambria"/>
              </a:rPr>
              <a:t>3</a:t>
            </a:r>
          </a:p>
        </p:txBody>
      </p:sp>
      <p:sp>
        <p:nvSpPr>
          <p:cNvPr id="32" name="Card3Text"/>
          <p:cNvSpPr/>
          <p:nvPr/>
        </p:nvSpPr>
        <p:spPr>
          <a:xfrm>
            <a:off x="890000" y="2560000"/>
            <a:ext cx="3360000" cy="1100000"/>
          </a:xfrm>
          <a:prstGeom prst="rect">
            <a:avLst/>
          </a:prstGeom>
          <a:noFill/>
          <a:ln/>
        </p:spPr>
        <p:txBody>
          <a:bodyPr wrap="square" rtlCol="0" anchor="t"/>
          <a:lstStyle/>
          <a:p>
            <a:pPr marL="0" indent="0">
              <a:buNone/>
            </a:pPr>
            <a:r>
              <a:rPr lang="en-US" sz="1300" b="1" dirty="0">
                <a:solidFill>
                  <a:srgbClr val="21295C"/>
                </a:solidFill>
                <a:latin typeface="Cambria"/>
              </a:rPr>
              <a:t>Deep Dive Analysis</a:t>
            </a:r>
          </a:p>
          <a:p>
            <a:pPr marL="0" indent="0">
              <a:buNone/>
            </a:pPr>
            <a:r>
              <a:rPr lang="en-US" sz="1050" dirty="0">
                <a:solidFill>
                  <a:srgbClr val="64748B"/>
                </a:solidFill>
                <a:latin typeface="Calibri"/>
              </a:rPr>
              <a:t>Uncover broader market trends and category-specific strategies.</a:t>
            </a:r>
          </a:p>
        </p:txBody>
      </p:sp>
      <p:sp>
        <p:nvSpPr>
          <p:cNvPr id="40" name="Card4"/>
          <p:cNvSpPr/>
          <p:nvPr/>
        </p:nvSpPr>
        <p:spPr>
          <a:xfrm>
            <a:off x="4525200" y="2520000"/>
            <a:ext cx="3840480" cy="1200000"/>
          </a:xfrm>
          <a:prstGeom prst="roundRect">
            <a:avLst>
              <a:gd name="adj" fmla="val 5000"/>
            </a:avLst>
          </a:prstGeom>
          <a:solidFill>
            <a:srgbClr val="FFFFFF"/>
          </a:solidFill>
          <a:ln>
            <a:noFill/>
          </a:ln>
          <a:effectLst>
            <a:outerShdw blurRad="76200" dist="25400" dir="2700000" algn="bl" rotWithShape="0">
              <a:srgbClr val="000000">
                <a:alpha val="12000"/>
              </a:srgbClr>
            </a:outerShdw>
          </a:effectLst>
        </p:spPr>
        <p:txBody>
          <a:bodyPr/>
          <a:lstStyle/>
          <a:p>
            <a:endParaRPr lang="en-US"/>
          </a:p>
        </p:txBody>
      </p:sp>
      <p:sp>
        <p:nvSpPr>
          <p:cNvPr id="41" name="Badge4"/>
          <p:cNvSpPr/>
          <p:nvPr/>
        </p:nvSpPr>
        <p:spPr>
          <a:xfrm>
            <a:off x="4577400" y="2560000"/>
            <a:ext cx="320000" cy="320000"/>
          </a:xfrm>
          <a:prstGeom prst="ellipse">
            <a:avLst/>
          </a:prstGeom>
          <a:solidFill>
            <a:srgbClr val="028090"/>
          </a:solidFill>
          <a:ln>
            <a:noFill/>
          </a:ln>
        </p:spPr>
        <p:txBody>
          <a:bodyPr wrap="square" lIns="0" tIns="0" rIns="0" bIns="0" rtlCol="0" anchor="ctr"/>
          <a:lstStyle/>
          <a:p>
            <a:pPr algn="ctr">
              <a:buNone/>
            </a:pPr>
            <a:r>
              <a:rPr lang="en-US" sz="1200" b="1" dirty="0">
                <a:solidFill>
                  <a:srgbClr val="FFFFFF"/>
                </a:solidFill>
                <a:latin typeface="Cambria"/>
              </a:rPr>
              <a:t>4</a:t>
            </a:r>
          </a:p>
        </p:txBody>
      </p:sp>
      <p:sp>
        <p:nvSpPr>
          <p:cNvPr id="42" name="Card4Text"/>
          <p:cNvSpPr/>
          <p:nvPr/>
        </p:nvSpPr>
        <p:spPr>
          <a:xfrm>
            <a:off x="4949600" y="2570000"/>
            <a:ext cx="3360000" cy="1100000"/>
          </a:xfrm>
          <a:prstGeom prst="rect">
            <a:avLst/>
          </a:prstGeom>
          <a:noFill/>
          <a:ln/>
        </p:spPr>
        <p:txBody>
          <a:bodyPr wrap="square" rtlCol="0" anchor="t"/>
          <a:lstStyle/>
          <a:p>
            <a:pPr marL="0" indent="0">
              <a:buNone/>
            </a:pPr>
            <a:r>
              <a:rPr lang="en-US" sz="1300" b="1" dirty="0">
                <a:solidFill>
                  <a:srgbClr val="028090"/>
                </a:solidFill>
                <a:latin typeface="Cambria"/>
              </a:rPr>
              <a:t>Order Status distribution &amp; Financial Impacts</a:t>
            </a:r>
          </a:p>
          <a:p>
            <a:pPr marL="0" indent="0">
              <a:buNone/>
            </a:pPr>
            <a:r>
              <a:rPr lang="en-US" sz="1050" dirty="0">
                <a:solidFill>
                  <a:srgbClr val="64748B"/>
                </a:solidFill>
                <a:latin typeface="Calibri"/>
              </a:rPr>
              <a:t>Top 3 High-Risk Categories &amp; financial impacts and mitigation strategies. </a:t>
            </a:r>
          </a:p>
        </p:txBody>
      </p:sp>
      <p:sp>
        <p:nvSpPr>
          <p:cNvPr id="52" name="Card5Text"/>
          <p:cNvSpPr/>
          <p:nvPr/>
        </p:nvSpPr>
        <p:spPr>
          <a:xfrm>
            <a:off x="890000" y="3875000"/>
            <a:ext cx="7300000" cy="680000"/>
          </a:xfrm>
          <a:prstGeom prst="rect">
            <a:avLst/>
          </a:prstGeom>
          <a:noFill/>
          <a:ln/>
        </p:spPr>
        <p:txBody>
          <a:bodyPr wrap="square" rtlCol="0" anchor="ctr"/>
          <a:lstStyle/>
          <a:p>
            <a:pPr marL="0" indent="0">
              <a:buNone/>
            </a:pPr>
            <a:endParaRPr lang="en-US" sz="1300" b="0" dirty="0">
              <a:solidFill>
                <a:srgbClr val="CADCFC"/>
              </a:solidFill>
              <a:latin typeface="Calibri"/>
            </a:endParaRPr>
          </a:p>
        </p:txBody>
      </p:sp>
      <p:sp>
        <p:nvSpPr>
          <p:cNvPr id="5" name="Card4">
            <a:extLst>
              <a:ext uri="{FF2B5EF4-FFF2-40B4-BE49-F238E27FC236}">
                <a16:creationId xmlns:a16="http://schemas.microsoft.com/office/drawing/2014/main" id="{FA74469C-321B-C7E8-692F-3DA80867FA85}"/>
              </a:ext>
            </a:extLst>
          </p:cNvPr>
          <p:cNvSpPr/>
          <p:nvPr/>
        </p:nvSpPr>
        <p:spPr>
          <a:xfrm>
            <a:off x="2604960" y="3822535"/>
            <a:ext cx="3840480" cy="1200000"/>
          </a:xfrm>
          <a:prstGeom prst="roundRect">
            <a:avLst>
              <a:gd name="adj" fmla="val 5000"/>
            </a:avLst>
          </a:prstGeom>
          <a:solidFill>
            <a:srgbClr val="FFFFFF"/>
          </a:solidFill>
          <a:ln>
            <a:noFill/>
          </a:ln>
          <a:effectLst>
            <a:outerShdw blurRad="76200" dist="25400" dir="2700000" algn="bl" rotWithShape="0">
              <a:srgbClr val="000000">
                <a:alpha val="12000"/>
              </a:srgbClr>
            </a:outerShdw>
          </a:effectLst>
        </p:spPr>
        <p:txBody>
          <a:bodyPr/>
          <a:lstStyle/>
          <a:p>
            <a:endParaRPr lang="en-US"/>
          </a:p>
        </p:txBody>
      </p:sp>
      <p:sp>
        <p:nvSpPr>
          <p:cNvPr id="9" name="Card4Text">
            <a:extLst>
              <a:ext uri="{FF2B5EF4-FFF2-40B4-BE49-F238E27FC236}">
                <a16:creationId xmlns:a16="http://schemas.microsoft.com/office/drawing/2014/main" id="{F91AC531-9139-0EC8-BA37-00FF827F9F70}"/>
              </a:ext>
            </a:extLst>
          </p:cNvPr>
          <p:cNvSpPr/>
          <p:nvPr/>
        </p:nvSpPr>
        <p:spPr>
          <a:xfrm>
            <a:off x="3085440" y="3922808"/>
            <a:ext cx="3360000" cy="1100000"/>
          </a:xfrm>
          <a:prstGeom prst="rect">
            <a:avLst/>
          </a:prstGeom>
          <a:noFill/>
          <a:ln/>
        </p:spPr>
        <p:txBody>
          <a:bodyPr wrap="square" rtlCol="0" anchor="t"/>
          <a:lstStyle/>
          <a:p>
            <a:pPr marL="0" indent="0">
              <a:buNone/>
            </a:pPr>
            <a:r>
              <a:rPr lang="en-US" sz="1300" b="1" dirty="0">
                <a:solidFill>
                  <a:srgbClr val="028090"/>
                </a:solidFill>
                <a:latin typeface="Cambria"/>
              </a:rPr>
              <a:t>Build Predictive Model</a:t>
            </a:r>
          </a:p>
          <a:p>
            <a:pPr marL="0" indent="0">
              <a:buNone/>
            </a:pPr>
            <a:r>
              <a:rPr lang="en-US" sz="1050" dirty="0">
                <a:solidFill>
                  <a:srgbClr val="64748B"/>
                </a:solidFill>
                <a:latin typeface="Calibri"/>
              </a:rPr>
              <a:t>Estimate whether an order is likely to face late delivery risk.</a:t>
            </a:r>
          </a:p>
        </p:txBody>
      </p:sp>
      <p:sp>
        <p:nvSpPr>
          <p:cNvPr id="14" name="Badge4">
            <a:extLst>
              <a:ext uri="{FF2B5EF4-FFF2-40B4-BE49-F238E27FC236}">
                <a16:creationId xmlns:a16="http://schemas.microsoft.com/office/drawing/2014/main" id="{255F7A07-ED5D-2A4D-EBFF-61CB541010D4}"/>
              </a:ext>
            </a:extLst>
          </p:cNvPr>
          <p:cNvSpPr/>
          <p:nvPr/>
        </p:nvSpPr>
        <p:spPr>
          <a:xfrm>
            <a:off x="2737400" y="3953644"/>
            <a:ext cx="320000" cy="320000"/>
          </a:xfrm>
          <a:prstGeom prst="ellipse">
            <a:avLst/>
          </a:prstGeom>
          <a:solidFill>
            <a:srgbClr val="028090"/>
          </a:solidFill>
          <a:ln>
            <a:noFill/>
          </a:ln>
        </p:spPr>
        <p:txBody>
          <a:bodyPr wrap="square" lIns="0" tIns="0" rIns="0" bIns="0" rtlCol="0" anchor="ctr"/>
          <a:lstStyle/>
          <a:p>
            <a:pPr algn="ctr">
              <a:buNone/>
            </a:pPr>
            <a:r>
              <a:rPr lang="en-US" sz="1200" b="1" dirty="0">
                <a:solidFill>
                  <a:srgbClr val="FFFFFF"/>
                </a:solidFill>
                <a:latin typeface="Cambria"/>
              </a:rPr>
              <a:t>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Title"/>
          <p:cNvSpPr/>
          <p:nvPr/>
        </p:nvSpPr>
        <p:spPr>
          <a:xfrm>
            <a:off x="457200" y="220000"/>
            <a:ext cx="8229600" cy="500000"/>
          </a:xfrm>
          <a:prstGeom prst="rect">
            <a:avLst/>
          </a:prstGeom>
          <a:noFill/>
          <a:ln/>
        </p:spPr>
        <p:txBody>
          <a:bodyPr wrap="square" rtlCol="0" anchor="ctr"/>
          <a:lstStyle/>
          <a:p>
            <a:pPr marL="0" indent="0">
              <a:buNone/>
            </a:pPr>
            <a:r>
              <a:rPr lang="en-US" sz="2800" b="1" dirty="0">
                <a:solidFill>
                  <a:srgbClr val="065A82"/>
                </a:solidFill>
                <a:latin typeface="Cambria" pitchFamily="34" charset="0"/>
              </a:rPr>
              <a:t>Executive Summary</a:t>
            </a:r>
          </a:p>
        </p:txBody>
      </p:sp>
      <p:sp>
        <p:nvSpPr>
          <p:cNvPr id="3" name="Subtitle"/>
          <p:cNvSpPr/>
          <p:nvPr/>
        </p:nvSpPr>
        <p:spPr>
          <a:xfrm>
            <a:off x="457200" y="700000"/>
            <a:ext cx="8229600" cy="290000"/>
          </a:xfrm>
          <a:prstGeom prst="rect">
            <a:avLst/>
          </a:prstGeom>
          <a:noFill/>
          <a:ln/>
        </p:spPr>
        <p:txBody>
          <a:bodyPr wrap="square" rtlCol="0" anchor="ctr"/>
          <a:lstStyle/>
          <a:p>
            <a:pPr marL="0" indent="0">
              <a:buNone/>
            </a:pPr>
            <a:r>
              <a:rPr lang="en-US" sz="1300" dirty="0">
                <a:solidFill>
                  <a:srgbClr val="64748B"/>
                </a:solidFill>
                <a:latin typeface="Calibri" pitchFamily="34" charset="0"/>
              </a:rPr>
              <a:t>Five focus areas revealed by analysis of supply chain, sales, and customer data</a:t>
            </a:r>
          </a:p>
        </p:txBody>
      </p:sp>
      <p:sp>
        <p:nvSpPr>
          <p:cNvPr id="10" name="T1bg"/>
          <p:cNvSpPr/>
          <p:nvPr/>
        </p:nvSpPr>
        <p:spPr>
          <a:xfrm>
            <a:off x="457200" y="1080000"/>
            <a:ext cx="1920240" cy="1300000"/>
          </a:xfrm>
          <a:prstGeom prst="roundRect">
            <a:avLst>
              <a:gd name="adj" fmla="val 7059"/>
            </a:avLst>
          </a:prstGeom>
          <a:solidFill>
            <a:srgbClr val="065A82"/>
          </a:solidFill>
          <a:ln>
            <a:noFill/>
          </a:ln>
          <a:effectLst>
            <a:outerShdw blurRad="76200" dist="25400" dir="2700000" algn="bl" rotWithShape="0">
              <a:srgbClr val="000000">
                <a:alpha val="15000"/>
              </a:srgbClr>
            </a:outerShdw>
          </a:effectLst>
        </p:spPr>
        <p:txBody>
          <a:bodyPr/>
          <a:lstStyle/>
          <a:p>
            <a:endParaRPr lang="en-US"/>
          </a:p>
        </p:txBody>
      </p:sp>
      <p:sp>
        <p:nvSpPr>
          <p:cNvPr id="11" name="T1num"/>
          <p:cNvSpPr/>
          <p:nvPr/>
        </p:nvSpPr>
        <p:spPr>
          <a:xfrm>
            <a:off x="457200" y="1120000"/>
            <a:ext cx="1920240" cy="7200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a:rPr>
              <a:t>54.8%</a:t>
            </a:r>
          </a:p>
        </p:txBody>
      </p:sp>
      <p:sp>
        <p:nvSpPr>
          <p:cNvPr id="12" name="T1lbl"/>
          <p:cNvSpPr/>
          <p:nvPr/>
        </p:nvSpPr>
        <p:spPr>
          <a:xfrm>
            <a:off x="457200" y="1830000"/>
            <a:ext cx="1920240" cy="480000"/>
          </a:xfrm>
          <a:prstGeom prst="rect">
            <a:avLst/>
          </a:prstGeom>
          <a:noFill/>
          <a:ln/>
        </p:spPr>
        <p:txBody>
          <a:bodyPr wrap="square" lIns="91440" tIns="0" rIns="91440" bIns="0" rtlCol="0" anchor="t"/>
          <a:lstStyle/>
          <a:p>
            <a:pPr marL="0" indent="0" algn="ctr">
              <a:buNone/>
            </a:pPr>
            <a:r>
              <a:rPr lang="en-US" sz="1100" dirty="0">
                <a:solidFill>
                  <a:srgbClr val="CADCFC"/>
                </a:solidFill>
                <a:latin typeface="Calibri"/>
              </a:rPr>
              <a:t>Average late delivery rate</a:t>
            </a:r>
          </a:p>
        </p:txBody>
      </p:sp>
      <p:sp>
        <p:nvSpPr>
          <p:cNvPr id="20" name="T2bg"/>
          <p:cNvSpPr/>
          <p:nvPr/>
        </p:nvSpPr>
        <p:spPr>
          <a:xfrm>
            <a:off x="2468880" y="1080000"/>
            <a:ext cx="1920240" cy="1300000"/>
          </a:xfrm>
          <a:prstGeom prst="roundRect">
            <a:avLst>
              <a:gd name="adj" fmla="val 7059"/>
            </a:avLst>
          </a:prstGeom>
          <a:solidFill>
            <a:srgbClr val="1C7293"/>
          </a:solidFill>
          <a:ln>
            <a:noFill/>
          </a:ln>
          <a:effectLst>
            <a:outerShdw blurRad="76200" dist="25400" dir="2700000" algn="bl" rotWithShape="0">
              <a:srgbClr val="000000">
                <a:alpha val="15000"/>
              </a:srgbClr>
            </a:outerShdw>
          </a:effectLst>
        </p:spPr>
        <p:txBody>
          <a:bodyPr/>
          <a:lstStyle/>
          <a:p>
            <a:endParaRPr lang="en-US"/>
          </a:p>
        </p:txBody>
      </p:sp>
      <p:sp>
        <p:nvSpPr>
          <p:cNvPr id="21" name="T2num"/>
          <p:cNvSpPr/>
          <p:nvPr/>
        </p:nvSpPr>
        <p:spPr>
          <a:xfrm>
            <a:off x="2468880" y="1120000"/>
            <a:ext cx="1920240" cy="7200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a:rPr>
              <a:t>95%</a:t>
            </a:r>
          </a:p>
        </p:txBody>
      </p:sp>
      <p:sp>
        <p:nvSpPr>
          <p:cNvPr id="22" name="T2lbl"/>
          <p:cNvSpPr/>
          <p:nvPr/>
        </p:nvSpPr>
        <p:spPr>
          <a:xfrm>
            <a:off x="2468880" y="1830000"/>
            <a:ext cx="1920240" cy="480000"/>
          </a:xfrm>
          <a:prstGeom prst="rect">
            <a:avLst/>
          </a:prstGeom>
          <a:noFill/>
          <a:ln/>
        </p:spPr>
        <p:txBody>
          <a:bodyPr wrap="square" lIns="91440" tIns="0" rIns="91440" bIns="0" rtlCol="0" anchor="t"/>
          <a:lstStyle/>
          <a:p>
            <a:pPr algn="ctr"/>
            <a:r>
              <a:rPr lang="en-US" sz="1100" dirty="0">
                <a:solidFill>
                  <a:srgbClr val="CADCFC"/>
                </a:solidFill>
              </a:rPr>
              <a:t>First Class late rate</a:t>
            </a:r>
          </a:p>
          <a:p>
            <a:pPr marL="0" indent="0" algn="ctr">
              <a:buNone/>
            </a:pPr>
            <a:endParaRPr lang="en-US" sz="1100" dirty="0">
              <a:solidFill>
                <a:srgbClr val="CADCFC"/>
              </a:solidFill>
              <a:latin typeface="Calibri"/>
            </a:endParaRPr>
          </a:p>
          <a:p>
            <a:pPr algn="ctr"/>
            <a:endParaRPr lang="en-US" sz="1100" dirty="0">
              <a:solidFill>
                <a:srgbClr val="CADCFC"/>
              </a:solidFill>
            </a:endParaRPr>
          </a:p>
          <a:p>
            <a:pPr marL="0" indent="0" algn="ctr">
              <a:buNone/>
            </a:pPr>
            <a:endParaRPr lang="en-US" sz="1100" dirty="0">
              <a:solidFill>
                <a:srgbClr val="CADCFC"/>
              </a:solidFill>
              <a:latin typeface="Calibri"/>
            </a:endParaRPr>
          </a:p>
        </p:txBody>
      </p:sp>
      <p:sp>
        <p:nvSpPr>
          <p:cNvPr id="30" name="T3bg"/>
          <p:cNvSpPr/>
          <p:nvPr/>
        </p:nvSpPr>
        <p:spPr>
          <a:xfrm>
            <a:off x="4617720" y="1080000"/>
            <a:ext cx="1920240" cy="1300000"/>
          </a:xfrm>
          <a:prstGeom prst="roundRect">
            <a:avLst>
              <a:gd name="adj" fmla="val 7059"/>
            </a:avLst>
          </a:prstGeom>
          <a:solidFill>
            <a:srgbClr val="21295C"/>
          </a:solidFill>
          <a:ln>
            <a:noFill/>
          </a:ln>
          <a:effectLst>
            <a:outerShdw blurRad="76200" dist="25400" dir="2700000" algn="bl" rotWithShape="0">
              <a:srgbClr val="000000">
                <a:alpha val="15000"/>
              </a:srgbClr>
            </a:outerShdw>
          </a:effectLst>
        </p:spPr>
        <p:txBody>
          <a:bodyPr/>
          <a:lstStyle/>
          <a:p>
            <a:endParaRPr lang="en-US"/>
          </a:p>
        </p:txBody>
      </p:sp>
      <p:sp>
        <p:nvSpPr>
          <p:cNvPr id="31" name="T3num"/>
          <p:cNvSpPr/>
          <p:nvPr/>
        </p:nvSpPr>
        <p:spPr>
          <a:xfrm>
            <a:off x="4617720" y="1120000"/>
            <a:ext cx="1920240" cy="7200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a:rPr>
              <a:t>39,832</a:t>
            </a:r>
          </a:p>
        </p:txBody>
      </p:sp>
      <p:sp>
        <p:nvSpPr>
          <p:cNvPr id="32" name="T3lbl"/>
          <p:cNvSpPr/>
          <p:nvPr/>
        </p:nvSpPr>
        <p:spPr>
          <a:xfrm>
            <a:off x="4617720" y="1830000"/>
            <a:ext cx="1920240" cy="480000"/>
          </a:xfrm>
          <a:prstGeom prst="rect">
            <a:avLst/>
          </a:prstGeom>
          <a:noFill/>
          <a:ln/>
        </p:spPr>
        <p:txBody>
          <a:bodyPr wrap="square" lIns="91440" tIns="0" rIns="91440" bIns="0" rtlCol="0" anchor="t"/>
          <a:lstStyle/>
          <a:p>
            <a:pPr algn="ctr"/>
            <a:r>
              <a:rPr lang="en-US" sz="1100" dirty="0">
                <a:solidFill>
                  <a:srgbClr val="CADCFC"/>
                </a:solidFill>
              </a:rPr>
              <a:t>Pending payment orders</a:t>
            </a:r>
          </a:p>
        </p:txBody>
      </p:sp>
      <p:sp>
        <p:nvSpPr>
          <p:cNvPr id="40" name="T4bg"/>
          <p:cNvSpPr/>
          <p:nvPr/>
        </p:nvSpPr>
        <p:spPr>
          <a:xfrm>
            <a:off x="6766560" y="1080000"/>
            <a:ext cx="1920240" cy="1300000"/>
          </a:xfrm>
          <a:prstGeom prst="roundRect">
            <a:avLst>
              <a:gd name="adj" fmla="val 7059"/>
            </a:avLst>
          </a:prstGeom>
          <a:solidFill>
            <a:srgbClr val="028090"/>
          </a:solidFill>
          <a:ln>
            <a:noFill/>
          </a:ln>
          <a:effectLst>
            <a:outerShdw blurRad="76200" dist="25400" dir="2700000" algn="bl" rotWithShape="0">
              <a:srgbClr val="000000">
                <a:alpha val="15000"/>
              </a:srgbClr>
            </a:outerShdw>
          </a:effectLst>
        </p:spPr>
        <p:txBody>
          <a:bodyPr/>
          <a:lstStyle/>
          <a:p>
            <a:endParaRPr lang="en-US"/>
          </a:p>
        </p:txBody>
      </p:sp>
      <p:sp>
        <p:nvSpPr>
          <p:cNvPr id="41" name="T4num"/>
          <p:cNvSpPr/>
          <p:nvPr/>
        </p:nvSpPr>
        <p:spPr>
          <a:xfrm>
            <a:off x="6766560" y="1120000"/>
            <a:ext cx="1920240" cy="7200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a:rPr>
              <a:t>~2%</a:t>
            </a:r>
          </a:p>
        </p:txBody>
      </p:sp>
      <p:sp>
        <p:nvSpPr>
          <p:cNvPr id="42" name="T4lbl"/>
          <p:cNvSpPr/>
          <p:nvPr/>
        </p:nvSpPr>
        <p:spPr>
          <a:xfrm>
            <a:off x="6766560" y="1830000"/>
            <a:ext cx="1920240" cy="480000"/>
          </a:xfrm>
          <a:prstGeom prst="rect">
            <a:avLst/>
          </a:prstGeom>
          <a:noFill/>
          <a:ln/>
        </p:spPr>
        <p:txBody>
          <a:bodyPr wrap="square" lIns="91440" tIns="0" rIns="91440" bIns="0" rtlCol="0" anchor="t"/>
          <a:lstStyle/>
          <a:p>
            <a:pPr marL="0" indent="0" algn="ctr">
              <a:buNone/>
            </a:pPr>
            <a:r>
              <a:rPr lang="en-US" sz="1100" dirty="0">
                <a:solidFill>
                  <a:srgbClr val="CADCFC"/>
                </a:solidFill>
                <a:latin typeface="Calibri"/>
              </a:rPr>
              <a:t>Sales lost to fraud</a:t>
            </a:r>
          </a:p>
        </p:txBody>
      </p:sp>
      <p:sp>
        <p:nvSpPr>
          <p:cNvPr id="50" name="C1bg"/>
          <p:cNvSpPr/>
          <p:nvPr/>
        </p:nvSpPr>
        <p:spPr>
          <a:xfrm>
            <a:off x="457200" y="2480000"/>
            <a:ext cx="1920240" cy="206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51" name="C1bar"/>
          <p:cNvSpPr/>
          <p:nvPr/>
        </p:nvSpPr>
        <p:spPr>
          <a:xfrm>
            <a:off x="457200" y="2480000"/>
            <a:ext cx="60000" cy="2060000"/>
          </a:xfrm>
          <a:prstGeom prst="roundRect">
            <a:avLst>
              <a:gd name="adj" fmla="val 3000"/>
            </a:avLst>
          </a:prstGeom>
          <a:solidFill>
            <a:srgbClr val="065A82"/>
          </a:solidFill>
          <a:ln>
            <a:noFill/>
          </a:ln>
        </p:spPr>
        <p:txBody>
          <a:bodyPr/>
          <a:lstStyle/>
          <a:p>
            <a:endParaRPr lang="en-US"/>
          </a:p>
        </p:txBody>
      </p:sp>
      <p:sp>
        <p:nvSpPr>
          <p:cNvPr id="52" name="C1text"/>
          <p:cNvSpPr/>
          <p:nvPr/>
        </p:nvSpPr>
        <p:spPr>
          <a:xfrm>
            <a:off x="580000" y="2530000"/>
            <a:ext cx="1760000" cy="1960000"/>
          </a:xfrm>
          <a:prstGeom prst="rect">
            <a:avLst/>
          </a:prstGeom>
          <a:noFill/>
          <a:ln/>
        </p:spPr>
        <p:txBody>
          <a:bodyPr wrap="square" rtlCol="0" anchor="t"/>
          <a:lstStyle/>
          <a:p>
            <a:pPr marL="0" indent="0">
              <a:buNone/>
            </a:pPr>
            <a:r>
              <a:rPr lang="en-US" sz="1200" b="1" dirty="0">
                <a:solidFill>
                  <a:srgbClr val="065A82"/>
                </a:solidFill>
                <a:latin typeface="Cambria"/>
              </a:rPr>
              <a:t>Late Deliveries</a:t>
            </a:r>
          </a:p>
          <a:p>
            <a:pPr marL="0" indent="0">
              <a:buNone/>
            </a:pPr>
            <a:endParaRPr lang="en-US" sz="900"/>
          </a:p>
          <a:p>
            <a:pPr marL="0" indent="0">
              <a:buNone/>
            </a:pPr>
            <a:r>
              <a:rPr lang="en-US" sz="1000" dirty="0">
                <a:solidFill>
                  <a:srgbClr val="1E293B"/>
                </a:solidFill>
                <a:latin typeface="Calibri"/>
              </a:rPr>
              <a:t>First Class promises 1-day delivery but consistently takes 2 days, driving a 95% late rate. Standard Class sits at 38%.</a:t>
            </a:r>
          </a:p>
        </p:txBody>
      </p:sp>
      <p:sp>
        <p:nvSpPr>
          <p:cNvPr id="60" name="C2bg"/>
          <p:cNvSpPr/>
          <p:nvPr/>
        </p:nvSpPr>
        <p:spPr>
          <a:xfrm>
            <a:off x="2468880" y="2480000"/>
            <a:ext cx="1920240" cy="206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r>
              <a:rPr lang="en-US" sz="1000" b="1" dirty="0">
                <a:solidFill>
                  <a:srgbClr val="21295C"/>
                </a:solidFill>
                <a:latin typeface="Cambria"/>
              </a:rPr>
              <a:t>Geographic Risk</a:t>
            </a:r>
          </a:p>
          <a:p>
            <a:endParaRPr lang="en-US" sz="1000" dirty="0"/>
          </a:p>
          <a:p>
            <a:r>
              <a:rPr lang="en-US" sz="1000" dirty="0">
                <a:solidFill>
                  <a:srgbClr val="1E293B"/>
                </a:solidFill>
              </a:rPr>
              <a:t>USCA and Africa markets lead in late rates. Several countries (Armenia, Gambia, Eritrea) show 100% late delivery rates</a:t>
            </a:r>
            <a:endParaRPr lang="en-US" sz="1000" dirty="0"/>
          </a:p>
        </p:txBody>
      </p:sp>
      <p:sp>
        <p:nvSpPr>
          <p:cNvPr id="61" name="C2bar"/>
          <p:cNvSpPr/>
          <p:nvPr/>
        </p:nvSpPr>
        <p:spPr>
          <a:xfrm>
            <a:off x="2468880" y="2480000"/>
            <a:ext cx="60000" cy="2060000"/>
          </a:xfrm>
          <a:prstGeom prst="roundRect">
            <a:avLst>
              <a:gd name="adj" fmla="val 3000"/>
            </a:avLst>
          </a:prstGeom>
          <a:solidFill>
            <a:srgbClr val="1C7293"/>
          </a:solidFill>
          <a:ln>
            <a:noFill/>
          </a:ln>
        </p:spPr>
        <p:txBody>
          <a:bodyPr/>
          <a:lstStyle/>
          <a:p>
            <a:endParaRPr lang="en-US"/>
          </a:p>
        </p:txBody>
      </p:sp>
      <p:sp>
        <p:nvSpPr>
          <p:cNvPr id="62" name="C2text"/>
          <p:cNvSpPr/>
          <p:nvPr/>
        </p:nvSpPr>
        <p:spPr>
          <a:xfrm>
            <a:off x="2591000" y="2530000"/>
            <a:ext cx="1760000" cy="1960000"/>
          </a:xfrm>
          <a:prstGeom prst="rect">
            <a:avLst/>
          </a:prstGeom>
          <a:noFill/>
          <a:ln/>
        </p:spPr>
        <p:txBody>
          <a:bodyPr wrap="square" rtlCol="0" anchor="t"/>
          <a:lstStyle/>
          <a:p>
            <a:pPr marL="0" indent="0">
              <a:buNone/>
            </a:pPr>
            <a:endParaRPr lang="en-US" sz="1000" dirty="0">
              <a:solidFill>
                <a:srgbClr val="1E293B"/>
              </a:solidFill>
              <a:latin typeface="Calibri"/>
            </a:endParaRPr>
          </a:p>
        </p:txBody>
      </p:sp>
      <p:sp>
        <p:nvSpPr>
          <p:cNvPr id="70" name="C3bg"/>
          <p:cNvSpPr/>
          <p:nvPr/>
        </p:nvSpPr>
        <p:spPr>
          <a:xfrm>
            <a:off x="4617720" y="2480000"/>
            <a:ext cx="1920240" cy="206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71" name="C3bar"/>
          <p:cNvSpPr/>
          <p:nvPr/>
        </p:nvSpPr>
        <p:spPr>
          <a:xfrm>
            <a:off x="4617720" y="2480000"/>
            <a:ext cx="60000" cy="2060000"/>
          </a:xfrm>
          <a:prstGeom prst="roundRect">
            <a:avLst>
              <a:gd name="adj" fmla="val 3000"/>
            </a:avLst>
          </a:prstGeom>
          <a:solidFill>
            <a:srgbClr val="21295C"/>
          </a:solidFill>
          <a:ln>
            <a:noFill/>
          </a:ln>
        </p:spPr>
        <p:txBody>
          <a:bodyPr/>
          <a:lstStyle/>
          <a:p>
            <a:endParaRPr lang="en-US"/>
          </a:p>
        </p:txBody>
      </p:sp>
      <p:sp>
        <p:nvSpPr>
          <p:cNvPr id="72" name="C3text"/>
          <p:cNvSpPr/>
          <p:nvPr/>
        </p:nvSpPr>
        <p:spPr>
          <a:xfrm>
            <a:off x="4740000" y="2530000"/>
            <a:ext cx="1760000" cy="1960000"/>
          </a:xfrm>
          <a:prstGeom prst="rect">
            <a:avLst/>
          </a:prstGeom>
          <a:noFill/>
          <a:ln/>
        </p:spPr>
        <p:txBody>
          <a:bodyPr wrap="square" rtlCol="0" anchor="t"/>
          <a:lstStyle/>
          <a:p>
            <a:r>
              <a:rPr lang="en-US" sz="1000" b="1" dirty="0">
                <a:solidFill>
                  <a:srgbClr val="1C7293"/>
                </a:solidFill>
                <a:latin typeface="Cambria"/>
              </a:rPr>
              <a:t>Payment Issues</a:t>
            </a:r>
          </a:p>
          <a:p>
            <a:endParaRPr lang="en-US" sz="1000" dirty="0"/>
          </a:p>
          <a:p>
            <a:r>
              <a:rPr lang="en-US" sz="1000" dirty="0">
                <a:solidFill>
                  <a:srgbClr val="1E293B"/>
                </a:solidFill>
              </a:rPr>
              <a:t>All PENDING_PAYMENT orders link exclusively to </a:t>
            </a:r>
            <a:r>
              <a:rPr lang="en-US" sz="1000" dirty="0" err="1">
                <a:solidFill>
                  <a:srgbClr val="1E293B"/>
                </a:solidFill>
              </a:rPr>
              <a:t>Payment_Type_ID</a:t>
            </a:r>
            <a:r>
              <a:rPr lang="en-US" sz="1000" dirty="0">
                <a:solidFill>
                  <a:srgbClr val="1E293B"/>
                </a:solidFill>
              </a:rPr>
              <a:t> 4 — a systemic gateway issue, not customer </a:t>
            </a:r>
            <a:r>
              <a:rPr lang="en-US" sz="1000" dirty="0" err="1">
                <a:solidFill>
                  <a:srgbClr val="1E293B"/>
                </a:solidFill>
              </a:rPr>
              <a:t>behaviour</a:t>
            </a:r>
            <a:r>
              <a:rPr lang="en-US" sz="1000" dirty="0">
                <a:solidFill>
                  <a:srgbClr val="1E293B"/>
                </a:solidFill>
              </a:rPr>
              <a:t>.</a:t>
            </a:r>
          </a:p>
          <a:p>
            <a:pPr marL="0" indent="0">
              <a:buNone/>
            </a:pPr>
            <a:endParaRPr lang="en-US" sz="1000" dirty="0">
              <a:solidFill>
                <a:srgbClr val="1E293B"/>
              </a:solidFill>
              <a:latin typeface="Calibri"/>
            </a:endParaRPr>
          </a:p>
        </p:txBody>
      </p:sp>
      <p:sp>
        <p:nvSpPr>
          <p:cNvPr id="80" name="C4bg"/>
          <p:cNvSpPr/>
          <p:nvPr/>
        </p:nvSpPr>
        <p:spPr>
          <a:xfrm>
            <a:off x="6766560" y="2480000"/>
            <a:ext cx="1920240" cy="206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81" name="C4bar"/>
          <p:cNvSpPr/>
          <p:nvPr/>
        </p:nvSpPr>
        <p:spPr>
          <a:xfrm>
            <a:off x="6766560" y="2480000"/>
            <a:ext cx="60000" cy="2060000"/>
          </a:xfrm>
          <a:prstGeom prst="roundRect">
            <a:avLst>
              <a:gd name="adj" fmla="val 3000"/>
            </a:avLst>
          </a:prstGeom>
          <a:solidFill>
            <a:srgbClr val="028090"/>
          </a:solidFill>
          <a:ln>
            <a:noFill/>
          </a:ln>
        </p:spPr>
        <p:txBody>
          <a:bodyPr/>
          <a:lstStyle/>
          <a:p>
            <a:endParaRPr lang="en-US"/>
          </a:p>
        </p:txBody>
      </p:sp>
      <p:sp>
        <p:nvSpPr>
          <p:cNvPr id="82" name="C4text"/>
          <p:cNvSpPr/>
          <p:nvPr/>
        </p:nvSpPr>
        <p:spPr>
          <a:xfrm>
            <a:off x="6889000" y="2530000"/>
            <a:ext cx="1760000" cy="1960000"/>
          </a:xfrm>
          <a:prstGeom prst="rect">
            <a:avLst/>
          </a:prstGeom>
          <a:noFill/>
          <a:ln/>
        </p:spPr>
        <p:txBody>
          <a:bodyPr wrap="square" rtlCol="0" anchor="t"/>
          <a:lstStyle/>
          <a:p>
            <a:pPr marL="0" indent="0">
              <a:buNone/>
            </a:pPr>
            <a:r>
              <a:rPr lang="en-US" sz="1200" b="1" dirty="0">
                <a:solidFill>
                  <a:srgbClr val="028090"/>
                </a:solidFill>
                <a:latin typeface="Cambria"/>
              </a:rPr>
              <a:t>Financial Risk</a:t>
            </a:r>
          </a:p>
          <a:p>
            <a:pPr marL="0" indent="0">
              <a:buNone/>
            </a:pPr>
            <a:endParaRPr lang="en-US" sz="900"/>
          </a:p>
          <a:p>
            <a:pPr marL="0" indent="0">
              <a:buNone/>
            </a:pPr>
            <a:r>
              <a:rPr lang="en-US" sz="1000" dirty="0">
                <a:solidFill>
                  <a:srgbClr val="1E293B"/>
                </a:solidFill>
                <a:latin typeface="Calibri"/>
              </a:rPr>
              <a:t>Top 3 categories lose ~2% of sales to fraud and cancellations. Fraud loss consistently exceeds cancellation rate across all three.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1C7293">
              <a:alpha val="18000"/>
            </a:srgbClr>
          </a:solidFill>
          <a:ln w="12700">
            <a:solidFill>
              <a:srgbClr val="1C7293">
                <a:alpha val="18000"/>
              </a:srgbClr>
            </a:solidFill>
            <a:prstDash val="solid"/>
          </a:ln>
        </p:spPr>
        <p:txBody>
          <a:bodyPr/>
          <a:lstStyle/>
          <a:p>
            <a:endParaRPr lang="en-SG"/>
          </a:p>
        </p:txBody>
      </p:sp>
      <p:sp>
        <p:nvSpPr>
          <p:cNvPr id="3" name="Shape 1"/>
          <p:cNvSpPr/>
          <p:nvPr/>
        </p:nvSpPr>
        <p:spPr>
          <a:xfrm>
            <a:off x="7772400" y="2286000"/>
            <a:ext cx="2743200" cy="2743200"/>
          </a:xfrm>
          <a:prstGeom prst="ellipse">
            <a:avLst/>
          </a:prstGeom>
          <a:solidFill>
            <a:srgbClr val="02C39A">
              <a:alpha val="12000"/>
            </a:srgbClr>
          </a:solidFill>
          <a:ln w="12700">
            <a:solidFill>
              <a:srgbClr val="02C39A">
                <a:alpha val="12000"/>
              </a:srgbClr>
            </a:solidFill>
            <a:prstDash val="solid"/>
          </a:ln>
        </p:spPr>
        <p:txBody>
          <a:bodyPr/>
          <a:lstStyle/>
          <a:p>
            <a:endParaRPr lang="en-SG"/>
          </a:p>
        </p:txBody>
      </p:sp>
      <p:sp>
        <p:nvSpPr>
          <p:cNvPr id="4" name="Text 2"/>
          <p:cNvSpPr/>
          <p:nvPr/>
        </p:nvSpPr>
        <p:spPr>
          <a:xfrm>
            <a:off x="914400" y="1645920"/>
            <a:ext cx="1097280" cy="1097280"/>
          </a:xfrm>
          <a:prstGeom prst="rect">
            <a:avLst/>
          </a:prstGeom>
          <a:noFill/>
          <a:ln/>
        </p:spPr>
        <p:txBody>
          <a:bodyPr wrap="square" rtlCol="0" anchor="ctr"/>
          <a:lstStyle/>
          <a:p>
            <a:pPr marL="0" indent="0" algn="ctr">
              <a:buNone/>
            </a:pPr>
            <a:r>
              <a:rPr lang="en-US" sz="4800" dirty="0">
                <a:solidFill>
                  <a:srgbClr val="000000"/>
                </a:solidFill>
              </a:rPr>
              <a:t>📦</a:t>
            </a:r>
            <a:endParaRPr lang="en-US" sz="4800" dirty="0"/>
          </a:p>
        </p:txBody>
      </p:sp>
      <p:sp>
        <p:nvSpPr>
          <p:cNvPr id="5" name="Text 3"/>
          <p:cNvSpPr/>
          <p:nvPr/>
        </p:nvSpPr>
        <p:spPr>
          <a:xfrm>
            <a:off x="2194560" y="1737360"/>
            <a:ext cx="6400800" cy="109728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Late Delivery Analysis</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Title"/>
          <p:cNvSpPr/>
          <p:nvPr/>
        </p:nvSpPr>
        <p:spPr>
          <a:xfrm>
            <a:off x="457200" y="220000"/>
            <a:ext cx="8229600" cy="460000"/>
          </a:xfrm>
          <a:prstGeom prst="rect">
            <a:avLst/>
          </a:prstGeom>
          <a:noFill/>
          <a:ln/>
        </p:spPr>
        <p:txBody>
          <a:bodyPr wrap="square" rtlCol="0" anchor="ctr"/>
          <a:lstStyle/>
          <a:p>
            <a:pPr marL="0" indent="0">
              <a:buNone/>
            </a:pPr>
            <a:r>
              <a:rPr lang="en-US" sz="2600" b="1" dirty="0">
                <a:solidFill>
                  <a:srgbClr val="065A82"/>
                </a:solidFill>
                <a:latin typeface="Cambria" pitchFamily="34" charset="0"/>
              </a:rPr>
              <a:t>Key Findings &amp; High-Risk Country Root Causes</a:t>
            </a:r>
          </a:p>
        </p:txBody>
      </p:sp>
      <p:sp>
        <p:nvSpPr>
          <p:cNvPr id="3" name="LLabel"/>
          <p:cNvSpPr/>
          <p:nvPr/>
        </p:nvSpPr>
        <p:spPr>
          <a:xfrm>
            <a:off x="457200" y="720000"/>
            <a:ext cx="4000000" cy="240000"/>
          </a:xfrm>
          <a:prstGeom prst="rect">
            <a:avLst/>
          </a:prstGeom>
          <a:noFill/>
          <a:ln/>
        </p:spPr>
        <p:txBody>
          <a:bodyPr wrap="square" rtlCol="0" anchor="ctr"/>
          <a:lstStyle/>
          <a:p>
            <a:pPr marL="0" indent="0">
              <a:buNone/>
            </a:pPr>
            <a:r>
              <a:rPr lang="en-US" sz="1100" b="1" dirty="0">
                <a:solidFill>
                  <a:srgbClr val="065A82"/>
                </a:solidFill>
                <a:latin typeface="Calibri"/>
              </a:rPr>
              <a:t>📋 Top Contributors to Late Deliveries</a:t>
            </a:r>
          </a:p>
        </p:txBody>
      </p:sp>
      <p:sp>
        <p:nvSpPr>
          <p:cNvPr id="4" name="RLabel"/>
          <p:cNvSpPr/>
          <p:nvPr/>
        </p:nvSpPr>
        <p:spPr>
          <a:xfrm>
            <a:off x="4686960" y="720000"/>
            <a:ext cx="4000000" cy="240000"/>
          </a:xfrm>
          <a:prstGeom prst="rect">
            <a:avLst/>
          </a:prstGeom>
          <a:noFill/>
          <a:ln/>
        </p:spPr>
        <p:txBody>
          <a:bodyPr wrap="square" rtlCol="0" anchor="ctr"/>
          <a:lstStyle/>
          <a:p>
            <a:pPr marL="0" indent="0">
              <a:buNone/>
            </a:pPr>
            <a:r>
              <a:rPr lang="en-US" sz="1100" b="1" dirty="0">
                <a:solidFill>
                  <a:srgbClr val="1C7293"/>
                </a:solidFill>
                <a:latin typeface="Calibri"/>
              </a:rPr>
              <a:t>🌍 Why High-Risk Countries Struggle</a:t>
            </a:r>
          </a:p>
        </p:txBody>
      </p:sp>
      <p:sp>
        <p:nvSpPr>
          <p:cNvPr id="5" name="Divider"/>
          <p:cNvSpPr/>
          <p:nvPr/>
        </p:nvSpPr>
        <p:spPr>
          <a:xfrm>
            <a:off x="4571520" y="1000000"/>
            <a:ext cx="19050" cy="4200000"/>
          </a:xfrm>
          <a:prstGeom prst="rect">
            <a:avLst/>
          </a:prstGeom>
          <a:solidFill>
            <a:srgbClr val="CBD5E1"/>
          </a:solidFill>
          <a:ln>
            <a:noFill/>
          </a:ln>
        </p:spPr>
        <p:txBody>
          <a:bodyPr/>
          <a:lstStyle/>
          <a:p>
            <a:endParaRPr lang="en-US"/>
          </a:p>
        </p:txBody>
      </p:sp>
      <p:sp>
        <p:nvSpPr>
          <p:cNvPr id="10" name="F1bg"/>
          <p:cNvSpPr/>
          <p:nvPr/>
        </p:nvSpPr>
        <p:spPr>
          <a:xfrm>
            <a:off x="457200" y="1000000"/>
            <a:ext cx="1880000" cy="1580000"/>
          </a:xfrm>
          <a:prstGeom prst="roundRect">
            <a:avLst>
              <a:gd name="adj" fmla="val 3000"/>
            </a:avLst>
          </a:prstGeom>
          <a:solidFill>
            <a:srgbClr val="FFFFFF"/>
          </a:solidFill>
          <a:ln>
            <a:noFill/>
          </a:ln>
          <a:effectLst>
            <a:outerShdw blurRad="50800" dist="12700" dir="2700000" algn="bl" rotWithShape="0">
              <a:srgbClr val="000000">
                <a:alpha val="10000"/>
              </a:srgbClr>
            </a:outerShdw>
          </a:effectLst>
        </p:spPr>
        <p:txBody>
          <a:bodyPr/>
          <a:lstStyle/>
          <a:p>
            <a:endParaRPr lang="en-US"/>
          </a:p>
        </p:txBody>
      </p:sp>
      <p:sp>
        <p:nvSpPr>
          <p:cNvPr id="11" name="F1bar"/>
          <p:cNvSpPr/>
          <p:nvPr/>
        </p:nvSpPr>
        <p:spPr>
          <a:xfrm>
            <a:off x="457200" y="1000000"/>
            <a:ext cx="1880000" cy="110000"/>
          </a:xfrm>
          <a:prstGeom prst="roundRect">
            <a:avLst>
              <a:gd name="adj" fmla="val 8000"/>
            </a:avLst>
          </a:prstGeom>
          <a:solidFill>
            <a:srgbClr val="065A82"/>
          </a:solidFill>
          <a:ln>
            <a:noFill/>
          </a:ln>
        </p:spPr>
        <p:txBody>
          <a:bodyPr/>
          <a:lstStyle/>
          <a:p>
            <a:endParaRPr lang="en-US"/>
          </a:p>
        </p:txBody>
      </p:sp>
      <p:sp>
        <p:nvSpPr>
          <p:cNvPr id="12" name="F1badge"/>
          <p:cNvSpPr/>
          <p:nvPr/>
        </p:nvSpPr>
        <p:spPr>
          <a:xfrm>
            <a:off x="505000" y="1155000"/>
            <a:ext cx="320000" cy="320000"/>
          </a:xfrm>
          <a:prstGeom prst="ellipse">
            <a:avLst/>
          </a:prstGeom>
          <a:solidFill>
            <a:srgbClr val="065A82"/>
          </a:solidFill>
          <a:ln>
            <a:noFill/>
          </a:ln>
        </p:spPr>
        <p:txBody>
          <a:bodyPr wrap="square" lIns="0" tIns="0" rIns="0" bIns="0" rtlCol="0" anchor="ctr"/>
          <a:lstStyle/>
          <a:p>
            <a:pPr algn="ctr">
              <a:buNone/>
            </a:pPr>
            <a:r>
              <a:rPr lang="en-US" sz="1050" b="1" dirty="0">
                <a:solidFill>
                  <a:srgbClr val="FFFFFF"/>
                </a:solidFill>
                <a:latin typeface="Cambria"/>
              </a:rPr>
              <a:t>01</a:t>
            </a:r>
          </a:p>
        </p:txBody>
      </p:sp>
      <p:sp>
        <p:nvSpPr>
          <p:cNvPr id="13" name="F1text"/>
          <p:cNvSpPr/>
          <p:nvPr/>
        </p:nvSpPr>
        <p:spPr>
          <a:xfrm>
            <a:off x="880000" y="1155000"/>
            <a:ext cx="1410000" cy="1380000"/>
          </a:xfrm>
          <a:prstGeom prst="rect">
            <a:avLst/>
          </a:prstGeom>
          <a:noFill/>
          <a:ln/>
        </p:spPr>
        <p:txBody>
          <a:bodyPr wrap="square" rtlCol="0" anchor="t"/>
          <a:lstStyle/>
          <a:p>
            <a:pPr marL="0" indent="0">
              <a:buNone/>
            </a:pPr>
            <a:r>
              <a:rPr lang="en-US" sz="1100" b="1" dirty="0">
                <a:solidFill>
                  <a:srgbClr val="065A82"/>
                </a:solidFill>
                <a:latin typeface="Cambria"/>
              </a:rPr>
              <a:t>Specific Countries</a:t>
            </a:r>
          </a:p>
          <a:p>
            <a:pPr marL="0" indent="0">
              <a:buNone/>
            </a:pPr>
            <a:endParaRPr lang="en-US" sz="800"/>
          </a:p>
          <a:p>
            <a:pPr marL="0" indent="0">
              <a:buNone/>
            </a:pPr>
            <a:r>
              <a:rPr lang="en-US" sz="950" dirty="0">
                <a:solidFill>
                  <a:srgbClr val="1E293B"/>
                </a:solidFill>
                <a:latin typeface="Calibri"/>
              </a:rPr>
              <a:t>Armenia, Gambia, and Eritrea show 100% late rates — logistics and infrastructure gaps.</a:t>
            </a:r>
          </a:p>
        </p:txBody>
      </p:sp>
      <p:sp>
        <p:nvSpPr>
          <p:cNvPr id="20" name="F2bg"/>
          <p:cNvSpPr/>
          <p:nvPr/>
        </p:nvSpPr>
        <p:spPr>
          <a:xfrm>
            <a:off x="2428640" y="1000000"/>
            <a:ext cx="1880000" cy="1580000"/>
          </a:xfrm>
          <a:prstGeom prst="roundRect">
            <a:avLst>
              <a:gd name="adj" fmla="val 3000"/>
            </a:avLst>
          </a:prstGeom>
          <a:solidFill>
            <a:srgbClr val="FFFFFF"/>
          </a:solidFill>
          <a:ln>
            <a:noFill/>
          </a:ln>
          <a:effectLst>
            <a:outerShdw blurRad="50800" dist="12700" dir="2700000" algn="bl" rotWithShape="0">
              <a:srgbClr val="000000">
                <a:alpha val="10000"/>
              </a:srgbClr>
            </a:outerShdw>
          </a:effectLst>
        </p:spPr>
        <p:txBody>
          <a:bodyPr/>
          <a:lstStyle/>
          <a:p>
            <a:endParaRPr lang="en-US"/>
          </a:p>
        </p:txBody>
      </p:sp>
      <p:sp>
        <p:nvSpPr>
          <p:cNvPr id="21" name="F2bar"/>
          <p:cNvSpPr/>
          <p:nvPr/>
        </p:nvSpPr>
        <p:spPr>
          <a:xfrm>
            <a:off x="2428640" y="1000000"/>
            <a:ext cx="1880000" cy="110000"/>
          </a:xfrm>
          <a:prstGeom prst="roundRect">
            <a:avLst>
              <a:gd name="adj" fmla="val 8000"/>
            </a:avLst>
          </a:prstGeom>
          <a:solidFill>
            <a:srgbClr val="1C7293"/>
          </a:solidFill>
          <a:ln>
            <a:noFill/>
          </a:ln>
        </p:spPr>
        <p:txBody>
          <a:bodyPr/>
          <a:lstStyle/>
          <a:p>
            <a:endParaRPr lang="en-US"/>
          </a:p>
        </p:txBody>
      </p:sp>
      <p:sp>
        <p:nvSpPr>
          <p:cNvPr id="22" name="F2badge"/>
          <p:cNvSpPr/>
          <p:nvPr/>
        </p:nvSpPr>
        <p:spPr>
          <a:xfrm>
            <a:off x="2476000" y="1155000"/>
            <a:ext cx="320000" cy="320000"/>
          </a:xfrm>
          <a:prstGeom prst="ellipse">
            <a:avLst/>
          </a:prstGeom>
          <a:solidFill>
            <a:srgbClr val="1C7293"/>
          </a:solidFill>
          <a:ln>
            <a:noFill/>
          </a:ln>
        </p:spPr>
        <p:txBody>
          <a:bodyPr wrap="square" lIns="0" tIns="0" rIns="0" bIns="0" rtlCol="0" anchor="ctr"/>
          <a:lstStyle/>
          <a:p>
            <a:pPr algn="ctr">
              <a:buNone/>
            </a:pPr>
            <a:r>
              <a:rPr lang="en-US" sz="1050" b="1" dirty="0">
                <a:solidFill>
                  <a:srgbClr val="FFFFFF"/>
                </a:solidFill>
                <a:latin typeface="Cambria"/>
              </a:rPr>
              <a:t>02</a:t>
            </a:r>
          </a:p>
        </p:txBody>
      </p:sp>
      <p:sp>
        <p:nvSpPr>
          <p:cNvPr id="23" name="F2text"/>
          <p:cNvSpPr/>
          <p:nvPr/>
        </p:nvSpPr>
        <p:spPr>
          <a:xfrm>
            <a:off x="2851000" y="1155000"/>
            <a:ext cx="1410000" cy="1380000"/>
          </a:xfrm>
          <a:prstGeom prst="rect">
            <a:avLst/>
          </a:prstGeom>
          <a:noFill/>
          <a:ln/>
        </p:spPr>
        <p:txBody>
          <a:bodyPr wrap="square" rtlCol="0" anchor="t"/>
          <a:lstStyle/>
          <a:p>
            <a:pPr marL="0" indent="0">
              <a:buNone/>
            </a:pPr>
            <a:r>
              <a:rPr lang="en-US" sz="1100" b="1" dirty="0">
                <a:solidFill>
                  <a:srgbClr val="1C7293"/>
                </a:solidFill>
                <a:latin typeface="Cambria"/>
              </a:rPr>
              <a:t>Product Categories</a:t>
            </a:r>
          </a:p>
          <a:p>
            <a:pPr marL="0" indent="0">
              <a:buNone/>
            </a:pPr>
            <a:endParaRPr lang="en-US" sz="800"/>
          </a:p>
          <a:p>
            <a:pPr marL="0" indent="0">
              <a:buNone/>
            </a:pPr>
            <a:r>
              <a:rPr lang="en-US" sz="950" dirty="0">
                <a:solidFill>
                  <a:srgbClr val="1E293B"/>
                </a:solidFill>
                <a:latin typeface="Calibri"/>
              </a:rPr>
              <a:t>Girls’ Fashion, Camping &amp; Hiking, Water Sports and Books show 100% late rates.</a:t>
            </a:r>
          </a:p>
        </p:txBody>
      </p:sp>
      <p:sp>
        <p:nvSpPr>
          <p:cNvPr id="30" name="F3bg"/>
          <p:cNvSpPr/>
          <p:nvPr/>
        </p:nvSpPr>
        <p:spPr>
          <a:xfrm>
            <a:off x="457200" y="2670000"/>
            <a:ext cx="1880000" cy="1580000"/>
          </a:xfrm>
          <a:prstGeom prst="roundRect">
            <a:avLst>
              <a:gd name="adj" fmla="val 3000"/>
            </a:avLst>
          </a:prstGeom>
          <a:solidFill>
            <a:srgbClr val="FFFFFF"/>
          </a:solidFill>
          <a:ln>
            <a:noFill/>
          </a:ln>
          <a:effectLst>
            <a:outerShdw blurRad="50800" dist="12700" dir="2700000" algn="bl" rotWithShape="0">
              <a:srgbClr val="000000">
                <a:alpha val="10000"/>
              </a:srgbClr>
            </a:outerShdw>
          </a:effectLst>
        </p:spPr>
        <p:txBody>
          <a:bodyPr/>
          <a:lstStyle/>
          <a:p>
            <a:endParaRPr lang="en-US"/>
          </a:p>
        </p:txBody>
      </p:sp>
      <p:sp>
        <p:nvSpPr>
          <p:cNvPr id="31" name="F3bar"/>
          <p:cNvSpPr/>
          <p:nvPr/>
        </p:nvSpPr>
        <p:spPr>
          <a:xfrm>
            <a:off x="457200" y="2670000"/>
            <a:ext cx="1880000" cy="110000"/>
          </a:xfrm>
          <a:prstGeom prst="roundRect">
            <a:avLst>
              <a:gd name="adj" fmla="val 8000"/>
            </a:avLst>
          </a:prstGeom>
          <a:solidFill>
            <a:srgbClr val="21295C"/>
          </a:solidFill>
          <a:ln>
            <a:noFill/>
          </a:ln>
        </p:spPr>
        <p:txBody>
          <a:bodyPr/>
          <a:lstStyle/>
          <a:p>
            <a:endParaRPr lang="en-US"/>
          </a:p>
        </p:txBody>
      </p:sp>
      <p:sp>
        <p:nvSpPr>
          <p:cNvPr id="32" name="F3badge"/>
          <p:cNvSpPr/>
          <p:nvPr/>
        </p:nvSpPr>
        <p:spPr>
          <a:xfrm>
            <a:off x="505000" y="2825000"/>
            <a:ext cx="320000" cy="320000"/>
          </a:xfrm>
          <a:prstGeom prst="ellipse">
            <a:avLst/>
          </a:prstGeom>
          <a:solidFill>
            <a:srgbClr val="21295C"/>
          </a:solidFill>
          <a:ln>
            <a:noFill/>
          </a:ln>
        </p:spPr>
        <p:txBody>
          <a:bodyPr wrap="square" lIns="0" tIns="0" rIns="0" bIns="0" rtlCol="0" anchor="ctr"/>
          <a:lstStyle/>
          <a:p>
            <a:pPr algn="ctr">
              <a:buNone/>
            </a:pPr>
            <a:r>
              <a:rPr lang="en-US" sz="1050" b="1" dirty="0">
                <a:solidFill>
                  <a:srgbClr val="FFFFFF"/>
                </a:solidFill>
                <a:latin typeface="Cambria"/>
              </a:rPr>
              <a:t>03</a:t>
            </a:r>
          </a:p>
        </p:txBody>
      </p:sp>
      <p:sp>
        <p:nvSpPr>
          <p:cNvPr id="33" name="F3text"/>
          <p:cNvSpPr/>
          <p:nvPr/>
        </p:nvSpPr>
        <p:spPr>
          <a:xfrm>
            <a:off x="880000" y="2825000"/>
            <a:ext cx="1410000" cy="1380000"/>
          </a:xfrm>
          <a:prstGeom prst="rect">
            <a:avLst/>
          </a:prstGeom>
          <a:noFill/>
          <a:ln/>
        </p:spPr>
        <p:txBody>
          <a:bodyPr wrap="square" rtlCol="0" anchor="t"/>
          <a:lstStyle/>
          <a:p>
            <a:pPr marL="0" indent="0">
              <a:buNone/>
            </a:pPr>
            <a:r>
              <a:rPr lang="en-US" sz="1100" b="1" dirty="0">
                <a:solidFill>
                  <a:srgbClr val="21295C"/>
                </a:solidFill>
                <a:latin typeface="Cambria"/>
              </a:rPr>
              <a:t>First Class Scheduling</a:t>
            </a:r>
          </a:p>
          <a:p>
            <a:pPr marL="0" indent="0">
              <a:buNone/>
            </a:pPr>
            <a:endParaRPr lang="en-US" sz="800"/>
          </a:p>
          <a:p>
            <a:pPr marL="0" indent="0">
              <a:buNone/>
            </a:pPr>
            <a:r>
              <a:rPr lang="en-US" sz="950" dirty="0">
                <a:solidFill>
                  <a:srgbClr val="1E293B"/>
                </a:solidFill>
                <a:latin typeface="Calibri"/>
              </a:rPr>
              <a:t>Scheduled at 1 day but takes 2 days consistently — SLA is fundamentally unattainable.</a:t>
            </a:r>
          </a:p>
        </p:txBody>
      </p:sp>
      <p:sp>
        <p:nvSpPr>
          <p:cNvPr id="40" name="F4bg"/>
          <p:cNvSpPr/>
          <p:nvPr/>
        </p:nvSpPr>
        <p:spPr>
          <a:xfrm>
            <a:off x="2428640" y="2670000"/>
            <a:ext cx="1880000" cy="1580000"/>
          </a:xfrm>
          <a:prstGeom prst="roundRect">
            <a:avLst>
              <a:gd name="adj" fmla="val 3000"/>
            </a:avLst>
          </a:prstGeom>
          <a:solidFill>
            <a:srgbClr val="FFFFFF"/>
          </a:solidFill>
          <a:ln>
            <a:noFill/>
          </a:ln>
          <a:effectLst>
            <a:outerShdw blurRad="50800" dist="12700" dir="2700000" algn="bl" rotWithShape="0">
              <a:srgbClr val="000000">
                <a:alpha val="10000"/>
              </a:srgbClr>
            </a:outerShdw>
          </a:effectLst>
        </p:spPr>
        <p:txBody>
          <a:bodyPr/>
          <a:lstStyle/>
          <a:p>
            <a:endParaRPr lang="en-US"/>
          </a:p>
        </p:txBody>
      </p:sp>
      <p:sp>
        <p:nvSpPr>
          <p:cNvPr id="41" name="F4bar"/>
          <p:cNvSpPr/>
          <p:nvPr/>
        </p:nvSpPr>
        <p:spPr>
          <a:xfrm>
            <a:off x="2428640" y="2670000"/>
            <a:ext cx="1880000" cy="110000"/>
          </a:xfrm>
          <a:prstGeom prst="roundRect">
            <a:avLst>
              <a:gd name="adj" fmla="val 8000"/>
            </a:avLst>
          </a:prstGeom>
          <a:solidFill>
            <a:srgbClr val="028090"/>
          </a:solidFill>
          <a:ln>
            <a:noFill/>
          </a:ln>
        </p:spPr>
        <p:txBody>
          <a:bodyPr/>
          <a:lstStyle/>
          <a:p>
            <a:endParaRPr lang="en-US"/>
          </a:p>
        </p:txBody>
      </p:sp>
      <p:sp>
        <p:nvSpPr>
          <p:cNvPr id="42" name="F4badge"/>
          <p:cNvSpPr/>
          <p:nvPr/>
        </p:nvSpPr>
        <p:spPr>
          <a:xfrm>
            <a:off x="2476000" y="2825000"/>
            <a:ext cx="320000" cy="320000"/>
          </a:xfrm>
          <a:prstGeom prst="ellipse">
            <a:avLst/>
          </a:prstGeom>
          <a:solidFill>
            <a:srgbClr val="028090"/>
          </a:solidFill>
          <a:ln>
            <a:noFill/>
          </a:ln>
        </p:spPr>
        <p:txBody>
          <a:bodyPr wrap="square" lIns="0" tIns="0" rIns="0" bIns="0" rtlCol="0" anchor="ctr"/>
          <a:lstStyle/>
          <a:p>
            <a:pPr algn="ctr">
              <a:buNone/>
            </a:pPr>
            <a:r>
              <a:rPr lang="en-US" sz="1050" b="1" dirty="0">
                <a:solidFill>
                  <a:srgbClr val="FFFFFF"/>
                </a:solidFill>
                <a:latin typeface="Cambria"/>
              </a:rPr>
              <a:t>04</a:t>
            </a:r>
          </a:p>
        </p:txBody>
      </p:sp>
      <p:sp>
        <p:nvSpPr>
          <p:cNvPr id="43" name="F4text"/>
          <p:cNvSpPr/>
          <p:nvPr/>
        </p:nvSpPr>
        <p:spPr>
          <a:xfrm>
            <a:off x="2851000" y="2825000"/>
            <a:ext cx="1410000" cy="1380000"/>
          </a:xfrm>
          <a:prstGeom prst="rect">
            <a:avLst/>
          </a:prstGeom>
          <a:noFill/>
          <a:ln/>
        </p:spPr>
        <p:txBody>
          <a:bodyPr wrap="square" rtlCol="0" anchor="t"/>
          <a:lstStyle/>
          <a:p>
            <a:pPr marL="0" indent="0">
              <a:buNone/>
            </a:pPr>
            <a:r>
              <a:rPr lang="en-US" sz="1100" b="1" dirty="0">
                <a:solidFill>
                  <a:srgbClr val="028090"/>
                </a:solidFill>
                <a:latin typeface="Cambria"/>
              </a:rPr>
              <a:t>Africa Market</a:t>
            </a:r>
          </a:p>
          <a:p>
            <a:pPr marL="0" indent="0">
              <a:buNone/>
            </a:pPr>
            <a:endParaRPr lang="en-US" sz="800"/>
          </a:p>
          <a:p>
            <a:pPr marL="0" indent="0">
              <a:buNone/>
            </a:pPr>
            <a:r>
              <a:rPr lang="en-US" sz="950" dirty="0">
                <a:solidFill>
                  <a:srgbClr val="1E293B"/>
                </a:solidFill>
                <a:latin typeface="Calibri"/>
              </a:rPr>
              <a:t>Highest late delivery rate among all markets — limited shipping infrastructure and regional gaps.</a:t>
            </a:r>
          </a:p>
        </p:txBody>
      </p:sp>
      <p:sp>
        <p:nvSpPr>
          <p:cNvPr id="50" name="R1bg"/>
          <p:cNvSpPr/>
          <p:nvPr/>
        </p:nvSpPr>
        <p:spPr>
          <a:xfrm>
            <a:off x="4700000" y="1000000"/>
            <a:ext cx="1820000" cy="1580000"/>
          </a:xfrm>
          <a:prstGeom prst="roundRect">
            <a:avLst>
              <a:gd name="adj" fmla="val 3000"/>
            </a:avLst>
          </a:prstGeom>
          <a:solidFill>
            <a:srgbClr val="EFF6FF"/>
          </a:solidFill>
          <a:ln w="19050">
            <a:solidFill>
              <a:srgbClr val="1C7293"/>
            </a:solidFill>
          </a:ln>
          <a:effectLst>
            <a:outerShdw blurRad="50800" dist="12700" dir="2700000" algn="bl" rotWithShape="0">
              <a:srgbClr val="000000">
                <a:alpha val="8000"/>
              </a:srgbClr>
            </a:outerShdw>
          </a:effectLst>
        </p:spPr>
        <p:txBody>
          <a:bodyPr/>
          <a:lstStyle/>
          <a:p>
            <a:endParaRPr lang="en-US"/>
          </a:p>
        </p:txBody>
      </p:sp>
      <p:sp>
        <p:nvSpPr>
          <p:cNvPr id="51" name="R1text"/>
          <p:cNvSpPr/>
          <p:nvPr/>
        </p:nvSpPr>
        <p:spPr>
          <a:xfrm>
            <a:off x="4760000" y="1060000"/>
            <a:ext cx="1700000" cy="1460000"/>
          </a:xfrm>
          <a:prstGeom prst="rect">
            <a:avLst/>
          </a:prstGeom>
          <a:noFill/>
          <a:ln/>
        </p:spPr>
        <p:txBody>
          <a:bodyPr wrap="square" rtlCol="0" anchor="t"/>
          <a:lstStyle/>
          <a:p>
            <a:pPr marL="0" indent="0">
              <a:buNone/>
            </a:pPr>
            <a:r>
              <a:rPr lang="en-US" sz="1400" dirty="0">
                <a:solidFill>
                  <a:srgbClr val="1C7293"/>
                </a:solidFill>
                <a:latin typeface="Calibri"/>
              </a:rPr>
              <a:t>🚢</a:t>
            </a:r>
          </a:p>
          <a:p>
            <a:pPr marL="0" indent="0">
              <a:buNone/>
            </a:pPr>
            <a:r>
              <a:rPr lang="en-US" sz="1050" b="1" dirty="0">
                <a:solidFill>
                  <a:srgbClr val="065A82"/>
                </a:solidFill>
                <a:latin typeface="Cambria"/>
              </a:rPr>
              <a:t>Logistics Challenges</a:t>
            </a:r>
          </a:p>
          <a:p>
            <a:pPr marL="0" indent="0">
              <a:buNone/>
            </a:pPr>
            <a:endParaRPr lang="en-US" sz="800"/>
          </a:p>
          <a:p>
            <a:pPr marL="0" indent="0">
              <a:buNone/>
            </a:pPr>
            <a:r>
              <a:rPr lang="en-US" sz="900" dirty="0">
                <a:solidFill>
                  <a:srgbClr val="1E293B"/>
                </a:solidFill>
                <a:latin typeface="Calibri"/>
              </a:rPr>
              <a:t>Inadequate port and road infrastructure extends in-transit times beyond carrier estimates.</a:t>
            </a:r>
          </a:p>
        </p:txBody>
      </p:sp>
      <p:sp>
        <p:nvSpPr>
          <p:cNvPr id="60" name="R2bg"/>
          <p:cNvSpPr/>
          <p:nvPr/>
        </p:nvSpPr>
        <p:spPr>
          <a:xfrm>
            <a:off x="6611440" y="1000000"/>
            <a:ext cx="1820000" cy="1580000"/>
          </a:xfrm>
          <a:prstGeom prst="roundRect">
            <a:avLst>
              <a:gd name="adj" fmla="val 3000"/>
            </a:avLst>
          </a:prstGeom>
          <a:solidFill>
            <a:srgbClr val="EFF6FF"/>
          </a:solidFill>
          <a:ln w="19050">
            <a:solidFill>
              <a:srgbClr val="1C7293"/>
            </a:solidFill>
          </a:ln>
          <a:effectLst>
            <a:outerShdw blurRad="50800" dist="12700" dir="2700000" algn="bl" rotWithShape="0">
              <a:srgbClr val="000000">
                <a:alpha val="8000"/>
              </a:srgbClr>
            </a:outerShdw>
          </a:effectLst>
        </p:spPr>
        <p:txBody>
          <a:bodyPr/>
          <a:lstStyle/>
          <a:p>
            <a:endParaRPr lang="en-US"/>
          </a:p>
        </p:txBody>
      </p:sp>
      <p:sp>
        <p:nvSpPr>
          <p:cNvPr id="61" name="R2text"/>
          <p:cNvSpPr/>
          <p:nvPr/>
        </p:nvSpPr>
        <p:spPr>
          <a:xfrm>
            <a:off x="6671000" y="1060000"/>
            <a:ext cx="1700000" cy="1460000"/>
          </a:xfrm>
          <a:prstGeom prst="rect">
            <a:avLst/>
          </a:prstGeom>
          <a:noFill/>
          <a:ln/>
        </p:spPr>
        <p:txBody>
          <a:bodyPr wrap="square" rtlCol="0" anchor="t"/>
          <a:lstStyle/>
          <a:p>
            <a:pPr marL="0" indent="0">
              <a:buNone/>
            </a:pPr>
            <a:r>
              <a:rPr lang="en-US" sz="1400" dirty="0">
                <a:solidFill>
                  <a:srgbClr val="1C7293"/>
                </a:solidFill>
                <a:latin typeface="Calibri"/>
              </a:rPr>
              <a:t>🛃</a:t>
            </a:r>
          </a:p>
          <a:p>
            <a:pPr marL="0" indent="0">
              <a:buNone/>
            </a:pPr>
            <a:r>
              <a:rPr lang="en-US" sz="1050" b="1" dirty="0">
                <a:solidFill>
                  <a:srgbClr val="065A82"/>
                </a:solidFill>
                <a:latin typeface="Cambria"/>
              </a:rPr>
              <a:t>Customs &amp; Border</a:t>
            </a:r>
          </a:p>
          <a:p>
            <a:pPr marL="0" indent="0">
              <a:buNone/>
            </a:pPr>
            <a:endParaRPr lang="en-US" sz="800"/>
          </a:p>
          <a:p>
            <a:pPr marL="0" indent="0">
              <a:buNone/>
            </a:pPr>
            <a:r>
              <a:rPr lang="en-US" sz="900" dirty="0">
                <a:solidFill>
                  <a:srgbClr val="1E293B"/>
                </a:solidFill>
                <a:latin typeface="Calibri"/>
              </a:rPr>
              <a:t>Slow customs clearance and stringent import documentation create unpredictable delays.</a:t>
            </a:r>
          </a:p>
        </p:txBody>
      </p:sp>
      <p:sp>
        <p:nvSpPr>
          <p:cNvPr id="70" name="R3bg"/>
          <p:cNvSpPr/>
          <p:nvPr/>
        </p:nvSpPr>
        <p:spPr>
          <a:xfrm>
            <a:off x="4700000" y="2670000"/>
            <a:ext cx="1820000" cy="1580000"/>
          </a:xfrm>
          <a:prstGeom prst="roundRect">
            <a:avLst>
              <a:gd name="adj" fmla="val 3000"/>
            </a:avLst>
          </a:prstGeom>
          <a:solidFill>
            <a:srgbClr val="EFF6FF"/>
          </a:solidFill>
          <a:ln w="19050">
            <a:solidFill>
              <a:srgbClr val="1C7293"/>
            </a:solidFill>
          </a:ln>
          <a:effectLst>
            <a:outerShdw blurRad="50800" dist="12700" dir="2700000" algn="bl" rotWithShape="0">
              <a:srgbClr val="000000">
                <a:alpha val="8000"/>
              </a:srgbClr>
            </a:outerShdw>
          </a:effectLst>
        </p:spPr>
        <p:txBody>
          <a:bodyPr/>
          <a:lstStyle/>
          <a:p>
            <a:endParaRPr lang="en-US"/>
          </a:p>
        </p:txBody>
      </p:sp>
      <p:sp>
        <p:nvSpPr>
          <p:cNvPr id="71" name="R3text"/>
          <p:cNvSpPr/>
          <p:nvPr/>
        </p:nvSpPr>
        <p:spPr>
          <a:xfrm>
            <a:off x="4760000" y="2730000"/>
            <a:ext cx="1700000" cy="1460000"/>
          </a:xfrm>
          <a:prstGeom prst="rect">
            <a:avLst/>
          </a:prstGeom>
          <a:noFill/>
          <a:ln/>
        </p:spPr>
        <p:txBody>
          <a:bodyPr wrap="square" rtlCol="0" anchor="t"/>
          <a:lstStyle/>
          <a:p>
            <a:pPr marL="0" indent="0">
              <a:buNone/>
            </a:pPr>
            <a:r>
              <a:rPr lang="en-US" sz="1400" dirty="0">
                <a:solidFill>
                  <a:srgbClr val="1C7293"/>
                </a:solidFill>
                <a:latin typeface="Calibri"/>
              </a:rPr>
              <a:t>⚡</a:t>
            </a:r>
          </a:p>
          <a:p>
            <a:pPr marL="0" indent="0">
              <a:buNone/>
            </a:pPr>
            <a:r>
              <a:rPr lang="en-US" sz="1050" b="1" dirty="0">
                <a:solidFill>
                  <a:srgbClr val="065A82"/>
                </a:solidFill>
                <a:latin typeface="Cambria"/>
              </a:rPr>
              <a:t>Operational Capacity</a:t>
            </a:r>
          </a:p>
          <a:p>
            <a:pPr marL="0" indent="0">
              <a:buNone/>
            </a:pPr>
            <a:endParaRPr lang="en-US" sz="800"/>
          </a:p>
          <a:p>
            <a:pPr marL="0" indent="0">
              <a:buNone/>
            </a:pPr>
            <a:r>
              <a:rPr lang="en-US" sz="900" dirty="0">
                <a:solidFill>
                  <a:srgbClr val="1E293B"/>
                </a:solidFill>
                <a:latin typeface="Calibri"/>
              </a:rPr>
              <a:t>Carrier capacity constraints and lack of local fulfilment centres increase lead times significantly.</a:t>
            </a:r>
          </a:p>
        </p:txBody>
      </p:sp>
      <p:sp>
        <p:nvSpPr>
          <p:cNvPr id="80" name="R4bg"/>
          <p:cNvSpPr/>
          <p:nvPr/>
        </p:nvSpPr>
        <p:spPr>
          <a:xfrm>
            <a:off x="6611440" y="2670000"/>
            <a:ext cx="1820000" cy="1580000"/>
          </a:xfrm>
          <a:prstGeom prst="roundRect">
            <a:avLst>
              <a:gd name="adj" fmla="val 3000"/>
            </a:avLst>
          </a:prstGeom>
          <a:solidFill>
            <a:srgbClr val="EFF6FF"/>
          </a:solidFill>
          <a:ln w="19050">
            <a:solidFill>
              <a:srgbClr val="1C7293"/>
            </a:solidFill>
          </a:ln>
          <a:effectLst>
            <a:outerShdw blurRad="50800" dist="12700" dir="2700000" algn="bl" rotWithShape="0">
              <a:srgbClr val="000000">
                <a:alpha val="8000"/>
              </a:srgbClr>
            </a:outerShdw>
          </a:effectLst>
        </p:spPr>
        <p:txBody>
          <a:bodyPr/>
          <a:lstStyle/>
          <a:p>
            <a:endParaRPr lang="en-US"/>
          </a:p>
        </p:txBody>
      </p:sp>
      <p:sp>
        <p:nvSpPr>
          <p:cNvPr id="81" name="R4text"/>
          <p:cNvSpPr/>
          <p:nvPr/>
        </p:nvSpPr>
        <p:spPr>
          <a:xfrm>
            <a:off x="6671000" y="2730000"/>
            <a:ext cx="1700000" cy="1460000"/>
          </a:xfrm>
          <a:prstGeom prst="rect">
            <a:avLst/>
          </a:prstGeom>
          <a:noFill/>
          <a:ln/>
        </p:spPr>
        <p:txBody>
          <a:bodyPr wrap="square" rtlCol="0" anchor="t"/>
          <a:lstStyle/>
          <a:p>
            <a:pPr marL="0" indent="0">
              <a:buNone/>
            </a:pPr>
            <a:r>
              <a:rPr lang="en-US" sz="1400" dirty="0">
                <a:solidFill>
                  <a:srgbClr val="1C7293"/>
                </a:solidFill>
                <a:latin typeface="Calibri"/>
              </a:rPr>
              <a:t>⚖️</a:t>
            </a:r>
          </a:p>
          <a:p>
            <a:pPr marL="0" indent="0">
              <a:buNone/>
            </a:pPr>
            <a:r>
              <a:rPr lang="en-US" sz="1050" b="1" dirty="0">
                <a:solidFill>
                  <a:srgbClr val="065A82"/>
                </a:solidFill>
                <a:latin typeface="Cambria"/>
              </a:rPr>
              <a:t>Economic / Political</a:t>
            </a:r>
          </a:p>
          <a:p>
            <a:pPr marL="0" indent="0">
              <a:buNone/>
            </a:pPr>
            <a:endParaRPr lang="en-US" sz="800"/>
          </a:p>
          <a:p>
            <a:pPr marL="0" indent="0">
              <a:buNone/>
            </a:pPr>
            <a:r>
              <a:rPr lang="en-US" sz="900" dirty="0">
                <a:solidFill>
                  <a:srgbClr val="1E293B"/>
                </a:solidFill>
                <a:latin typeface="Calibri"/>
              </a:rPr>
              <a:t>Sanctions, currency instability, or regulatory barriers can halt or slow cross-border shipments.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457200" y="228600"/>
            <a:ext cx="8412480" cy="530352"/>
          </a:xfrm>
          <a:prstGeom prst="rect">
            <a:avLst/>
          </a:prstGeom>
          <a:noFill/>
          <a:ln/>
        </p:spPr>
        <p:txBody>
          <a:bodyPr wrap="square" rtlCol="0" anchor="ctr"/>
          <a:lstStyle/>
          <a:p>
            <a:pPr marL="0" indent="0">
              <a:buNone/>
            </a:pPr>
            <a:r>
              <a:rPr lang="en-US" sz="2200" b="1" dirty="0">
                <a:solidFill>
                  <a:srgbClr val="065A82"/>
                </a:solidFill>
                <a:latin typeface="Cambria" pitchFamily="34" charset="0"/>
                <a:ea typeface="Cambria" pitchFamily="34" charset="-122"/>
                <a:cs typeface="Cambria" pitchFamily="34" charset="-120"/>
              </a:rPr>
              <a:t>Shipping Mode Deep Dive: First Class vs Standard Class</a:t>
            </a:r>
            <a:endParaRPr lang="en-US" sz="2200" dirty="0"/>
          </a:p>
        </p:txBody>
      </p:sp>
      <p:sp>
        <p:nvSpPr>
          <p:cNvPr id="3" name="Shape 1"/>
          <p:cNvSpPr/>
          <p:nvPr/>
        </p:nvSpPr>
        <p:spPr>
          <a:xfrm>
            <a:off x="365760" y="914400"/>
            <a:ext cx="2000000" cy="1920240"/>
          </a:xfrm>
          <a:prstGeom prst="roundRect">
            <a:avLst>
              <a:gd name="adj" fmla="val 4762"/>
            </a:avLst>
          </a:prstGeom>
          <a:solidFill>
            <a:srgbClr val="FFF0F0"/>
          </a:solidFill>
          <a:ln/>
          <a:effectLst>
            <a:outerShdw blurRad="76200" dist="25400" dir="2700000" algn="bl" rotWithShape="0">
              <a:srgbClr val="000000">
                <a:alpha val="12000"/>
              </a:srgbClr>
            </a:outerShdw>
          </a:effectLst>
        </p:spPr>
        <p:txBody>
          <a:bodyPr/>
          <a:lstStyle/>
          <a:p>
            <a:endParaRPr lang="en-SG"/>
          </a:p>
        </p:txBody>
      </p:sp>
      <p:sp>
        <p:nvSpPr>
          <p:cNvPr id="4" name="Text 2"/>
          <p:cNvSpPr/>
          <p:nvPr/>
        </p:nvSpPr>
        <p:spPr>
          <a:xfrm>
            <a:off x="548640" y="1005840"/>
            <a:ext cx="1830000" cy="384048"/>
          </a:xfrm>
          <a:prstGeom prst="rect">
            <a:avLst/>
          </a:prstGeom>
          <a:noFill/>
          <a:ln/>
        </p:spPr>
        <p:txBody>
          <a:bodyPr wrap="square" lIns="0" tIns="0" rIns="0" bIns="0" rtlCol="0" anchor="ctr"/>
          <a:lstStyle/>
          <a:p>
            <a:pPr marL="0" indent="0">
              <a:buNone/>
            </a:pPr>
            <a:r>
              <a:rPr lang="en-US" sz="1600" b="1" dirty="0">
                <a:solidFill>
                  <a:srgbClr val="EF4444"/>
                </a:solidFill>
                <a:latin typeface="Cambria" pitchFamily="34" charset="0"/>
                <a:ea typeface="Cambria" pitchFamily="34" charset="-122"/>
                <a:cs typeface="Cambria" pitchFamily="34" charset="-120"/>
              </a:rPr>
              <a:t>First Class</a:t>
            </a:r>
            <a:endParaRPr lang="en-US" sz="1600" dirty="0"/>
          </a:p>
        </p:txBody>
      </p:sp>
      <p:sp>
        <p:nvSpPr>
          <p:cNvPr id="5" name="Text 3"/>
          <p:cNvSpPr/>
          <p:nvPr/>
        </p:nvSpPr>
        <p:spPr>
          <a:xfrm>
            <a:off x="548640" y="1417320"/>
            <a:ext cx="850000" cy="292608"/>
          </a:xfrm>
          <a:prstGeom prst="rect">
            <a:avLst/>
          </a:prstGeom>
          <a:noFill/>
          <a:ln/>
        </p:spPr>
        <p:txBody>
          <a:bodyPr wrap="square" lIns="0" tIns="0" rIns="0" bIns="0" rtlCol="0" anchor="ctr"/>
          <a:lstStyle/>
          <a:p>
            <a:pPr marL="0" indent="0">
              <a:buNone/>
            </a:pPr>
            <a:r>
              <a:rPr lang="en-US" sz="1100" dirty="0">
                <a:solidFill>
                  <a:srgbClr val="64748B"/>
                </a:solidFill>
              </a:rPr>
              <a:t>Late Rate:</a:t>
            </a:r>
            <a:endParaRPr lang="en-US" sz="1100" dirty="0"/>
          </a:p>
        </p:txBody>
      </p:sp>
      <p:sp>
        <p:nvSpPr>
          <p:cNvPr id="6" name="Text 4"/>
          <p:cNvSpPr/>
          <p:nvPr/>
        </p:nvSpPr>
        <p:spPr>
          <a:xfrm>
            <a:off x="1428640" y="1417320"/>
            <a:ext cx="900000" cy="292608"/>
          </a:xfrm>
          <a:prstGeom prst="rect">
            <a:avLst/>
          </a:prstGeom>
          <a:noFill/>
          <a:ln/>
        </p:spPr>
        <p:txBody>
          <a:bodyPr wrap="square" lIns="0" tIns="0" rIns="0" bIns="0" rtlCol="0" anchor="ctr"/>
          <a:lstStyle/>
          <a:p>
            <a:pPr marL="0" indent="0">
              <a:buNone/>
            </a:pPr>
            <a:r>
              <a:rPr lang="en-US" sz="1100" b="1" dirty="0">
                <a:solidFill>
                  <a:srgbClr val="1E293B"/>
                </a:solidFill>
              </a:rPr>
              <a:t>95.27%</a:t>
            </a:r>
            <a:endParaRPr lang="en-US" sz="1100" dirty="0"/>
          </a:p>
        </p:txBody>
      </p:sp>
      <p:sp>
        <p:nvSpPr>
          <p:cNvPr id="7" name="Text 5"/>
          <p:cNvSpPr/>
          <p:nvPr/>
        </p:nvSpPr>
        <p:spPr>
          <a:xfrm>
            <a:off x="548640" y="1728216"/>
            <a:ext cx="850000" cy="292608"/>
          </a:xfrm>
          <a:prstGeom prst="rect">
            <a:avLst/>
          </a:prstGeom>
          <a:noFill/>
          <a:ln/>
        </p:spPr>
        <p:txBody>
          <a:bodyPr wrap="square" lIns="0" tIns="0" rIns="0" bIns="0" rtlCol="0" anchor="ctr"/>
          <a:lstStyle/>
          <a:p>
            <a:pPr marL="0" indent="0">
              <a:buNone/>
            </a:pPr>
            <a:r>
              <a:rPr lang="en-US" sz="1100" dirty="0">
                <a:solidFill>
                  <a:srgbClr val="64748B"/>
                </a:solidFill>
              </a:rPr>
              <a:t>Scheduled:</a:t>
            </a:r>
            <a:endParaRPr lang="en-US" sz="1100" dirty="0"/>
          </a:p>
        </p:txBody>
      </p:sp>
      <p:sp>
        <p:nvSpPr>
          <p:cNvPr id="8" name="Text 6"/>
          <p:cNvSpPr/>
          <p:nvPr/>
        </p:nvSpPr>
        <p:spPr>
          <a:xfrm>
            <a:off x="1428640" y="1728216"/>
            <a:ext cx="900000" cy="292608"/>
          </a:xfrm>
          <a:prstGeom prst="rect">
            <a:avLst/>
          </a:prstGeom>
          <a:noFill/>
          <a:ln/>
        </p:spPr>
        <p:txBody>
          <a:bodyPr wrap="square" lIns="0" tIns="0" rIns="0" bIns="0" rtlCol="0" anchor="ctr"/>
          <a:lstStyle/>
          <a:p>
            <a:pPr marL="0" indent="0">
              <a:buNone/>
            </a:pPr>
            <a:r>
              <a:rPr lang="en-US" sz="1100" b="1" dirty="0">
                <a:solidFill>
                  <a:srgbClr val="1E293B"/>
                </a:solidFill>
              </a:rPr>
              <a:t>1 day</a:t>
            </a:r>
            <a:endParaRPr lang="en-US" sz="1100" dirty="0"/>
          </a:p>
        </p:txBody>
      </p:sp>
      <p:sp>
        <p:nvSpPr>
          <p:cNvPr id="9" name="Text 7"/>
          <p:cNvSpPr/>
          <p:nvPr/>
        </p:nvSpPr>
        <p:spPr>
          <a:xfrm>
            <a:off x="548640" y="2039112"/>
            <a:ext cx="850000" cy="292608"/>
          </a:xfrm>
          <a:prstGeom prst="rect">
            <a:avLst/>
          </a:prstGeom>
          <a:noFill/>
          <a:ln/>
        </p:spPr>
        <p:txBody>
          <a:bodyPr wrap="square" lIns="0" tIns="0" rIns="0" bIns="0" rtlCol="0" anchor="ctr"/>
          <a:lstStyle/>
          <a:p>
            <a:pPr marL="0" indent="0">
              <a:buNone/>
            </a:pPr>
            <a:r>
              <a:rPr lang="en-US" sz="1100" dirty="0">
                <a:solidFill>
                  <a:srgbClr val="64748B"/>
                </a:solidFill>
              </a:rPr>
              <a:t>Actual:</a:t>
            </a:r>
            <a:endParaRPr lang="en-US" sz="1100" dirty="0"/>
          </a:p>
        </p:txBody>
      </p:sp>
      <p:sp>
        <p:nvSpPr>
          <p:cNvPr id="10" name="Text 8"/>
          <p:cNvSpPr/>
          <p:nvPr/>
        </p:nvSpPr>
        <p:spPr>
          <a:xfrm>
            <a:off x="1428640" y="2039112"/>
            <a:ext cx="900000" cy="292608"/>
          </a:xfrm>
          <a:prstGeom prst="rect">
            <a:avLst/>
          </a:prstGeom>
          <a:noFill/>
          <a:ln/>
        </p:spPr>
        <p:txBody>
          <a:bodyPr wrap="square" lIns="0" tIns="0" rIns="0" bIns="0" rtlCol="0" anchor="ctr"/>
          <a:lstStyle/>
          <a:p>
            <a:pPr marL="0" indent="0">
              <a:buNone/>
            </a:pPr>
            <a:r>
              <a:rPr lang="en-US" sz="1100" b="1" dirty="0">
                <a:solidFill>
                  <a:srgbClr val="1E293B"/>
                </a:solidFill>
              </a:rPr>
              <a:t>2 days</a:t>
            </a:r>
            <a:endParaRPr lang="en-US" sz="1100" dirty="0"/>
          </a:p>
        </p:txBody>
      </p:sp>
      <p:sp>
        <p:nvSpPr>
          <p:cNvPr id="11" name="Text 9"/>
          <p:cNvSpPr/>
          <p:nvPr/>
        </p:nvSpPr>
        <p:spPr>
          <a:xfrm>
            <a:off x="548640" y="2350008"/>
            <a:ext cx="850000" cy="292608"/>
          </a:xfrm>
          <a:prstGeom prst="rect">
            <a:avLst/>
          </a:prstGeom>
          <a:noFill/>
          <a:ln/>
        </p:spPr>
        <p:txBody>
          <a:bodyPr wrap="square" lIns="0" tIns="0" rIns="0" bIns="0" rtlCol="0" anchor="ctr"/>
          <a:lstStyle/>
          <a:p>
            <a:pPr marL="0" indent="0">
              <a:buNone/>
            </a:pPr>
            <a:r>
              <a:rPr lang="en-US" sz="1100" dirty="0">
                <a:solidFill>
                  <a:srgbClr val="64748B"/>
                </a:solidFill>
              </a:rPr>
              <a:t>Avg Delay:</a:t>
            </a:r>
            <a:endParaRPr lang="en-US" sz="1100" dirty="0"/>
          </a:p>
        </p:txBody>
      </p:sp>
      <p:sp>
        <p:nvSpPr>
          <p:cNvPr id="12" name="Text 10"/>
          <p:cNvSpPr/>
          <p:nvPr/>
        </p:nvSpPr>
        <p:spPr>
          <a:xfrm>
            <a:off x="1428640" y="2350008"/>
            <a:ext cx="900000" cy="292608"/>
          </a:xfrm>
          <a:prstGeom prst="rect">
            <a:avLst/>
          </a:prstGeom>
          <a:noFill/>
          <a:ln/>
        </p:spPr>
        <p:txBody>
          <a:bodyPr wrap="square" lIns="0" tIns="0" rIns="0" bIns="0" rtlCol="0" anchor="ctr"/>
          <a:lstStyle/>
          <a:p>
            <a:pPr marL="0" indent="0">
              <a:buNone/>
            </a:pPr>
            <a:r>
              <a:rPr lang="en-US" sz="1100" b="1" dirty="0">
                <a:solidFill>
                  <a:srgbClr val="1E293B"/>
                </a:solidFill>
              </a:rPr>
              <a:t>+1 day</a:t>
            </a:r>
            <a:endParaRPr lang="en-US" sz="1100" dirty="0"/>
          </a:p>
        </p:txBody>
      </p:sp>
      <p:sp>
        <p:nvSpPr>
          <p:cNvPr id="13" name="Shape 11"/>
          <p:cNvSpPr/>
          <p:nvPr/>
        </p:nvSpPr>
        <p:spPr>
          <a:xfrm>
            <a:off x="2457200" y="914400"/>
            <a:ext cx="2000000" cy="1920240"/>
          </a:xfrm>
          <a:prstGeom prst="roundRect">
            <a:avLst>
              <a:gd name="adj" fmla="val 4762"/>
            </a:avLst>
          </a:prstGeom>
          <a:solidFill>
            <a:srgbClr val="F0FBF9"/>
          </a:solidFill>
          <a:ln/>
          <a:effectLst>
            <a:outerShdw blurRad="76200" dist="25400" dir="2700000" algn="bl" rotWithShape="0">
              <a:srgbClr val="000000">
                <a:alpha val="12000"/>
              </a:srgbClr>
            </a:outerShdw>
          </a:effectLst>
        </p:spPr>
        <p:txBody>
          <a:bodyPr/>
          <a:lstStyle/>
          <a:p>
            <a:endParaRPr lang="en-SG"/>
          </a:p>
        </p:txBody>
      </p:sp>
      <p:sp>
        <p:nvSpPr>
          <p:cNvPr id="14" name="Text 12"/>
          <p:cNvSpPr/>
          <p:nvPr/>
        </p:nvSpPr>
        <p:spPr>
          <a:xfrm>
            <a:off x="2640000" y="1005840"/>
            <a:ext cx="1830000" cy="384048"/>
          </a:xfrm>
          <a:prstGeom prst="rect">
            <a:avLst/>
          </a:prstGeom>
          <a:noFill/>
          <a:ln/>
        </p:spPr>
        <p:txBody>
          <a:bodyPr wrap="square" lIns="0" tIns="0" rIns="0" bIns="0" rtlCol="0" anchor="ctr"/>
          <a:lstStyle/>
          <a:p>
            <a:pPr marL="0" indent="0">
              <a:buNone/>
            </a:pPr>
            <a:r>
              <a:rPr lang="en-US" sz="1600" b="1" dirty="0">
                <a:solidFill>
                  <a:srgbClr val="1C7293"/>
                </a:solidFill>
                <a:latin typeface="Cambria" pitchFamily="34" charset="0"/>
                <a:ea typeface="Cambria" pitchFamily="34" charset="-122"/>
                <a:cs typeface="Cambria" pitchFamily="34" charset="-120"/>
              </a:rPr>
              <a:t>Standard Class</a:t>
            </a:r>
            <a:endParaRPr lang="en-US" sz="1600" dirty="0"/>
          </a:p>
        </p:txBody>
      </p:sp>
      <p:sp>
        <p:nvSpPr>
          <p:cNvPr id="15" name="Text 13"/>
          <p:cNvSpPr/>
          <p:nvPr/>
        </p:nvSpPr>
        <p:spPr>
          <a:xfrm>
            <a:off x="2640000" y="1417320"/>
            <a:ext cx="850000" cy="292608"/>
          </a:xfrm>
          <a:prstGeom prst="rect">
            <a:avLst/>
          </a:prstGeom>
          <a:noFill/>
          <a:ln/>
        </p:spPr>
        <p:txBody>
          <a:bodyPr wrap="square" lIns="0" tIns="0" rIns="0" bIns="0" rtlCol="0" anchor="ctr"/>
          <a:lstStyle/>
          <a:p>
            <a:pPr marL="0" indent="0">
              <a:buNone/>
            </a:pPr>
            <a:r>
              <a:rPr lang="en-US" sz="1100" dirty="0">
                <a:solidFill>
                  <a:srgbClr val="64748B"/>
                </a:solidFill>
              </a:rPr>
              <a:t>Late Rate:</a:t>
            </a:r>
            <a:endParaRPr lang="en-US" sz="1100" dirty="0"/>
          </a:p>
        </p:txBody>
      </p:sp>
      <p:sp>
        <p:nvSpPr>
          <p:cNvPr id="16" name="Text 14"/>
          <p:cNvSpPr/>
          <p:nvPr/>
        </p:nvSpPr>
        <p:spPr>
          <a:xfrm>
            <a:off x="3520000" y="1417320"/>
            <a:ext cx="900000" cy="292608"/>
          </a:xfrm>
          <a:prstGeom prst="rect">
            <a:avLst/>
          </a:prstGeom>
          <a:noFill/>
          <a:ln/>
        </p:spPr>
        <p:txBody>
          <a:bodyPr wrap="square" lIns="0" tIns="0" rIns="0" bIns="0" rtlCol="0" anchor="ctr"/>
          <a:lstStyle/>
          <a:p>
            <a:pPr marL="0" indent="0">
              <a:buNone/>
            </a:pPr>
            <a:r>
              <a:rPr lang="en-US" sz="1100" b="1" dirty="0">
                <a:solidFill>
                  <a:srgbClr val="1E293B"/>
                </a:solidFill>
              </a:rPr>
              <a:t>38.13%</a:t>
            </a:r>
            <a:endParaRPr lang="en-US" sz="1100" dirty="0"/>
          </a:p>
        </p:txBody>
      </p:sp>
      <p:sp>
        <p:nvSpPr>
          <p:cNvPr id="17" name="Text 15"/>
          <p:cNvSpPr/>
          <p:nvPr/>
        </p:nvSpPr>
        <p:spPr>
          <a:xfrm>
            <a:off x="2640000" y="1728216"/>
            <a:ext cx="850000" cy="292608"/>
          </a:xfrm>
          <a:prstGeom prst="rect">
            <a:avLst/>
          </a:prstGeom>
          <a:noFill/>
          <a:ln/>
        </p:spPr>
        <p:txBody>
          <a:bodyPr wrap="square" lIns="0" tIns="0" rIns="0" bIns="0" rtlCol="0" anchor="ctr"/>
          <a:lstStyle/>
          <a:p>
            <a:pPr marL="0" indent="0">
              <a:buNone/>
            </a:pPr>
            <a:r>
              <a:rPr lang="en-US" sz="1100" dirty="0">
                <a:solidFill>
                  <a:srgbClr val="64748B"/>
                </a:solidFill>
              </a:rPr>
              <a:t>Scheduled:</a:t>
            </a:r>
            <a:endParaRPr lang="en-US" sz="1100" dirty="0"/>
          </a:p>
        </p:txBody>
      </p:sp>
      <p:sp>
        <p:nvSpPr>
          <p:cNvPr id="18" name="Text 16"/>
          <p:cNvSpPr/>
          <p:nvPr/>
        </p:nvSpPr>
        <p:spPr>
          <a:xfrm>
            <a:off x="3520000" y="1728216"/>
            <a:ext cx="900000" cy="292608"/>
          </a:xfrm>
          <a:prstGeom prst="rect">
            <a:avLst/>
          </a:prstGeom>
          <a:noFill/>
          <a:ln/>
        </p:spPr>
        <p:txBody>
          <a:bodyPr wrap="square" lIns="0" tIns="0" rIns="0" bIns="0" rtlCol="0" anchor="ctr"/>
          <a:lstStyle/>
          <a:p>
            <a:pPr marL="0" indent="0">
              <a:buNone/>
            </a:pPr>
            <a:r>
              <a:rPr lang="en-US" sz="1100" b="1" dirty="0">
                <a:solidFill>
                  <a:srgbClr val="1E293B"/>
                </a:solidFill>
              </a:rPr>
              <a:t>4 days</a:t>
            </a:r>
            <a:endParaRPr lang="en-US" sz="1100" dirty="0"/>
          </a:p>
        </p:txBody>
      </p:sp>
      <p:sp>
        <p:nvSpPr>
          <p:cNvPr id="19" name="Text 17"/>
          <p:cNvSpPr/>
          <p:nvPr/>
        </p:nvSpPr>
        <p:spPr>
          <a:xfrm>
            <a:off x="2640000" y="2039112"/>
            <a:ext cx="850000" cy="292608"/>
          </a:xfrm>
          <a:prstGeom prst="rect">
            <a:avLst/>
          </a:prstGeom>
          <a:noFill/>
          <a:ln/>
        </p:spPr>
        <p:txBody>
          <a:bodyPr wrap="square" lIns="0" tIns="0" rIns="0" bIns="0" rtlCol="0" anchor="ctr"/>
          <a:lstStyle/>
          <a:p>
            <a:pPr marL="0" indent="0">
              <a:buNone/>
            </a:pPr>
            <a:r>
              <a:rPr lang="en-US" sz="1100" dirty="0">
                <a:solidFill>
                  <a:srgbClr val="64748B"/>
                </a:solidFill>
              </a:rPr>
              <a:t>Actual:</a:t>
            </a:r>
            <a:endParaRPr lang="en-US" sz="1100" dirty="0"/>
          </a:p>
        </p:txBody>
      </p:sp>
      <p:sp>
        <p:nvSpPr>
          <p:cNvPr id="20" name="Text 18"/>
          <p:cNvSpPr/>
          <p:nvPr/>
        </p:nvSpPr>
        <p:spPr>
          <a:xfrm>
            <a:off x="3520000" y="2039112"/>
            <a:ext cx="900000" cy="292608"/>
          </a:xfrm>
          <a:prstGeom prst="rect">
            <a:avLst/>
          </a:prstGeom>
          <a:noFill/>
          <a:ln/>
        </p:spPr>
        <p:txBody>
          <a:bodyPr wrap="square" lIns="0" tIns="0" rIns="0" bIns="0" rtlCol="0" anchor="ctr"/>
          <a:lstStyle/>
          <a:p>
            <a:pPr marL="0" indent="0">
              <a:buNone/>
            </a:pPr>
            <a:r>
              <a:rPr lang="en-US" sz="1100" b="1" dirty="0">
                <a:solidFill>
                  <a:srgbClr val="1E293B"/>
                </a:solidFill>
              </a:rPr>
              <a:t>4 days</a:t>
            </a:r>
            <a:endParaRPr lang="en-US" sz="1100" dirty="0"/>
          </a:p>
        </p:txBody>
      </p:sp>
      <p:sp>
        <p:nvSpPr>
          <p:cNvPr id="21" name="Text 19"/>
          <p:cNvSpPr/>
          <p:nvPr/>
        </p:nvSpPr>
        <p:spPr>
          <a:xfrm>
            <a:off x="2640000" y="2350008"/>
            <a:ext cx="850000" cy="292608"/>
          </a:xfrm>
          <a:prstGeom prst="rect">
            <a:avLst/>
          </a:prstGeom>
          <a:noFill/>
          <a:ln/>
        </p:spPr>
        <p:txBody>
          <a:bodyPr wrap="square" lIns="0" tIns="0" rIns="0" bIns="0" rtlCol="0" anchor="ctr"/>
          <a:lstStyle/>
          <a:p>
            <a:pPr marL="0" indent="0">
              <a:buNone/>
            </a:pPr>
            <a:r>
              <a:rPr lang="en-US" sz="1100" dirty="0">
                <a:solidFill>
                  <a:srgbClr val="64748B"/>
                </a:solidFill>
              </a:rPr>
              <a:t>Avg Delay:</a:t>
            </a:r>
            <a:endParaRPr lang="en-US" sz="1100" dirty="0"/>
          </a:p>
        </p:txBody>
      </p:sp>
      <p:sp>
        <p:nvSpPr>
          <p:cNvPr id="22" name="Text 20"/>
          <p:cNvSpPr/>
          <p:nvPr/>
        </p:nvSpPr>
        <p:spPr>
          <a:xfrm>
            <a:off x="3520000" y="2350008"/>
            <a:ext cx="900000" cy="292608"/>
          </a:xfrm>
          <a:prstGeom prst="rect">
            <a:avLst/>
          </a:prstGeom>
          <a:noFill/>
          <a:ln/>
        </p:spPr>
        <p:txBody>
          <a:bodyPr wrap="square" lIns="0" tIns="0" rIns="0" bIns="0" rtlCol="0" anchor="ctr"/>
          <a:lstStyle/>
          <a:p>
            <a:pPr marL="0" indent="0">
              <a:buNone/>
            </a:pPr>
            <a:r>
              <a:rPr lang="en-US" sz="1100" b="1" dirty="0">
                <a:solidFill>
                  <a:srgbClr val="1E293B"/>
                </a:solidFill>
              </a:rPr>
              <a:t>~0 days</a:t>
            </a:r>
            <a:endParaRPr lang="en-US" sz="1100" dirty="0"/>
          </a:p>
        </p:txBody>
      </p:sp>
      <p:sp>
        <p:nvSpPr>
          <p:cNvPr id="23" name="Shape 21"/>
          <p:cNvSpPr/>
          <p:nvPr/>
        </p:nvSpPr>
        <p:spPr>
          <a:xfrm>
            <a:off x="365760" y="3160000"/>
            <a:ext cx="8412480" cy="1820000"/>
          </a:xfrm>
          <a:prstGeom prst="roundRect">
            <a:avLst>
              <a:gd name="adj" fmla="val 4878"/>
            </a:avLst>
          </a:prstGeom>
          <a:solidFill>
            <a:srgbClr val="FFFFFF"/>
          </a:solidFill>
          <a:ln/>
          <a:effectLst>
            <a:outerShdw blurRad="76200" dist="25400" dir="2700000" algn="bl" rotWithShape="0">
              <a:srgbClr val="000000">
                <a:alpha val="12000"/>
              </a:srgbClr>
            </a:outerShdw>
          </a:effectLst>
        </p:spPr>
        <p:txBody>
          <a:bodyPr/>
          <a:lstStyle/>
          <a:p>
            <a:endParaRPr lang="en-SG"/>
          </a:p>
        </p:txBody>
      </p:sp>
      <p:sp>
        <p:nvSpPr>
          <p:cNvPr id="24" name="Text 22"/>
          <p:cNvSpPr/>
          <p:nvPr/>
        </p:nvSpPr>
        <p:spPr>
          <a:xfrm>
            <a:off x="594360" y="3240000"/>
            <a:ext cx="8000000" cy="365760"/>
          </a:xfrm>
          <a:prstGeom prst="rect">
            <a:avLst/>
          </a:prstGeom>
          <a:noFill/>
          <a:ln/>
        </p:spPr>
        <p:txBody>
          <a:bodyPr wrap="square" lIns="0" tIns="0" rIns="0" bIns="0" rtlCol="0" anchor="ctr"/>
          <a:lstStyle/>
          <a:p>
            <a:pPr marL="0" indent="0">
              <a:buNone/>
            </a:pPr>
            <a:r>
              <a:rPr lang="en-US" sz="1400" b="1" dirty="0">
                <a:solidFill>
                  <a:srgbClr val="065A82"/>
                </a:solidFill>
                <a:latin typeface="Cambria" pitchFamily="34" charset="0"/>
                <a:ea typeface="Cambria" pitchFamily="34" charset="-122"/>
                <a:cs typeface="Cambria" pitchFamily="34" charset="-120"/>
              </a:rPr>
              <a:t>Root Cause &amp; Recommended Actions</a:t>
            </a:r>
            <a:endParaRPr lang="en-US" sz="1400" dirty="0"/>
          </a:p>
        </p:txBody>
      </p:sp>
      <p:sp>
        <p:nvSpPr>
          <p:cNvPr id="25" name="Text 23"/>
          <p:cNvSpPr/>
          <p:nvPr/>
        </p:nvSpPr>
        <p:spPr>
          <a:xfrm>
            <a:off x="594360" y="3633192"/>
            <a:ext cx="8000000" cy="1280000"/>
          </a:xfrm>
          <a:prstGeom prst="rect">
            <a:avLst/>
          </a:prstGeom>
          <a:noFill/>
          <a:ln/>
        </p:spPr>
        <p:txBody>
          <a:bodyPr wrap="square" lIns="0" tIns="0" rIns="0" bIns="0" rtlCol="0" anchor="t"/>
          <a:lstStyle/>
          <a:p>
            <a:pPr marL="0" indent="0">
              <a:buNone/>
            </a:pPr>
            <a:r>
              <a:rPr lang="en-US" sz="1100" b="1" dirty="0">
                <a:solidFill>
                  <a:srgbClr val="065A82"/>
                </a:solidFill>
                <a:latin typeface="Calibri" pitchFamily="34" charset="0"/>
                <a:ea typeface="Calibri" pitchFamily="34" charset="-122"/>
                <a:cs typeface="Calibri" pitchFamily="34" charset="-120"/>
              </a:rPr>
              <a:t>Unrealistic SLA: </a:t>
            </a:r>
            <a:r>
              <a:rPr lang="en-US" sz="1100" dirty="0">
                <a:solidFill>
                  <a:srgbClr val="1E293B"/>
                </a:solidFill>
                <a:latin typeface="Calibri" pitchFamily="34" charset="0"/>
                <a:ea typeface="Calibri" pitchFamily="34" charset="-122"/>
                <a:cs typeface="Calibri" pitchFamily="34" charset="-120"/>
              </a:rPr>
              <a:t>First Class schedules 1-day delivery but logistics cannot support it — creating near-universal failure.  </a:t>
            </a:r>
            <a:r>
              <a:rPr lang="en-US" sz="1100" b="1" dirty="0">
                <a:solidFill>
                  <a:srgbClr val="065A82"/>
                </a:solidFill>
                <a:latin typeface="Calibri" pitchFamily="34" charset="0"/>
                <a:ea typeface="Calibri" pitchFamily="34" charset="-122"/>
                <a:cs typeface="Calibri" pitchFamily="34" charset="-120"/>
              </a:rPr>
              <a:t>Revise SLAs: </a:t>
            </a:r>
            <a:r>
              <a:rPr lang="en-US" sz="1100" dirty="0">
                <a:solidFill>
                  <a:srgbClr val="1E293B"/>
                </a:solidFill>
                <a:latin typeface="Calibri" pitchFamily="34" charset="0"/>
                <a:ea typeface="Calibri" pitchFamily="34" charset="-122"/>
                <a:cs typeface="Calibri" pitchFamily="34" charset="-120"/>
              </a:rPr>
              <a:t>Update First Class to 2-day promise to align with actual capability, improving customer satisfaction.  </a:t>
            </a:r>
            <a:r>
              <a:rPr lang="en-US" sz="1100" b="1" dirty="0">
                <a:solidFill>
                  <a:srgbClr val="065A82"/>
                </a:solidFill>
                <a:latin typeface="Calibri" pitchFamily="34" charset="0"/>
                <a:ea typeface="Calibri" pitchFamily="34" charset="-122"/>
                <a:cs typeface="Calibri" pitchFamily="34" charset="-120"/>
              </a:rPr>
              <a:t>Standard Class: </a:t>
            </a:r>
            <a:r>
              <a:rPr lang="en-US" sz="1100" dirty="0">
                <a:solidFill>
                  <a:srgbClr val="1E293B"/>
                </a:solidFill>
                <a:latin typeface="Calibri" pitchFamily="34" charset="0"/>
                <a:ea typeface="Calibri" pitchFamily="34" charset="-122"/>
                <a:cs typeface="Calibri" pitchFamily="34" charset="-120"/>
              </a:rPr>
              <a:t>38% late rate still significant — investigate last-mile routing, carrier performance, and order complexity for this cohort.</a:t>
            </a:r>
            <a:endParaRPr lang="en-US" sz="1100" dirty="0"/>
          </a:p>
        </p:txBody>
      </p:sp>
      <p:graphicFrame>
        <p:nvGraphicFramePr>
          <p:cNvPr id="30" name="Chart 0"/>
          <p:cNvGraphicFramePr/>
          <p:nvPr/>
        </p:nvGraphicFramePr>
        <p:xfrm>
          <a:off x="4600000" y="750000"/>
          <a:ext cx="3886800" cy="2360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65A82"/>
        </a:solidFill>
        <a:effectLst/>
      </p:bgPr>
    </p:bg>
    <p:spTree>
      <p:nvGrpSpPr>
        <p:cNvPr id="1" name="">
          <a:extLst>
            <a:ext uri="{FF2B5EF4-FFF2-40B4-BE49-F238E27FC236}">
              <a16:creationId xmlns:a16="http://schemas.microsoft.com/office/drawing/2014/main" id="{E262C3BD-A977-6EF3-B9D0-C2D675EDE8DF}"/>
            </a:ext>
          </a:extLst>
        </p:cNvPr>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1C7293">
              <a:alpha val="18000"/>
            </a:srgbClr>
          </a:solidFill>
          <a:ln w="12700">
            <a:solidFill>
              <a:srgbClr val="1C7293">
                <a:alpha val="18000"/>
              </a:srgbClr>
            </a:solidFill>
            <a:prstDash val="solid"/>
          </a:ln>
        </p:spPr>
        <p:txBody>
          <a:bodyPr/>
          <a:lstStyle/>
          <a:p>
            <a:endParaRPr lang="en-SG"/>
          </a:p>
        </p:txBody>
      </p:sp>
      <p:sp>
        <p:nvSpPr>
          <p:cNvPr id="3" name="Shape 1"/>
          <p:cNvSpPr/>
          <p:nvPr/>
        </p:nvSpPr>
        <p:spPr>
          <a:xfrm>
            <a:off x="7772400" y="2286000"/>
            <a:ext cx="2743200" cy="2743200"/>
          </a:xfrm>
          <a:prstGeom prst="ellipse">
            <a:avLst/>
          </a:prstGeom>
          <a:solidFill>
            <a:srgbClr val="02C39A">
              <a:alpha val="12000"/>
            </a:srgbClr>
          </a:solidFill>
          <a:ln w="12700">
            <a:solidFill>
              <a:srgbClr val="02C39A">
                <a:alpha val="12000"/>
              </a:srgbClr>
            </a:solidFill>
            <a:prstDash val="solid"/>
          </a:ln>
        </p:spPr>
        <p:txBody>
          <a:bodyPr/>
          <a:lstStyle/>
          <a:p>
            <a:endParaRPr lang="en-SG"/>
          </a:p>
        </p:txBody>
      </p:sp>
      <p:sp>
        <p:nvSpPr>
          <p:cNvPr id="7" name="Text 3">
            <a:extLst>
              <a:ext uri="{FF2B5EF4-FFF2-40B4-BE49-F238E27FC236}">
                <a16:creationId xmlns:a16="http://schemas.microsoft.com/office/drawing/2014/main" id="{01A54D0A-FA77-5580-5DA5-74F64FBC1CDB}"/>
              </a:ext>
            </a:extLst>
          </p:cNvPr>
          <p:cNvSpPr/>
          <p:nvPr/>
        </p:nvSpPr>
        <p:spPr>
          <a:xfrm>
            <a:off x="2011680" y="1889760"/>
            <a:ext cx="6400800" cy="1097280"/>
          </a:xfrm>
          <a:prstGeom prst="rect">
            <a:avLst/>
          </a:prstGeom>
          <a:noFill/>
          <a:ln/>
        </p:spPr>
        <p:txBody>
          <a:bodyPr wrap="square" rtlCol="0" anchor="ctr"/>
          <a:lstStyle/>
          <a:p>
            <a:pPr marL="0" indent="0">
              <a:buNone/>
            </a:pPr>
            <a:r>
              <a:rPr lang="en-US" sz="3600" b="1" dirty="0">
                <a:solidFill>
                  <a:schemeClr val="bg1"/>
                </a:solidFill>
                <a:latin typeface="Cambria" pitchFamily="34" charset="0"/>
                <a:ea typeface="Cambria" pitchFamily="34" charset="-122"/>
                <a:cs typeface="Cambria" pitchFamily="34" charset="-120"/>
              </a:rPr>
              <a:t>Product  &amp; Market Trending Analysis</a:t>
            </a:r>
            <a:endParaRPr lang="en-US" sz="3600" dirty="0">
              <a:solidFill>
                <a:schemeClr val="bg1"/>
              </a:solidFill>
            </a:endParaRPr>
          </a:p>
        </p:txBody>
      </p:sp>
      <p:pic>
        <p:nvPicPr>
          <p:cNvPr id="5" name="Picture 4">
            <a:extLst>
              <a:ext uri="{FF2B5EF4-FFF2-40B4-BE49-F238E27FC236}">
                <a16:creationId xmlns:a16="http://schemas.microsoft.com/office/drawing/2014/main" id="{C4D189F7-3A5B-A5EB-9AF3-25A02AC08784}"/>
              </a:ext>
            </a:extLst>
          </p:cNvPr>
          <p:cNvPicPr>
            <a:picLocks noChangeAspect="1"/>
          </p:cNvPicPr>
          <p:nvPr/>
        </p:nvPicPr>
        <p:blipFill>
          <a:blip r:embed="rId3"/>
          <a:stretch/>
        </p:blipFill>
        <p:spPr>
          <a:xfrm>
            <a:off x="1097280" y="2017250"/>
            <a:ext cx="743534" cy="66480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238030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Title"/>
          <p:cNvSpPr/>
          <p:nvPr/>
        </p:nvSpPr>
        <p:spPr>
          <a:xfrm>
            <a:off x="457200" y="274320"/>
            <a:ext cx="8229600" cy="500000"/>
          </a:xfrm>
          <a:prstGeom prst="rect">
            <a:avLst/>
          </a:prstGeom>
          <a:noFill/>
          <a:ln/>
        </p:spPr>
        <p:txBody>
          <a:bodyPr wrap="square" rtlCol="0" anchor="ctr"/>
          <a:lstStyle/>
          <a:p>
            <a:pPr marL="0" indent="0">
              <a:buNone/>
            </a:pPr>
            <a:r>
              <a:rPr lang="en-US" sz="2800" b="1" dirty="0">
                <a:solidFill>
                  <a:srgbClr val="065A82"/>
                </a:solidFill>
                <a:latin typeface="Cambria" pitchFamily="34" charset="0"/>
              </a:rPr>
              <a:t>Top 10 Products by Total Sales</a:t>
            </a:r>
          </a:p>
        </p:txBody>
      </p:sp>
      <p:sp>
        <p:nvSpPr>
          <p:cNvPr id="3" name="Sub"/>
          <p:cNvSpPr/>
          <p:nvPr/>
        </p:nvSpPr>
        <p:spPr>
          <a:xfrm>
            <a:off x="457200" y="749808"/>
            <a:ext cx="8229600" cy="280000"/>
          </a:xfrm>
          <a:prstGeom prst="rect">
            <a:avLst/>
          </a:prstGeom>
          <a:noFill/>
          <a:ln/>
        </p:spPr>
        <p:txBody>
          <a:bodyPr wrap="square" rtlCol="0" anchor="ctr"/>
          <a:lstStyle/>
          <a:p>
            <a:pPr marL="0" indent="0">
              <a:buNone/>
            </a:pPr>
            <a:r>
              <a:rPr lang="en-US" sz="1300" dirty="0">
                <a:solidFill>
                  <a:srgbClr val="64748B"/>
                </a:solidFill>
                <a:latin typeface="Calibri" pitchFamily="34" charset="0"/>
              </a:rPr>
              <a:t>Products contributing the most to sales, profit, and order volume across the unified dataset</a:t>
            </a:r>
          </a:p>
        </p:txBody>
      </p:sp>
      <p:sp>
        <p:nvSpPr>
          <p:cNvPr id="10" name="HeaderBg"/>
          <p:cNvSpPr/>
          <p:nvPr/>
        </p:nvSpPr>
        <p:spPr>
          <a:xfrm>
            <a:off x="457200" y="1140000"/>
            <a:ext cx="8549600" cy="360000"/>
          </a:xfrm>
          <a:prstGeom prst="rect">
            <a:avLst/>
          </a:prstGeom>
          <a:solidFill>
            <a:srgbClr val="065A82"/>
          </a:solidFill>
          <a:ln>
            <a:noFill/>
          </a:ln>
        </p:spPr>
        <p:txBody>
          <a:bodyPr/>
          <a:lstStyle/>
          <a:p>
            <a:endParaRPr lang="en-US"/>
          </a:p>
        </p:txBody>
      </p:sp>
      <p:sp>
        <p:nvSpPr>
          <p:cNvPr id="11" name="HRank"/>
          <p:cNvSpPr/>
          <p:nvPr/>
        </p:nvSpPr>
        <p:spPr>
          <a:xfrm>
            <a:off x="457200" y="1140000"/>
            <a:ext cx="420000" cy="360000"/>
          </a:xfrm>
          <a:prstGeom prst="rect">
            <a:avLst/>
          </a:prstGeom>
          <a:noFill/>
          <a:ln/>
        </p:spPr>
        <p:txBody>
          <a:bodyPr wrap="square" lIns="91440" tIns="45720" rIns="45720" bIns="45720" rtlCol="0" anchor="ctr"/>
          <a:lstStyle/>
          <a:p>
            <a:pPr marL="0" indent="0">
              <a:buNone/>
            </a:pPr>
            <a:r>
              <a:rPr lang="en-US" sz="1100" b="1" dirty="0">
                <a:solidFill>
                  <a:srgbClr val="FFFFFF"/>
                </a:solidFill>
                <a:latin typeface="Calibri"/>
              </a:rPr>
              <a:t>#</a:t>
            </a:r>
          </a:p>
        </p:txBody>
      </p:sp>
      <p:sp>
        <p:nvSpPr>
          <p:cNvPr id="12" name="HProd"/>
          <p:cNvSpPr/>
          <p:nvPr/>
        </p:nvSpPr>
        <p:spPr>
          <a:xfrm>
            <a:off x="877200" y="1140000"/>
            <a:ext cx="3900000" cy="360000"/>
          </a:xfrm>
          <a:prstGeom prst="rect">
            <a:avLst/>
          </a:prstGeom>
          <a:noFill/>
          <a:ln/>
        </p:spPr>
        <p:txBody>
          <a:bodyPr wrap="square" lIns="91440" tIns="45720" rIns="91440" bIns="45720" rtlCol="0" anchor="ctr"/>
          <a:lstStyle/>
          <a:p>
            <a:pPr marL="0" indent="0">
              <a:buNone/>
            </a:pPr>
            <a:r>
              <a:rPr lang="en-US" sz="1100" b="1" dirty="0">
                <a:solidFill>
                  <a:srgbClr val="FFFFFF"/>
                </a:solidFill>
                <a:latin typeface="Calibri"/>
              </a:rPr>
              <a:t>Product Name</a:t>
            </a:r>
          </a:p>
        </p:txBody>
      </p:sp>
      <p:sp>
        <p:nvSpPr>
          <p:cNvPr id="13" name="HSales"/>
          <p:cNvSpPr/>
          <p:nvPr/>
        </p:nvSpPr>
        <p:spPr>
          <a:xfrm>
            <a:off x="4777200" y="1140000"/>
            <a:ext cx="1430000" cy="360000"/>
          </a:xfrm>
          <a:prstGeom prst="rect">
            <a:avLst/>
          </a:prstGeom>
          <a:noFill/>
          <a:ln/>
        </p:spPr>
        <p:txBody>
          <a:bodyPr wrap="square" lIns="91440" tIns="45720" rIns="91440" bIns="45720" rtlCol="0" anchor="ctr"/>
          <a:lstStyle/>
          <a:p>
            <a:pPr marL="0" indent="0">
              <a:buNone/>
            </a:pPr>
            <a:r>
              <a:rPr lang="en-US" sz="1100" b="1" dirty="0">
                <a:solidFill>
                  <a:srgbClr val="FFFFFF"/>
                </a:solidFill>
                <a:latin typeface="Calibri"/>
              </a:rPr>
              <a:t>Total Sales</a:t>
            </a:r>
          </a:p>
        </p:txBody>
      </p:sp>
      <p:sp>
        <p:nvSpPr>
          <p:cNvPr id="14" name="HProfit"/>
          <p:cNvSpPr/>
          <p:nvPr/>
        </p:nvSpPr>
        <p:spPr>
          <a:xfrm>
            <a:off x="6207200" y="1140000"/>
            <a:ext cx="1300000" cy="360000"/>
          </a:xfrm>
          <a:prstGeom prst="rect">
            <a:avLst/>
          </a:prstGeom>
          <a:noFill/>
          <a:ln/>
        </p:spPr>
        <p:txBody>
          <a:bodyPr wrap="square" lIns="91440" tIns="45720" rIns="91440" bIns="45720" rtlCol="0" anchor="ctr"/>
          <a:lstStyle/>
          <a:p>
            <a:pPr marL="0" indent="0">
              <a:buNone/>
            </a:pPr>
            <a:r>
              <a:rPr lang="en-US" sz="1100" b="1" dirty="0">
                <a:solidFill>
                  <a:srgbClr val="FFFFFF"/>
                </a:solidFill>
                <a:latin typeface="Calibri"/>
              </a:rPr>
              <a:t>Total Profit</a:t>
            </a:r>
          </a:p>
        </p:txBody>
      </p:sp>
      <p:sp>
        <p:nvSpPr>
          <p:cNvPr id="15" name="HOrders"/>
          <p:cNvSpPr/>
          <p:nvPr/>
        </p:nvSpPr>
        <p:spPr>
          <a:xfrm>
            <a:off x="7507200" y="1140000"/>
            <a:ext cx="620000" cy="360000"/>
          </a:xfrm>
          <a:prstGeom prst="rect">
            <a:avLst/>
          </a:prstGeom>
          <a:noFill/>
          <a:ln/>
        </p:spPr>
        <p:txBody>
          <a:bodyPr wrap="square" lIns="91440" tIns="45720" rIns="91440" bIns="45720" rtlCol="0" anchor="ctr"/>
          <a:lstStyle/>
          <a:p>
            <a:pPr marL="0" indent="0">
              <a:buNone/>
            </a:pPr>
            <a:r>
              <a:rPr lang="en-US" sz="1100" b="1" dirty="0">
                <a:solidFill>
                  <a:srgbClr val="FFFFFF"/>
                </a:solidFill>
                <a:latin typeface="Calibri"/>
              </a:rPr>
              <a:t>Orders</a:t>
            </a:r>
          </a:p>
        </p:txBody>
      </p:sp>
      <p:sp>
        <p:nvSpPr>
          <p:cNvPr id="100" name="R1bg"/>
          <p:cNvSpPr/>
          <p:nvPr/>
        </p:nvSpPr>
        <p:spPr>
          <a:xfrm>
            <a:off x="457200" y="1500000"/>
            <a:ext cx="8549600" cy="372000"/>
          </a:xfrm>
          <a:prstGeom prst="rect">
            <a:avLst/>
          </a:prstGeom>
          <a:solidFill>
            <a:srgbClr val="FFFFFF"/>
          </a:solidFill>
          <a:ln>
            <a:noFill/>
          </a:ln>
        </p:spPr>
        <p:txBody>
          <a:bodyPr/>
          <a:lstStyle/>
          <a:p>
            <a:endParaRPr lang="en-US"/>
          </a:p>
        </p:txBody>
      </p:sp>
      <p:sp>
        <p:nvSpPr>
          <p:cNvPr id="101" name="R1rank"/>
          <p:cNvSpPr/>
          <p:nvPr/>
        </p:nvSpPr>
        <p:spPr>
          <a:xfrm>
            <a:off x="457200" y="1500000"/>
            <a:ext cx="420000" cy="372000"/>
          </a:xfrm>
          <a:prstGeom prst="rect">
            <a:avLst/>
          </a:prstGeom>
          <a:noFill/>
          <a:ln/>
        </p:spPr>
        <p:txBody>
          <a:bodyPr wrap="square" lIns="91440" tIns="45720" rIns="45720" bIns="45720" rtlCol="0" anchor="ctr"/>
          <a:lstStyle/>
          <a:p>
            <a:pPr marL="0" indent="0">
              <a:buNone/>
            </a:pPr>
            <a:r>
              <a:rPr lang="en-US" sz="1100" b="1" dirty="0">
                <a:solidFill>
                  <a:srgbClr val="065A82"/>
                </a:solidFill>
                <a:latin typeface="Calibri"/>
              </a:rPr>
              <a:t>1</a:t>
            </a:r>
          </a:p>
        </p:txBody>
      </p:sp>
      <p:sp>
        <p:nvSpPr>
          <p:cNvPr id="102" name="R1prod"/>
          <p:cNvSpPr/>
          <p:nvPr/>
        </p:nvSpPr>
        <p:spPr>
          <a:xfrm>
            <a:off x="877200" y="1500000"/>
            <a:ext cx="3900000" cy="372000"/>
          </a:xfrm>
          <a:prstGeom prst="rect">
            <a:avLst/>
          </a:prstGeom>
          <a:noFill/>
          <a:ln/>
        </p:spPr>
        <p:txBody>
          <a:bodyPr wrap="square" lIns="91440" tIns="45720" rIns="91440" bIns="45720" rtlCol="0" anchor="ctr"/>
          <a:lstStyle/>
          <a:p>
            <a:pPr marL="0" indent="0">
              <a:buNone/>
            </a:pPr>
            <a:r>
              <a:rPr lang="en-US" sz="1050" b="1" dirty="0">
                <a:solidFill>
                  <a:srgbClr val="1E293B"/>
                </a:solidFill>
                <a:latin typeface="Calibri"/>
              </a:rPr>
              <a:t>Field &amp; Stream Sportsman 16 Gun Fire Safe</a:t>
            </a:r>
          </a:p>
        </p:txBody>
      </p:sp>
      <p:sp>
        <p:nvSpPr>
          <p:cNvPr id="103" name="R1sales"/>
          <p:cNvSpPr/>
          <p:nvPr/>
        </p:nvSpPr>
        <p:spPr>
          <a:xfrm>
            <a:off x="4777200" y="1500000"/>
            <a:ext cx="1430000" cy="372000"/>
          </a:xfrm>
          <a:prstGeom prst="rect">
            <a:avLst/>
          </a:prstGeom>
          <a:noFill/>
          <a:ln/>
        </p:spPr>
        <p:txBody>
          <a:bodyPr wrap="square" lIns="91440" tIns="45720" rIns="91440" bIns="45720" rtlCol="0" anchor="ctr"/>
          <a:lstStyle/>
          <a:p>
            <a:pPr marL="0" indent="0">
              <a:buNone/>
            </a:pPr>
            <a:r>
              <a:rPr lang="en-US" sz="1100" b="1" dirty="0">
                <a:solidFill>
                  <a:srgbClr val="1E293B"/>
                </a:solidFill>
                <a:latin typeface="Calibri"/>
              </a:rPr>
              <a:t>$6,929,653.69</a:t>
            </a:r>
          </a:p>
        </p:txBody>
      </p:sp>
      <p:sp>
        <p:nvSpPr>
          <p:cNvPr id="104" name="R1profit"/>
          <p:cNvSpPr/>
          <p:nvPr/>
        </p:nvSpPr>
        <p:spPr>
          <a:xfrm>
            <a:off x="6207200" y="1500000"/>
            <a:ext cx="1300000" cy="372000"/>
          </a:xfrm>
          <a:prstGeom prst="rect">
            <a:avLst/>
          </a:prstGeom>
          <a:noFill/>
          <a:ln/>
        </p:spPr>
        <p:txBody>
          <a:bodyPr wrap="square" lIns="91440" tIns="45720" rIns="91440" bIns="45720" rtlCol="0" anchor="ctr"/>
          <a:lstStyle/>
          <a:p>
            <a:pPr marL="0" indent="0">
              <a:buNone/>
            </a:pPr>
            <a:r>
              <a:rPr lang="en-US" sz="1100" b="1" dirty="0">
                <a:solidFill>
                  <a:srgbClr val="1E293B"/>
                </a:solidFill>
                <a:latin typeface="Calibri"/>
              </a:rPr>
              <a:t>$756,220.77</a:t>
            </a:r>
          </a:p>
        </p:txBody>
      </p:sp>
      <p:sp>
        <p:nvSpPr>
          <p:cNvPr id="105" name="R1orders"/>
          <p:cNvSpPr/>
          <p:nvPr/>
        </p:nvSpPr>
        <p:spPr>
          <a:xfrm>
            <a:off x="7507200" y="1500000"/>
            <a:ext cx="620000" cy="372000"/>
          </a:xfrm>
          <a:prstGeom prst="rect">
            <a:avLst/>
          </a:prstGeom>
          <a:noFill/>
          <a:ln/>
        </p:spPr>
        <p:txBody>
          <a:bodyPr wrap="square" lIns="91440" tIns="45720" rIns="91440" bIns="45720" rtlCol="0" anchor="ctr"/>
          <a:lstStyle/>
          <a:p>
            <a:pPr marL="0" indent="0">
              <a:buNone/>
            </a:pPr>
            <a:r>
              <a:rPr lang="en-US" sz="1100" b="1" dirty="0">
                <a:solidFill>
                  <a:srgbClr val="1E293B"/>
                </a:solidFill>
                <a:latin typeface="Calibri"/>
              </a:rPr>
              <a:t>15,164</a:t>
            </a:r>
          </a:p>
        </p:txBody>
      </p:sp>
      <p:sp>
        <p:nvSpPr>
          <p:cNvPr id="110" name="R2bg"/>
          <p:cNvSpPr/>
          <p:nvPr/>
        </p:nvSpPr>
        <p:spPr>
          <a:xfrm>
            <a:off x="457200" y="1872000"/>
            <a:ext cx="8549600" cy="372000"/>
          </a:xfrm>
          <a:prstGeom prst="rect">
            <a:avLst/>
          </a:prstGeom>
          <a:solidFill>
            <a:srgbClr val="EFF6FF"/>
          </a:solidFill>
          <a:ln>
            <a:noFill/>
          </a:ln>
        </p:spPr>
        <p:txBody>
          <a:bodyPr/>
          <a:lstStyle/>
          <a:p>
            <a:endParaRPr lang="en-US"/>
          </a:p>
        </p:txBody>
      </p:sp>
      <p:sp>
        <p:nvSpPr>
          <p:cNvPr id="111" name="R2rank"/>
          <p:cNvSpPr/>
          <p:nvPr/>
        </p:nvSpPr>
        <p:spPr>
          <a:xfrm>
            <a:off x="457200" y="1872000"/>
            <a:ext cx="420000" cy="372000"/>
          </a:xfrm>
          <a:prstGeom prst="rect">
            <a:avLst/>
          </a:prstGeom>
          <a:noFill/>
          <a:ln/>
        </p:spPr>
        <p:txBody>
          <a:bodyPr wrap="square" lIns="91440" tIns="45720" rIns="45720" bIns="45720" rtlCol="0" anchor="ctr"/>
          <a:lstStyle/>
          <a:p>
            <a:pPr marL="0" indent="0">
              <a:buNone/>
            </a:pPr>
            <a:r>
              <a:rPr lang="en-US" sz="1100" b="1" dirty="0">
                <a:solidFill>
                  <a:srgbClr val="065A82"/>
                </a:solidFill>
                <a:latin typeface="Calibri"/>
              </a:rPr>
              <a:t>2</a:t>
            </a:r>
          </a:p>
        </p:txBody>
      </p:sp>
      <p:sp>
        <p:nvSpPr>
          <p:cNvPr id="112" name="R2prod"/>
          <p:cNvSpPr/>
          <p:nvPr/>
        </p:nvSpPr>
        <p:spPr>
          <a:xfrm>
            <a:off x="877200" y="1872000"/>
            <a:ext cx="3900000" cy="372000"/>
          </a:xfrm>
          <a:prstGeom prst="rect">
            <a:avLst/>
          </a:prstGeom>
          <a:noFill/>
          <a:ln/>
        </p:spPr>
        <p:txBody>
          <a:bodyPr wrap="square" lIns="91440" tIns="45720" rIns="91440" bIns="45720" rtlCol="0" anchor="ctr"/>
          <a:lstStyle/>
          <a:p>
            <a:pPr marL="0" indent="0">
              <a:buNone/>
            </a:pPr>
            <a:r>
              <a:rPr lang="en-US" sz="1050" b="1" dirty="0">
                <a:solidFill>
                  <a:srgbClr val="1E293B"/>
                </a:solidFill>
                <a:latin typeface="Calibri"/>
              </a:rPr>
              <a:t>Perfect Fitness Perfect Rip Deck</a:t>
            </a:r>
          </a:p>
        </p:txBody>
      </p:sp>
      <p:sp>
        <p:nvSpPr>
          <p:cNvPr id="113" name="R2sales"/>
          <p:cNvSpPr/>
          <p:nvPr/>
        </p:nvSpPr>
        <p:spPr>
          <a:xfrm>
            <a:off x="4777200" y="1872000"/>
            <a:ext cx="1430000" cy="372000"/>
          </a:xfrm>
          <a:prstGeom prst="rect">
            <a:avLst/>
          </a:prstGeom>
          <a:noFill/>
          <a:ln/>
        </p:spPr>
        <p:txBody>
          <a:bodyPr wrap="square" lIns="91440" tIns="45720" rIns="91440" bIns="45720" rtlCol="0" anchor="ctr"/>
          <a:lstStyle/>
          <a:p>
            <a:pPr marL="0" indent="0">
              <a:buNone/>
            </a:pPr>
            <a:r>
              <a:rPr lang="en-US" sz="1100" b="1" dirty="0">
                <a:solidFill>
                  <a:srgbClr val="1E293B"/>
                </a:solidFill>
                <a:latin typeface="Calibri"/>
              </a:rPr>
              <a:t>$4,421,143.14</a:t>
            </a:r>
          </a:p>
        </p:txBody>
      </p:sp>
      <p:sp>
        <p:nvSpPr>
          <p:cNvPr id="114" name="R2profit"/>
          <p:cNvSpPr/>
          <p:nvPr/>
        </p:nvSpPr>
        <p:spPr>
          <a:xfrm>
            <a:off x="6207200" y="1872000"/>
            <a:ext cx="1300000" cy="372000"/>
          </a:xfrm>
          <a:prstGeom prst="rect">
            <a:avLst/>
          </a:prstGeom>
          <a:noFill/>
          <a:ln/>
        </p:spPr>
        <p:txBody>
          <a:bodyPr wrap="square" lIns="91440" tIns="45720" rIns="91440" bIns="45720" rtlCol="0" anchor="ctr"/>
          <a:lstStyle/>
          <a:p>
            <a:pPr marL="0" indent="0">
              <a:buNone/>
            </a:pPr>
            <a:r>
              <a:rPr lang="en-US" sz="1100" b="1" dirty="0">
                <a:solidFill>
                  <a:srgbClr val="1E293B"/>
                </a:solidFill>
                <a:latin typeface="Calibri"/>
              </a:rPr>
              <a:t>$493,828.30</a:t>
            </a:r>
          </a:p>
        </p:txBody>
      </p:sp>
      <p:sp>
        <p:nvSpPr>
          <p:cNvPr id="115" name="R2orders"/>
          <p:cNvSpPr/>
          <p:nvPr/>
        </p:nvSpPr>
        <p:spPr>
          <a:xfrm>
            <a:off x="7507200" y="1872000"/>
            <a:ext cx="620000" cy="372000"/>
          </a:xfrm>
          <a:prstGeom prst="rect">
            <a:avLst/>
          </a:prstGeom>
          <a:noFill/>
          <a:ln/>
        </p:spPr>
        <p:txBody>
          <a:bodyPr wrap="square" lIns="91440" tIns="45720" rIns="91440" bIns="45720" rtlCol="0" anchor="ctr"/>
          <a:lstStyle/>
          <a:p>
            <a:pPr marL="0" indent="0">
              <a:buNone/>
            </a:pPr>
            <a:r>
              <a:rPr lang="en-US" sz="1100" b="1" dirty="0">
                <a:solidFill>
                  <a:srgbClr val="1E293B"/>
                </a:solidFill>
                <a:latin typeface="Calibri"/>
              </a:rPr>
              <a:t>20,359</a:t>
            </a:r>
          </a:p>
        </p:txBody>
      </p:sp>
      <p:sp>
        <p:nvSpPr>
          <p:cNvPr id="120" name="R3bg"/>
          <p:cNvSpPr/>
          <p:nvPr/>
        </p:nvSpPr>
        <p:spPr>
          <a:xfrm>
            <a:off x="457200" y="2244000"/>
            <a:ext cx="8549600" cy="372000"/>
          </a:xfrm>
          <a:prstGeom prst="rect">
            <a:avLst/>
          </a:prstGeom>
          <a:solidFill>
            <a:srgbClr val="FFFFFF"/>
          </a:solidFill>
          <a:ln>
            <a:noFill/>
          </a:ln>
        </p:spPr>
        <p:txBody>
          <a:bodyPr/>
          <a:lstStyle/>
          <a:p>
            <a:endParaRPr lang="en-US"/>
          </a:p>
        </p:txBody>
      </p:sp>
      <p:sp>
        <p:nvSpPr>
          <p:cNvPr id="121" name="R3rank"/>
          <p:cNvSpPr/>
          <p:nvPr/>
        </p:nvSpPr>
        <p:spPr>
          <a:xfrm>
            <a:off x="457200" y="2244000"/>
            <a:ext cx="420000" cy="372000"/>
          </a:xfrm>
          <a:prstGeom prst="rect">
            <a:avLst/>
          </a:prstGeom>
          <a:noFill/>
          <a:ln/>
        </p:spPr>
        <p:txBody>
          <a:bodyPr wrap="square" lIns="91440" tIns="45720" rIns="45720" bIns="45720" rtlCol="0" anchor="ctr"/>
          <a:lstStyle/>
          <a:p>
            <a:pPr marL="0" indent="0">
              <a:buNone/>
            </a:pPr>
            <a:r>
              <a:rPr lang="en-US" sz="1100" b="1" dirty="0">
                <a:solidFill>
                  <a:srgbClr val="065A82"/>
                </a:solidFill>
                <a:latin typeface="Calibri"/>
              </a:rPr>
              <a:t>3</a:t>
            </a:r>
          </a:p>
        </p:txBody>
      </p:sp>
      <p:sp>
        <p:nvSpPr>
          <p:cNvPr id="122" name="R3prod"/>
          <p:cNvSpPr/>
          <p:nvPr/>
        </p:nvSpPr>
        <p:spPr>
          <a:xfrm>
            <a:off x="877200" y="2244000"/>
            <a:ext cx="3900000" cy="372000"/>
          </a:xfrm>
          <a:prstGeom prst="rect">
            <a:avLst/>
          </a:prstGeom>
          <a:noFill/>
          <a:ln/>
        </p:spPr>
        <p:txBody>
          <a:bodyPr wrap="square" lIns="91440" tIns="45720" rIns="91440" bIns="45720" rtlCol="0" anchor="ctr"/>
          <a:lstStyle/>
          <a:p>
            <a:pPr marL="0" indent="0">
              <a:buNone/>
            </a:pPr>
            <a:r>
              <a:rPr lang="en-US" sz="1050" b="1" dirty="0">
                <a:solidFill>
                  <a:srgbClr val="1E293B"/>
                </a:solidFill>
                <a:latin typeface="Calibri"/>
              </a:rPr>
              <a:t>Diamondback Women’s Serene Classic Comfort Bi…</a:t>
            </a:r>
          </a:p>
        </p:txBody>
      </p:sp>
      <p:sp>
        <p:nvSpPr>
          <p:cNvPr id="123" name="R3sales"/>
          <p:cNvSpPr/>
          <p:nvPr/>
        </p:nvSpPr>
        <p:spPr>
          <a:xfrm>
            <a:off x="4777200" y="2244000"/>
            <a:ext cx="1430000" cy="372000"/>
          </a:xfrm>
          <a:prstGeom prst="rect">
            <a:avLst/>
          </a:prstGeom>
          <a:noFill/>
          <a:ln/>
        </p:spPr>
        <p:txBody>
          <a:bodyPr wrap="square" lIns="91440" tIns="45720" rIns="91440" bIns="45720" rtlCol="0" anchor="ctr"/>
          <a:lstStyle/>
          <a:p>
            <a:pPr marL="0" indent="0">
              <a:buNone/>
            </a:pPr>
            <a:r>
              <a:rPr lang="en-US" sz="1100" b="1" dirty="0">
                <a:solidFill>
                  <a:srgbClr val="1E293B"/>
                </a:solidFill>
                <a:latin typeface="Calibri"/>
              </a:rPr>
              <a:t>$4,118,425.57</a:t>
            </a:r>
          </a:p>
        </p:txBody>
      </p:sp>
      <p:sp>
        <p:nvSpPr>
          <p:cNvPr id="124" name="R3profit"/>
          <p:cNvSpPr/>
          <p:nvPr/>
        </p:nvSpPr>
        <p:spPr>
          <a:xfrm>
            <a:off x="6207200" y="2244000"/>
            <a:ext cx="1300000" cy="372000"/>
          </a:xfrm>
          <a:prstGeom prst="rect">
            <a:avLst/>
          </a:prstGeom>
          <a:noFill/>
          <a:ln/>
        </p:spPr>
        <p:txBody>
          <a:bodyPr wrap="square" lIns="91440" tIns="45720" rIns="91440" bIns="45720" rtlCol="0" anchor="ctr"/>
          <a:lstStyle/>
          <a:p>
            <a:pPr marL="0" indent="0">
              <a:buNone/>
            </a:pPr>
            <a:r>
              <a:rPr lang="en-US" sz="1100" b="1" dirty="0">
                <a:solidFill>
                  <a:srgbClr val="1E293B"/>
                </a:solidFill>
                <a:latin typeface="Calibri"/>
              </a:rPr>
              <a:t>$427,455.57</a:t>
            </a:r>
          </a:p>
        </p:txBody>
      </p:sp>
      <p:sp>
        <p:nvSpPr>
          <p:cNvPr id="125" name="R3orders"/>
          <p:cNvSpPr/>
          <p:nvPr/>
        </p:nvSpPr>
        <p:spPr>
          <a:xfrm>
            <a:off x="7507200" y="2244000"/>
            <a:ext cx="620000" cy="372000"/>
          </a:xfrm>
          <a:prstGeom prst="rect">
            <a:avLst/>
          </a:prstGeom>
          <a:noFill/>
          <a:ln/>
        </p:spPr>
        <p:txBody>
          <a:bodyPr wrap="square" lIns="91440" tIns="45720" rIns="91440" bIns="45720" rtlCol="0" anchor="ctr"/>
          <a:lstStyle/>
          <a:p>
            <a:pPr marL="0" indent="0">
              <a:buNone/>
            </a:pPr>
            <a:r>
              <a:rPr lang="en-US" sz="1100" b="1" dirty="0">
                <a:solidFill>
                  <a:srgbClr val="1E293B"/>
                </a:solidFill>
                <a:latin typeface="Calibri"/>
              </a:rPr>
              <a:t>12,299</a:t>
            </a:r>
          </a:p>
        </p:txBody>
      </p:sp>
      <p:sp>
        <p:nvSpPr>
          <p:cNvPr id="130" name="R4bg"/>
          <p:cNvSpPr/>
          <p:nvPr/>
        </p:nvSpPr>
        <p:spPr>
          <a:xfrm>
            <a:off x="457200" y="2616000"/>
            <a:ext cx="8549600" cy="372000"/>
          </a:xfrm>
          <a:prstGeom prst="rect">
            <a:avLst/>
          </a:prstGeom>
          <a:solidFill>
            <a:srgbClr val="EFF6FF"/>
          </a:solidFill>
          <a:ln>
            <a:noFill/>
          </a:ln>
        </p:spPr>
        <p:txBody>
          <a:bodyPr/>
          <a:lstStyle/>
          <a:p>
            <a:endParaRPr lang="en-US"/>
          </a:p>
        </p:txBody>
      </p:sp>
      <p:sp>
        <p:nvSpPr>
          <p:cNvPr id="131" name="R4rank"/>
          <p:cNvSpPr/>
          <p:nvPr/>
        </p:nvSpPr>
        <p:spPr>
          <a:xfrm>
            <a:off x="457200" y="2616000"/>
            <a:ext cx="420000" cy="372000"/>
          </a:xfrm>
          <a:prstGeom prst="rect">
            <a:avLst/>
          </a:prstGeom>
          <a:noFill/>
          <a:ln/>
        </p:spPr>
        <p:txBody>
          <a:bodyPr wrap="square" lIns="91440" tIns="45720" rIns="45720" bIns="45720" rtlCol="0" anchor="ctr"/>
          <a:lstStyle/>
          <a:p>
            <a:pPr marL="0" indent="0">
              <a:buNone/>
            </a:pPr>
            <a:r>
              <a:rPr lang="en-US" sz="1100" b="0" dirty="0">
                <a:solidFill>
                  <a:srgbClr val="1E293B"/>
                </a:solidFill>
                <a:latin typeface="Calibri"/>
              </a:rPr>
              <a:t>4</a:t>
            </a:r>
          </a:p>
        </p:txBody>
      </p:sp>
      <p:sp>
        <p:nvSpPr>
          <p:cNvPr id="132" name="R4prod"/>
          <p:cNvSpPr/>
          <p:nvPr/>
        </p:nvSpPr>
        <p:spPr>
          <a:xfrm>
            <a:off x="877200" y="2616000"/>
            <a:ext cx="3900000" cy="372000"/>
          </a:xfrm>
          <a:prstGeom prst="rect">
            <a:avLst/>
          </a:prstGeom>
          <a:noFill/>
          <a:ln/>
        </p:spPr>
        <p:txBody>
          <a:bodyPr wrap="square" lIns="91440" tIns="45720" rIns="91440" bIns="45720" rtlCol="0" anchor="ctr"/>
          <a:lstStyle/>
          <a:p>
            <a:pPr marL="0" indent="0">
              <a:buNone/>
            </a:pPr>
            <a:r>
              <a:rPr lang="en-US" sz="1050" b="0" dirty="0">
                <a:solidFill>
                  <a:srgbClr val="1E293B"/>
                </a:solidFill>
                <a:latin typeface="Calibri"/>
              </a:rPr>
              <a:t>Nike Men’s Free 5.0+ Running Shoe</a:t>
            </a:r>
          </a:p>
        </p:txBody>
      </p:sp>
      <p:sp>
        <p:nvSpPr>
          <p:cNvPr id="133" name="R4sales"/>
          <p:cNvSpPr/>
          <p:nvPr/>
        </p:nvSpPr>
        <p:spPr>
          <a:xfrm>
            <a:off x="4777200" y="2616000"/>
            <a:ext cx="143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$3,667,633.20</a:t>
            </a:r>
          </a:p>
        </p:txBody>
      </p:sp>
      <p:sp>
        <p:nvSpPr>
          <p:cNvPr id="134" name="R4profit"/>
          <p:cNvSpPr/>
          <p:nvPr/>
        </p:nvSpPr>
        <p:spPr>
          <a:xfrm>
            <a:off x="6207200" y="2616000"/>
            <a:ext cx="130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$379,915.82</a:t>
            </a:r>
          </a:p>
        </p:txBody>
      </p:sp>
      <p:sp>
        <p:nvSpPr>
          <p:cNvPr id="135" name="R4orders"/>
          <p:cNvSpPr/>
          <p:nvPr/>
        </p:nvSpPr>
        <p:spPr>
          <a:xfrm>
            <a:off x="7507200" y="2616000"/>
            <a:ext cx="62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11,092</a:t>
            </a:r>
          </a:p>
        </p:txBody>
      </p:sp>
      <p:sp>
        <p:nvSpPr>
          <p:cNvPr id="140" name="R5bg"/>
          <p:cNvSpPr/>
          <p:nvPr/>
        </p:nvSpPr>
        <p:spPr>
          <a:xfrm>
            <a:off x="457200" y="2988000"/>
            <a:ext cx="8549600" cy="372000"/>
          </a:xfrm>
          <a:prstGeom prst="rect">
            <a:avLst/>
          </a:prstGeom>
          <a:solidFill>
            <a:srgbClr val="FFFFFF"/>
          </a:solidFill>
          <a:ln>
            <a:noFill/>
          </a:ln>
        </p:spPr>
        <p:txBody>
          <a:bodyPr/>
          <a:lstStyle/>
          <a:p>
            <a:endParaRPr lang="en-US"/>
          </a:p>
        </p:txBody>
      </p:sp>
      <p:sp>
        <p:nvSpPr>
          <p:cNvPr id="141" name="R5rank"/>
          <p:cNvSpPr/>
          <p:nvPr/>
        </p:nvSpPr>
        <p:spPr>
          <a:xfrm>
            <a:off x="457200" y="2988000"/>
            <a:ext cx="420000" cy="372000"/>
          </a:xfrm>
          <a:prstGeom prst="rect">
            <a:avLst/>
          </a:prstGeom>
          <a:noFill/>
          <a:ln/>
        </p:spPr>
        <p:txBody>
          <a:bodyPr wrap="square" lIns="91440" tIns="45720" rIns="45720" bIns="45720" rtlCol="0" anchor="ctr"/>
          <a:lstStyle/>
          <a:p>
            <a:pPr marL="0" indent="0">
              <a:buNone/>
            </a:pPr>
            <a:r>
              <a:rPr lang="en-US" sz="1100" b="0" dirty="0">
                <a:solidFill>
                  <a:srgbClr val="1E293B"/>
                </a:solidFill>
                <a:latin typeface="Calibri"/>
              </a:rPr>
              <a:t>5</a:t>
            </a:r>
          </a:p>
        </p:txBody>
      </p:sp>
      <p:sp>
        <p:nvSpPr>
          <p:cNvPr id="142" name="R5prod"/>
          <p:cNvSpPr/>
          <p:nvPr/>
        </p:nvSpPr>
        <p:spPr>
          <a:xfrm>
            <a:off x="877200" y="2988000"/>
            <a:ext cx="3900000" cy="372000"/>
          </a:xfrm>
          <a:prstGeom prst="rect">
            <a:avLst/>
          </a:prstGeom>
          <a:noFill/>
          <a:ln/>
        </p:spPr>
        <p:txBody>
          <a:bodyPr wrap="square" lIns="91440" tIns="45720" rIns="91440" bIns="45720" rtlCol="0" anchor="ctr"/>
          <a:lstStyle/>
          <a:p>
            <a:pPr marL="0" indent="0">
              <a:buNone/>
            </a:pPr>
            <a:r>
              <a:rPr lang="en-US" sz="1050" b="0" dirty="0">
                <a:solidFill>
                  <a:srgbClr val="1E293B"/>
                </a:solidFill>
                <a:latin typeface="Calibri"/>
              </a:rPr>
              <a:t>Nike Men’s Dri-FIT Victory Golf Polo</a:t>
            </a:r>
          </a:p>
        </p:txBody>
      </p:sp>
      <p:sp>
        <p:nvSpPr>
          <p:cNvPr id="143" name="R5sales"/>
          <p:cNvSpPr/>
          <p:nvPr/>
        </p:nvSpPr>
        <p:spPr>
          <a:xfrm>
            <a:off x="4777200" y="2988000"/>
            <a:ext cx="143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$3,147,800.00</a:t>
            </a:r>
          </a:p>
        </p:txBody>
      </p:sp>
      <p:sp>
        <p:nvSpPr>
          <p:cNvPr id="144" name="R5profit"/>
          <p:cNvSpPr/>
          <p:nvPr/>
        </p:nvSpPr>
        <p:spPr>
          <a:xfrm>
            <a:off x="6207200" y="2988000"/>
            <a:ext cx="130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$350,421.03</a:t>
            </a:r>
          </a:p>
        </p:txBody>
      </p:sp>
      <p:sp>
        <p:nvSpPr>
          <p:cNvPr id="145" name="R5orders"/>
          <p:cNvSpPr/>
          <p:nvPr/>
        </p:nvSpPr>
        <p:spPr>
          <a:xfrm>
            <a:off x="7507200" y="2988000"/>
            <a:ext cx="62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17,869</a:t>
            </a:r>
          </a:p>
        </p:txBody>
      </p:sp>
      <p:sp>
        <p:nvSpPr>
          <p:cNvPr id="150" name="R6bg"/>
          <p:cNvSpPr/>
          <p:nvPr/>
        </p:nvSpPr>
        <p:spPr>
          <a:xfrm>
            <a:off x="457200" y="3360000"/>
            <a:ext cx="8549600" cy="372000"/>
          </a:xfrm>
          <a:prstGeom prst="rect">
            <a:avLst/>
          </a:prstGeom>
          <a:solidFill>
            <a:srgbClr val="EFF6FF"/>
          </a:solidFill>
          <a:ln>
            <a:noFill/>
          </a:ln>
        </p:spPr>
        <p:txBody>
          <a:bodyPr/>
          <a:lstStyle/>
          <a:p>
            <a:endParaRPr lang="en-US"/>
          </a:p>
        </p:txBody>
      </p:sp>
      <p:sp>
        <p:nvSpPr>
          <p:cNvPr id="151" name="R6rank"/>
          <p:cNvSpPr/>
          <p:nvPr/>
        </p:nvSpPr>
        <p:spPr>
          <a:xfrm>
            <a:off x="457200" y="3360000"/>
            <a:ext cx="420000" cy="372000"/>
          </a:xfrm>
          <a:prstGeom prst="rect">
            <a:avLst/>
          </a:prstGeom>
          <a:noFill/>
          <a:ln/>
        </p:spPr>
        <p:txBody>
          <a:bodyPr wrap="square" lIns="91440" tIns="45720" rIns="45720" bIns="45720" rtlCol="0" anchor="ctr"/>
          <a:lstStyle/>
          <a:p>
            <a:pPr marL="0" indent="0">
              <a:buNone/>
            </a:pPr>
            <a:r>
              <a:rPr lang="en-US" sz="1100" b="0" dirty="0">
                <a:solidFill>
                  <a:srgbClr val="1E293B"/>
                </a:solidFill>
                <a:latin typeface="Calibri"/>
              </a:rPr>
              <a:t>6</a:t>
            </a:r>
          </a:p>
        </p:txBody>
      </p:sp>
      <p:sp>
        <p:nvSpPr>
          <p:cNvPr id="152" name="R6prod"/>
          <p:cNvSpPr/>
          <p:nvPr/>
        </p:nvSpPr>
        <p:spPr>
          <a:xfrm>
            <a:off x="877200" y="3360000"/>
            <a:ext cx="3900000" cy="372000"/>
          </a:xfrm>
          <a:prstGeom prst="rect">
            <a:avLst/>
          </a:prstGeom>
          <a:noFill/>
          <a:ln/>
        </p:spPr>
        <p:txBody>
          <a:bodyPr wrap="square" lIns="91440" tIns="45720" rIns="91440" bIns="45720" rtlCol="0" anchor="ctr"/>
          <a:lstStyle/>
          <a:p>
            <a:pPr marL="0" indent="0">
              <a:buNone/>
            </a:pPr>
            <a:r>
              <a:rPr lang="en-US" sz="1050" b="0" dirty="0">
                <a:solidFill>
                  <a:srgbClr val="1E293B"/>
                </a:solidFill>
                <a:latin typeface="Calibri"/>
              </a:rPr>
              <a:t>Pelican Sunstream 100 Kayak</a:t>
            </a:r>
          </a:p>
        </p:txBody>
      </p:sp>
      <p:sp>
        <p:nvSpPr>
          <p:cNvPr id="153" name="R6sales"/>
          <p:cNvSpPr/>
          <p:nvPr/>
        </p:nvSpPr>
        <p:spPr>
          <a:xfrm>
            <a:off x="4777200" y="3360000"/>
            <a:ext cx="143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$3,099,845.09</a:t>
            </a:r>
          </a:p>
        </p:txBody>
      </p:sp>
      <p:sp>
        <p:nvSpPr>
          <p:cNvPr id="154" name="R6profit"/>
          <p:cNvSpPr/>
          <p:nvPr/>
        </p:nvSpPr>
        <p:spPr>
          <a:xfrm>
            <a:off x="6207200" y="3360000"/>
            <a:ext cx="130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$324,076.37</a:t>
            </a:r>
          </a:p>
        </p:txBody>
      </p:sp>
      <p:sp>
        <p:nvSpPr>
          <p:cNvPr id="155" name="R6orders"/>
          <p:cNvSpPr/>
          <p:nvPr/>
        </p:nvSpPr>
        <p:spPr>
          <a:xfrm>
            <a:off x="7507200" y="3360000"/>
            <a:ext cx="62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13,727</a:t>
            </a:r>
          </a:p>
        </p:txBody>
      </p:sp>
      <p:sp>
        <p:nvSpPr>
          <p:cNvPr id="160" name="R7bg"/>
          <p:cNvSpPr/>
          <p:nvPr/>
        </p:nvSpPr>
        <p:spPr>
          <a:xfrm>
            <a:off x="457200" y="3732000"/>
            <a:ext cx="8549600" cy="372000"/>
          </a:xfrm>
          <a:prstGeom prst="rect">
            <a:avLst/>
          </a:prstGeom>
          <a:solidFill>
            <a:srgbClr val="FFFFFF"/>
          </a:solidFill>
          <a:ln>
            <a:noFill/>
          </a:ln>
        </p:spPr>
        <p:txBody>
          <a:bodyPr/>
          <a:lstStyle/>
          <a:p>
            <a:endParaRPr lang="en-US"/>
          </a:p>
        </p:txBody>
      </p:sp>
      <p:sp>
        <p:nvSpPr>
          <p:cNvPr id="161" name="R7rank"/>
          <p:cNvSpPr/>
          <p:nvPr/>
        </p:nvSpPr>
        <p:spPr>
          <a:xfrm>
            <a:off x="457200" y="3732000"/>
            <a:ext cx="420000" cy="372000"/>
          </a:xfrm>
          <a:prstGeom prst="rect">
            <a:avLst/>
          </a:prstGeom>
          <a:noFill/>
          <a:ln/>
        </p:spPr>
        <p:txBody>
          <a:bodyPr wrap="square" lIns="91440" tIns="45720" rIns="45720" bIns="45720" rtlCol="0" anchor="ctr"/>
          <a:lstStyle/>
          <a:p>
            <a:pPr marL="0" indent="0">
              <a:buNone/>
            </a:pPr>
            <a:r>
              <a:rPr lang="en-US" sz="1100" b="0" dirty="0">
                <a:solidFill>
                  <a:srgbClr val="1E293B"/>
                </a:solidFill>
                <a:latin typeface="Calibri"/>
              </a:rPr>
              <a:t>7</a:t>
            </a:r>
          </a:p>
        </p:txBody>
      </p:sp>
      <p:sp>
        <p:nvSpPr>
          <p:cNvPr id="162" name="R7prod"/>
          <p:cNvSpPr/>
          <p:nvPr/>
        </p:nvSpPr>
        <p:spPr>
          <a:xfrm>
            <a:off x="877200" y="3732000"/>
            <a:ext cx="3900000" cy="372000"/>
          </a:xfrm>
          <a:prstGeom prst="rect">
            <a:avLst/>
          </a:prstGeom>
          <a:noFill/>
          <a:ln/>
        </p:spPr>
        <p:txBody>
          <a:bodyPr wrap="square" lIns="91440" tIns="45720" rIns="91440" bIns="45720" rtlCol="0" anchor="ctr"/>
          <a:lstStyle/>
          <a:p>
            <a:pPr marL="0" indent="0">
              <a:buNone/>
            </a:pPr>
            <a:r>
              <a:rPr lang="en-US" sz="1050" b="0" dirty="0">
                <a:solidFill>
                  <a:srgbClr val="1E293B"/>
                </a:solidFill>
                <a:latin typeface="Calibri"/>
              </a:rPr>
              <a:t>Nike Men’s CJ Elite 2 TD Football Cleat</a:t>
            </a:r>
          </a:p>
        </p:txBody>
      </p:sp>
      <p:sp>
        <p:nvSpPr>
          <p:cNvPr id="163" name="R7sales"/>
          <p:cNvSpPr/>
          <p:nvPr/>
        </p:nvSpPr>
        <p:spPr>
          <a:xfrm>
            <a:off x="4777200" y="3732000"/>
            <a:ext cx="143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$2,891,757.66</a:t>
            </a:r>
          </a:p>
        </p:txBody>
      </p:sp>
      <p:sp>
        <p:nvSpPr>
          <p:cNvPr id="164" name="R7profit"/>
          <p:cNvSpPr/>
          <p:nvPr/>
        </p:nvSpPr>
        <p:spPr>
          <a:xfrm>
            <a:off x="6207200" y="3732000"/>
            <a:ext cx="130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$311,902.82</a:t>
            </a:r>
          </a:p>
        </p:txBody>
      </p:sp>
      <p:sp>
        <p:nvSpPr>
          <p:cNvPr id="165" name="R7orders"/>
          <p:cNvSpPr/>
          <p:nvPr/>
        </p:nvSpPr>
        <p:spPr>
          <a:xfrm>
            <a:off x="7507200" y="3732000"/>
            <a:ext cx="62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18,783</a:t>
            </a:r>
          </a:p>
        </p:txBody>
      </p:sp>
      <p:sp>
        <p:nvSpPr>
          <p:cNvPr id="170" name="R8bg"/>
          <p:cNvSpPr/>
          <p:nvPr/>
        </p:nvSpPr>
        <p:spPr>
          <a:xfrm>
            <a:off x="457200" y="4104000"/>
            <a:ext cx="8549600" cy="372000"/>
          </a:xfrm>
          <a:prstGeom prst="rect">
            <a:avLst/>
          </a:prstGeom>
          <a:solidFill>
            <a:srgbClr val="EFF6FF"/>
          </a:solidFill>
          <a:ln>
            <a:noFill/>
          </a:ln>
        </p:spPr>
        <p:txBody>
          <a:bodyPr/>
          <a:lstStyle/>
          <a:p>
            <a:endParaRPr lang="en-US"/>
          </a:p>
        </p:txBody>
      </p:sp>
      <p:sp>
        <p:nvSpPr>
          <p:cNvPr id="171" name="R8rank"/>
          <p:cNvSpPr/>
          <p:nvPr/>
        </p:nvSpPr>
        <p:spPr>
          <a:xfrm>
            <a:off x="457200" y="4104000"/>
            <a:ext cx="420000" cy="372000"/>
          </a:xfrm>
          <a:prstGeom prst="rect">
            <a:avLst/>
          </a:prstGeom>
          <a:noFill/>
          <a:ln/>
        </p:spPr>
        <p:txBody>
          <a:bodyPr wrap="square" lIns="91440" tIns="45720" rIns="45720" bIns="45720" rtlCol="0" anchor="ctr"/>
          <a:lstStyle/>
          <a:p>
            <a:pPr marL="0" indent="0">
              <a:buNone/>
            </a:pPr>
            <a:r>
              <a:rPr lang="en-US" sz="1100" b="0" dirty="0">
                <a:solidFill>
                  <a:srgbClr val="1E293B"/>
                </a:solidFill>
                <a:latin typeface="Calibri"/>
              </a:rPr>
              <a:t>8</a:t>
            </a:r>
          </a:p>
        </p:txBody>
      </p:sp>
      <p:sp>
        <p:nvSpPr>
          <p:cNvPr id="172" name="R8prod"/>
          <p:cNvSpPr/>
          <p:nvPr/>
        </p:nvSpPr>
        <p:spPr>
          <a:xfrm>
            <a:off x="877200" y="4104000"/>
            <a:ext cx="3900000" cy="372000"/>
          </a:xfrm>
          <a:prstGeom prst="rect">
            <a:avLst/>
          </a:prstGeom>
          <a:noFill/>
          <a:ln/>
        </p:spPr>
        <p:txBody>
          <a:bodyPr wrap="square" lIns="91440" tIns="45720" rIns="91440" bIns="45720" rtlCol="0" anchor="ctr"/>
          <a:lstStyle/>
          <a:p>
            <a:pPr marL="0" indent="0">
              <a:buNone/>
            </a:pPr>
            <a:r>
              <a:rPr lang="en-US" sz="1050" b="0" dirty="0">
                <a:solidFill>
                  <a:srgbClr val="1E293B"/>
                </a:solidFill>
                <a:latin typeface="Calibri"/>
              </a:rPr>
              <a:t>O’Brien Men’s Neoprene Life Vest</a:t>
            </a:r>
          </a:p>
        </p:txBody>
      </p:sp>
      <p:sp>
        <p:nvSpPr>
          <p:cNvPr id="173" name="R8sales"/>
          <p:cNvSpPr/>
          <p:nvPr/>
        </p:nvSpPr>
        <p:spPr>
          <a:xfrm>
            <a:off x="4777200" y="4104000"/>
            <a:ext cx="143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$2,888,993.91</a:t>
            </a:r>
          </a:p>
        </p:txBody>
      </p:sp>
      <p:sp>
        <p:nvSpPr>
          <p:cNvPr id="174" name="R8profit"/>
          <p:cNvSpPr/>
          <p:nvPr/>
        </p:nvSpPr>
        <p:spPr>
          <a:xfrm>
            <a:off x="6207200" y="4104000"/>
            <a:ext cx="130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$318,451.43</a:t>
            </a:r>
          </a:p>
        </p:txBody>
      </p:sp>
      <p:sp>
        <p:nvSpPr>
          <p:cNvPr id="175" name="R8orders"/>
          <p:cNvSpPr/>
          <p:nvPr/>
        </p:nvSpPr>
        <p:spPr>
          <a:xfrm>
            <a:off x="7507200" y="4104000"/>
            <a:ext cx="62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16,623</a:t>
            </a:r>
          </a:p>
        </p:txBody>
      </p:sp>
      <p:sp>
        <p:nvSpPr>
          <p:cNvPr id="180" name="R9bg"/>
          <p:cNvSpPr/>
          <p:nvPr/>
        </p:nvSpPr>
        <p:spPr>
          <a:xfrm>
            <a:off x="457200" y="4476000"/>
            <a:ext cx="8549600" cy="372000"/>
          </a:xfrm>
          <a:prstGeom prst="rect">
            <a:avLst/>
          </a:prstGeom>
          <a:solidFill>
            <a:srgbClr val="FFFFFF"/>
          </a:solidFill>
          <a:ln>
            <a:noFill/>
          </a:ln>
        </p:spPr>
        <p:txBody>
          <a:bodyPr/>
          <a:lstStyle/>
          <a:p>
            <a:endParaRPr lang="en-US"/>
          </a:p>
        </p:txBody>
      </p:sp>
      <p:sp>
        <p:nvSpPr>
          <p:cNvPr id="181" name="R9rank"/>
          <p:cNvSpPr/>
          <p:nvPr/>
        </p:nvSpPr>
        <p:spPr>
          <a:xfrm>
            <a:off x="457200" y="4476000"/>
            <a:ext cx="420000" cy="372000"/>
          </a:xfrm>
          <a:prstGeom prst="rect">
            <a:avLst/>
          </a:prstGeom>
          <a:noFill/>
          <a:ln/>
        </p:spPr>
        <p:txBody>
          <a:bodyPr wrap="square" lIns="91440" tIns="45720" rIns="45720" bIns="45720" rtlCol="0" anchor="ctr"/>
          <a:lstStyle/>
          <a:p>
            <a:pPr marL="0" indent="0">
              <a:buNone/>
            </a:pPr>
            <a:r>
              <a:rPr lang="en-US" sz="1100" b="0" dirty="0">
                <a:solidFill>
                  <a:srgbClr val="1E293B"/>
                </a:solidFill>
                <a:latin typeface="Calibri"/>
              </a:rPr>
              <a:t>9</a:t>
            </a:r>
          </a:p>
        </p:txBody>
      </p:sp>
      <p:sp>
        <p:nvSpPr>
          <p:cNvPr id="182" name="R9prod"/>
          <p:cNvSpPr/>
          <p:nvPr/>
        </p:nvSpPr>
        <p:spPr>
          <a:xfrm>
            <a:off x="877200" y="4476000"/>
            <a:ext cx="3900000" cy="372000"/>
          </a:xfrm>
          <a:prstGeom prst="rect">
            <a:avLst/>
          </a:prstGeom>
          <a:noFill/>
          <a:ln/>
        </p:spPr>
        <p:txBody>
          <a:bodyPr wrap="square" lIns="91440" tIns="45720" rIns="91440" bIns="45720" rtlCol="0" anchor="ctr"/>
          <a:lstStyle/>
          <a:p>
            <a:pPr marL="0" indent="0">
              <a:buNone/>
            </a:pPr>
            <a:r>
              <a:rPr lang="en-US" sz="1050" b="0" dirty="0">
                <a:solidFill>
                  <a:srgbClr val="1E293B"/>
                </a:solidFill>
                <a:latin typeface="Calibri"/>
              </a:rPr>
              <a:t>Under Armour Girls’ Toddler Spine Surge Runni…</a:t>
            </a:r>
          </a:p>
        </p:txBody>
      </p:sp>
      <p:sp>
        <p:nvSpPr>
          <p:cNvPr id="183" name="R9sales"/>
          <p:cNvSpPr/>
          <p:nvPr/>
        </p:nvSpPr>
        <p:spPr>
          <a:xfrm>
            <a:off x="4777200" y="4476000"/>
            <a:ext cx="143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$1,269,082.67</a:t>
            </a:r>
          </a:p>
        </p:txBody>
      </p:sp>
      <p:sp>
        <p:nvSpPr>
          <p:cNvPr id="184" name="R9profit"/>
          <p:cNvSpPr/>
          <p:nvPr/>
        </p:nvSpPr>
        <p:spPr>
          <a:xfrm>
            <a:off x="6207200" y="4476000"/>
            <a:ext cx="130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$126,278.51</a:t>
            </a:r>
          </a:p>
        </p:txBody>
      </p:sp>
      <p:sp>
        <p:nvSpPr>
          <p:cNvPr id="185" name="R9orders"/>
          <p:cNvSpPr/>
          <p:nvPr/>
        </p:nvSpPr>
        <p:spPr>
          <a:xfrm>
            <a:off x="7507200" y="4476000"/>
            <a:ext cx="62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9,825</a:t>
            </a:r>
          </a:p>
        </p:txBody>
      </p:sp>
      <p:sp>
        <p:nvSpPr>
          <p:cNvPr id="190" name="R10bg"/>
          <p:cNvSpPr/>
          <p:nvPr/>
        </p:nvSpPr>
        <p:spPr>
          <a:xfrm>
            <a:off x="457200" y="4848000"/>
            <a:ext cx="8549600" cy="372000"/>
          </a:xfrm>
          <a:prstGeom prst="rect">
            <a:avLst/>
          </a:prstGeom>
          <a:solidFill>
            <a:srgbClr val="EFF6FF"/>
          </a:solidFill>
          <a:ln>
            <a:noFill/>
          </a:ln>
        </p:spPr>
        <p:txBody>
          <a:bodyPr/>
          <a:lstStyle/>
          <a:p>
            <a:endParaRPr lang="en-US"/>
          </a:p>
        </p:txBody>
      </p:sp>
      <p:sp>
        <p:nvSpPr>
          <p:cNvPr id="191" name="R10rank"/>
          <p:cNvSpPr/>
          <p:nvPr/>
        </p:nvSpPr>
        <p:spPr>
          <a:xfrm>
            <a:off x="457200" y="4848000"/>
            <a:ext cx="420000" cy="372000"/>
          </a:xfrm>
          <a:prstGeom prst="rect">
            <a:avLst/>
          </a:prstGeom>
          <a:noFill/>
          <a:ln/>
        </p:spPr>
        <p:txBody>
          <a:bodyPr wrap="square" lIns="91440" tIns="45720" rIns="45720" bIns="45720" rtlCol="0" anchor="ctr"/>
          <a:lstStyle/>
          <a:p>
            <a:pPr marL="0" indent="0">
              <a:buNone/>
            </a:pPr>
            <a:r>
              <a:rPr lang="en-US" sz="1100" b="0" dirty="0">
                <a:solidFill>
                  <a:srgbClr val="1E293B"/>
                </a:solidFill>
                <a:latin typeface="Calibri"/>
              </a:rPr>
              <a:t>10</a:t>
            </a:r>
          </a:p>
        </p:txBody>
      </p:sp>
      <p:sp>
        <p:nvSpPr>
          <p:cNvPr id="192" name="R10prod"/>
          <p:cNvSpPr/>
          <p:nvPr/>
        </p:nvSpPr>
        <p:spPr>
          <a:xfrm>
            <a:off x="877200" y="4848000"/>
            <a:ext cx="3900000" cy="372000"/>
          </a:xfrm>
          <a:prstGeom prst="rect">
            <a:avLst/>
          </a:prstGeom>
          <a:noFill/>
          <a:ln/>
        </p:spPr>
        <p:txBody>
          <a:bodyPr wrap="square" lIns="91440" tIns="45720" rIns="91440" bIns="45720" rtlCol="0" anchor="ctr"/>
          <a:lstStyle/>
          <a:p>
            <a:pPr marL="0" indent="0">
              <a:buNone/>
            </a:pPr>
            <a:r>
              <a:rPr lang="en-US" sz="1050" b="0" dirty="0">
                <a:solidFill>
                  <a:srgbClr val="1E293B"/>
                </a:solidFill>
                <a:latin typeface="Calibri"/>
              </a:rPr>
              <a:t>Dell Laptop</a:t>
            </a:r>
          </a:p>
        </p:txBody>
      </p:sp>
      <p:sp>
        <p:nvSpPr>
          <p:cNvPr id="193" name="R10sales"/>
          <p:cNvSpPr/>
          <p:nvPr/>
        </p:nvSpPr>
        <p:spPr>
          <a:xfrm>
            <a:off x="4777200" y="4848000"/>
            <a:ext cx="143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$663,000.00</a:t>
            </a:r>
          </a:p>
        </p:txBody>
      </p:sp>
      <p:sp>
        <p:nvSpPr>
          <p:cNvPr id="194" name="R10profit"/>
          <p:cNvSpPr/>
          <p:nvPr/>
        </p:nvSpPr>
        <p:spPr>
          <a:xfrm>
            <a:off x="6207200" y="4848000"/>
            <a:ext cx="130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$69,656.81</a:t>
            </a:r>
          </a:p>
        </p:txBody>
      </p:sp>
      <p:sp>
        <p:nvSpPr>
          <p:cNvPr id="195" name="R10orders"/>
          <p:cNvSpPr/>
          <p:nvPr/>
        </p:nvSpPr>
        <p:spPr>
          <a:xfrm>
            <a:off x="7507200" y="4848000"/>
            <a:ext cx="6200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442</a:t>
            </a:r>
          </a:p>
        </p:txBody>
      </p:sp>
      <p:sp>
        <p:nvSpPr>
          <p:cNvPr id="200" name="HAvgUV"/>
          <p:cNvSpPr/>
          <p:nvPr/>
        </p:nvSpPr>
        <p:spPr>
          <a:xfrm>
            <a:off x="8127200" y="1140000"/>
            <a:ext cx="879600" cy="360000"/>
          </a:xfrm>
          <a:prstGeom prst="rect">
            <a:avLst/>
          </a:prstGeom>
          <a:noFill/>
          <a:ln/>
        </p:spPr>
        <p:txBody>
          <a:bodyPr wrap="square" lIns="91440" tIns="45720" rIns="91440" bIns="45720" rtlCol="0" anchor="ctr"/>
          <a:lstStyle/>
          <a:p>
            <a:pPr marL="0" indent="0">
              <a:buNone/>
            </a:pPr>
            <a:r>
              <a:rPr lang="en-US" sz="1100" b="1" dirty="0">
                <a:solidFill>
                  <a:srgbClr val="FFFFFF"/>
                </a:solidFill>
                <a:latin typeface="Calibri"/>
              </a:rPr>
              <a:t>Avg Unit Value</a:t>
            </a:r>
          </a:p>
        </p:txBody>
      </p:sp>
      <p:sp>
        <p:nvSpPr>
          <p:cNvPr id="201" name="R1avg"/>
          <p:cNvSpPr/>
          <p:nvPr/>
        </p:nvSpPr>
        <p:spPr>
          <a:xfrm>
            <a:off x="8127200" y="1500000"/>
            <a:ext cx="8796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$399.98</a:t>
            </a:r>
          </a:p>
        </p:txBody>
      </p:sp>
      <p:sp>
        <p:nvSpPr>
          <p:cNvPr id="202" name="R2avg"/>
          <p:cNvSpPr/>
          <p:nvPr/>
        </p:nvSpPr>
        <p:spPr>
          <a:xfrm>
            <a:off x="8127200" y="1872000"/>
            <a:ext cx="8796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$59.99</a:t>
            </a:r>
          </a:p>
        </p:txBody>
      </p:sp>
      <p:sp>
        <p:nvSpPr>
          <p:cNvPr id="203" name="R3avg"/>
          <p:cNvSpPr/>
          <p:nvPr/>
        </p:nvSpPr>
        <p:spPr>
          <a:xfrm>
            <a:off x="8127200" y="2244000"/>
            <a:ext cx="8796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$299.98</a:t>
            </a:r>
          </a:p>
        </p:txBody>
      </p:sp>
      <p:sp>
        <p:nvSpPr>
          <p:cNvPr id="204" name="R4avg"/>
          <p:cNvSpPr/>
          <p:nvPr/>
        </p:nvSpPr>
        <p:spPr>
          <a:xfrm>
            <a:off x="8127200" y="2616000"/>
            <a:ext cx="8796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$99.99</a:t>
            </a:r>
          </a:p>
        </p:txBody>
      </p:sp>
      <p:sp>
        <p:nvSpPr>
          <p:cNvPr id="205" name="R5avg"/>
          <p:cNvSpPr/>
          <p:nvPr/>
        </p:nvSpPr>
        <p:spPr>
          <a:xfrm>
            <a:off x="8127200" y="2988000"/>
            <a:ext cx="8796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$50.00</a:t>
            </a:r>
          </a:p>
        </p:txBody>
      </p:sp>
      <p:sp>
        <p:nvSpPr>
          <p:cNvPr id="206" name="R6avg"/>
          <p:cNvSpPr/>
          <p:nvPr/>
        </p:nvSpPr>
        <p:spPr>
          <a:xfrm>
            <a:off x="8127200" y="3360000"/>
            <a:ext cx="8796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$199.99</a:t>
            </a:r>
          </a:p>
        </p:txBody>
      </p:sp>
      <p:sp>
        <p:nvSpPr>
          <p:cNvPr id="207" name="R7avg"/>
          <p:cNvSpPr/>
          <p:nvPr/>
        </p:nvSpPr>
        <p:spPr>
          <a:xfrm>
            <a:off x="8127200" y="3732000"/>
            <a:ext cx="8796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$129.99</a:t>
            </a:r>
          </a:p>
        </p:txBody>
      </p:sp>
      <p:sp>
        <p:nvSpPr>
          <p:cNvPr id="208" name="R8avg"/>
          <p:cNvSpPr/>
          <p:nvPr/>
        </p:nvSpPr>
        <p:spPr>
          <a:xfrm>
            <a:off x="8127200" y="4104000"/>
            <a:ext cx="8796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$49.98</a:t>
            </a:r>
          </a:p>
        </p:txBody>
      </p:sp>
      <p:sp>
        <p:nvSpPr>
          <p:cNvPr id="209" name="R9avg"/>
          <p:cNvSpPr/>
          <p:nvPr/>
        </p:nvSpPr>
        <p:spPr>
          <a:xfrm>
            <a:off x="8127200" y="4476000"/>
            <a:ext cx="879600" cy="372000"/>
          </a:xfrm>
          <a:prstGeom prst="rect">
            <a:avLst/>
          </a:prstGeom>
          <a:noFill/>
          <a:ln/>
        </p:spPr>
        <p:txBody>
          <a:bodyPr wrap="square" lIns="91440" tIns="45720" rIns="91440" bIns="45720" rtlCol="0" anchor="ctr"/>
          <a:lstStyle/>
          <a:p>
            <a:pPr marL="0" indent="0">
              <a:buNone/>
            </a:pPr>
            <a:r>
              <a:rPr lang="en-US" sz="1100" b="0" dirty="0">
                <a:solidFill>
                  <a:srgbClr val="1E293B"/>
                </a:solidFill>
                <a:latin typeface="Calibri"/>
              </a:rPr>
              <a:t>$39.99</a:t>
            </a:r>
          </a:p>
        </p:txBody>
      </p:sp>
      <p:sp>
        <p:nvSpPr>
          <p:cNvPr id="210" name="R10avg"/>
          <p:cNvSpPr/>
          <p:nvPr/>
        </p:nvSpPr>
        <p:spPr>
          <a:xfrm>
            <a:off x="8127200" y="4848000"/>
            <a:ext cx="879600" cy="372000"/>
          </a:xfrm>
          <a:prstGeom prst="rect">
            <a:avLst/>
          </a:prstGeom>
          <a:noFill/>
          <a:ln/>
        </p:spPr>
        <p:txBody>
          <a:bodyPr wrap="square" lIns="91440" tIns="45720" rIns="91440" bIns="45720" rtlCol="0" anchor="ctr"/>
          <a:lstStyle/>
          <a:p>
            <a:pPr marL="0" indent="0">
              <a:buNone/>
            </a:pPr>
            <a:r>
              <a:rPr lang="en-US" sz="1100" b="1" dirty="0">
                <a:solidFill>
                  <a:srgbClr val="065A82"/>
                </a:solidFill>
                <a:latin typeface="Calibri"/>
              </a:rPr>
              <a:t>$1,500.00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Title"/>
          <p:cNvSpPr/>
          <p:nvPr/>
        </p:nvSpPr>
        <p:spPr>
          <a:xfrm>
            <a:off x="457200" y="220000"/>
            <a:ext cx="8229600" cy="480000"/>
          </a:xfrm>
          <a:prstGeom prst="rect">
            <a:avLst/>
          </a:prstGeom>
          <a:noFill/>
          <a:ln/>
        </p:spPr>
        <p:txBody>
          <a:bodyPr wrap="square" rtlCol="0" anchor="ctr"/>
          <a:lstStyle/>
          <a:p>
            <a:pPr marL="0" indent="0">
              <a:buNone/>
            </a:pPr>
            <a:r>
              <a:rPr lang="en-US" sz="2800" b="1" dirty="0">
                <a:solidFill>
                  <a:srgbClr val="065A82"/>
                </a:solidFill>
                <a:latin typeface="Cambria" pitchFamily="34" charset="0"/>
              </a:rPr>
              <a:t>Key Insights — Top 10 Products</a:t>
            </a:r>
          </a:p>
        </p:txBody>
      </p:sp>
      <p:sp>
        <p:nvSpPr>
          <p:cNvPr id="3" name="Sub"/>
          <p:cNvSpPr/>
          <p:nvPr/>
        </p:nvSpPr>
        <p:spPr>
          <a:xfrm>
            <a:off x="457200" y="690000"/>
            <a:ext cx="8229600" cy="260000"/>
          </a:xfrm>
          <a:prstGeom prst="rect">
            <a:avLst/>
          </a:prstGeom>
          <a:noFill/>
          <a:ln/>
        </p:spPr>
        <p:txBody>
          <a:bodyPr wrap="square" rtlCol="0" anchor="ctr"/>
          <a:lstStyle/>
          <a:p>
            <a:pPr marL="0" indent="0">
              <a:buNone/>
            </a:pPr>
            <a:r>
              <a:rPr lang="en-US" sz="1300" dirty="0">
                <a:solidFill>
                  <a:srgbClr val="64748B"/>
                </a:solidFill>
                <a:latin typeface="Calibri" pitchFamily="34" charset="0"/>
              </a:rPr>
              <a:t>Strategic patterns derived from sales, profit, and order volume analysis</a:t>
            </a:r>
          </a:p>
        </p:txBody>
      </p:sp>
      <p:sp>
        <p:nvSpPr>
          <p:cNvPr id="10" name="C1bg"/>
          <p:cNvSpPr/>
          <p:nvPr/>
        </p:nvSpPr>
        <p:spPr>
          <a:xfrm>
            <a:off x="457200" y="1080000"/>
            <a:ext cx="2560080" cy="166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11" name="C1bar"/>
          <p:cNvSpPr/>
          <p:nvPr/>
        </p:nvSpPr>
        <p:spPr>
          <a:xfrm>
            <a:off x="457200" y="1080000"/>
            <a:ext cx="2560080" cy="140000"/>
          </a:xfrm>
          <a:prstGeom prst="roundRect">
            <a:avLst>
              <a:gd name="adj" fmla="val 8000"/>
            </a:avLst>
          </a:prstGeom>
          <a:solidFill>
            <a:srgbClr val="065A82"/>
          </a:solidFill>
          <a:ln>
            <a:noFill/>
          </a:ln>
        </p:spPr>
        <p:txBody>
          <a:bodyPr/>
          <a:lstStyle/>
          <a:p>
            <a:endParaRPr lang="en-US"/>
          </a:p>
        </p:txBody>
      </p:sp>
      <p:sp>
        <p:nvSpPr>
          <p:cNvPr id="12" name="C1num"/>
          <p:cNvSpPr/>
          <p:nvPr/>
        </p:nvSpPr>
        <p:spPr>
          <a:xfrm>
            <a:off x="510000" y="1260000"/>
            <a:ext cx="380000" cy="380000"/>
          </a:xfrm>
          <a:prstGeom prst="ellipse">
            <a:avLst/>
          </a:prstGeom>
          <a:solidFill>
            <a:srgbClr val="065A82"/>
          </a:solidFill>
          <a:ln>
            <a:noFill/>
          </a:ln>
        </p:spPr>
        <p:txBody>
          <a:bodyPr wrap="square" lIns="0" tIns="0" rIns="0" bIns="0" rtlCol="0" anchor="ctr"/>
          <a:lstStyle/>
          <a:p>
            <a:pPr algn="ctr">
              <a:buNone/>
            </a:pPr>
            <a:r>
              <a:rPr lang="en-US" sz="1400" b="1" dirty="0">
                <a:solidFill>
                  <a:srgbClr val="FFFFFF"/>
                </a:solidFill>
                <a:latin typeface="Cambria"/>
              </a:rPr>
              <a:t>1</a:t>
            </a:r>
          </a:p>
        </p:txBody>
      </p:sp>
      <p:sp>
        <p:nvSpPr>
          <p:cNvPr id="13" name="C1text"/>
          <p:cNvSpPr/>
          <p:nvPr/>
        </p:nvSpPr>
        <p:spPr>
          <a:xfrm>
            <a:off x="510000" y="1690000"/>
            <a:ext cx="2450000" cy="1000000"/>
          </a:xfrm>
          <a:prstGeom prst="rect">
            <a:avLst/>
          </a:prstGeom>
          <a:noFill/>
          <a:ln/>
        </p:spPr>
        <p:txBody>
          <a:bodyPr wrap="square" rtlCol="0" anchor="t"/>
          <a:lstStyle/>
          <a:p>
            <a:pPr marL="0" indent="0">
              <a:buNone/>
            </a:pPr>
            <a:r>
              <a:rPr lang="en-US" sz="1250" b="1" dirty="0">
                <a:solidFill>
                  <a:srgbClr val="065A82"/>
                </a:solidFill>
                <a:latin typeface="Cambria"/>
              </a:rPr>
              <a:t>Dominant High-Value Items</a:t>
            </a:r>
          </a:p>
          <a:p>
            <a:pPr marL="0" indent="0">
              <a:buNone/>
            </a:pPr>
            <a:endParaRPr lang="en-US" sz="900"/>
          </a:p>
          <a:p>
            <a:pPr marL="0" indent="0">
              <a:buNone/>
            </a:pPr>
            <a:r>
              <a:rPr lang="en-US" sz="1050" dirty="0">
                <a:solidFill>
                  <a:srgbClr val="1E293B"/>
                </a:solidFill>
                <a:latin typeface="Calibri"/>
              </a:rPr>
              <a:t>Field &amp; Stream Gun Safe ($6.93M) and Perfect Rip Deck ($4.42M) lead — high-ticket items are critical revenue drivers.</a:t>
            </a:r>
          </a:p>
        </p:txBody>
      </p:sp>
      <p:sp>
        <p:nvSpPr>
          <p:cNvPr id="20" name="C2bg"/>
          <p:cNvSpPr/>
          <p:nvPr/>
        </p:nvSpPr>
        <p:spPr>
          <a:xfrm>
            <a:off x="3108720" y="1080000"/>
            <a:ext cx="2560080" cy="1660000"/>
          </a:xfrm>
          <a:prstGeom prst="roundRect">
            <a:avLst>
              <a:gd name="adj" fmla="val 3000"/>
            </a:avLst>
          </a:prstGeom>
          <a:solidFill>
            <a:schemeClr val="accent1">
              <a:lumMod val="20000"/>
              <a:lumOff val="80000"/>
            </a:schemeClr>
          </a:solidFill>
          <a:ln>
            <a:noFill/>
          </a:ln>
          <a:effectLst>
            <a:outerShdw blurRad="76200" dist="25400" dir="2700000" algn="bl" rotWithShape="0">
              <a:srgbClr val="000000">
                <a:alpha val="10000"/>
              </a:srgbClr>
            </a:outerShdw>
          </a:effectLst>
        </p:spPr>
        <p:txBody>
          <a:bodyPr/>
          <a:lstStyle/>
          <a:p>
            <a:endParaRPr lang="en-US"/>
          </a:p>
        </p:txBody>
      </p:sp>
      <p:sp>
        <p:nvSpPr>
          <p:cNvPr id="21" name="C2bar"/>
          <p:cNvSpPr/>
          <p:nvPr/>
        </p:nvSpPr>
        <p:spPr>
          <a:xfrm>
            <a:off x="3108720" y="1080000"/>
            <a:ext cx="2560080" cy="140000"/>
          </a:xfrm>
          <a:prstGeom prst="roundRect">
            <a:avLst>
              <a:gd name="adj" fmla="val 8000"/>
            </a:avLst>
          </a:prstGeom>
          <a:solidFill>
            <a:srgbClr val="1C7293"/>
          </a:solidFill>
          <a:ln>
            <a:noFill/>
          </a:ln>
        </p:spPr>
        <p:txBody>
          <a:bodyPr/>
          <a:lstStyle/>
          <a:p>
            <a:endParaRPr lang="en-US"/>
          </a:p>
        </p:txBody>
      </p:sp>
      <p:sp>
        <p:nvSpPr>
          <p:cNvPr id="22" name="C2num"/>
          <p:cNvSpPr/>
          <p:nvPr/>
        </p:nvSpPr>
        <p:spPr>
          <a:xfrm>
            <a:off x="3161000" y="1260000"/>
            <a:ext cx="380000" cy="380000"/>
          </a:xfrm>
          <a:prstGeom prst="ellipse">
            <a:avLst/>
          </a:prstGeom>
          <a:solidFill>
            <a:srgbClr val="1C7293"/>
          </a:solidFill>
          <a:ln>
            <a:noFill/>
          </a:ln>
        </p:spPr>
        <p:txBody>
          <a:bodyPr wrap="square" lIns="0" tIns="0" rIns="0" bIns="0" rtlCol="0" anchor="ctr"/>
          <a:lstStyle/>
          <a:p>
            <a:pPr algn="ctr">
              <a:buNone/>
            </a:pPr>
            <a:r>
              <a:rPr lang="en-US" sz="1400" b="1" dirty="0">
                <a:solidFill>
                  <a:srgbClr val="FFFFFF"/>
                </a:solidFill>
                <a:latin typeface="Cambria"/>
              </a:rPr>
              <a:t>2</a:t>
            </a:r>
          </a:p>
        </p:txBody>
      </p:sp>
      <p:sp>
        <p:nvSpPr>
          <p:cNvPr id="23" name="C2text"/>
          <p:cNvSpPr/>
          <p:nvPr/>
        </p:nvSpPr>
        <p:spPr>
          <a:xfrm>
            <a:off x="3161000" y="1690000"/>
            <a:ext cx="2450000" cy="1000000"/>
          </a:xfrm>
          <a:prstGeom prst="rect">
            <a:avLst/>
          </a:prstGeom>
          <a:noFill/>
          <a:ln/>
        </p:spPr>
        <p:txBody>
          <a:bodyPr wrap="square" rtlCol="0" anchor="t"/>
          <a:lstStyle/>
          <a:p>
            <a:pPr marL="0" indent="0">
              <a:buNone/>
            </a:pPr>
            <a:r>
              <a:rPr lang="en-US" sz="1250" b="1" dirty="0">
                <a:solidFill>
                  <a:srgbClr val="1C7293"/>
                </a:solidFill>
                <a:latin typeface="Cambria"/>
              </a:rPr>
              <a:t>Consistent Profitability</a:t>
            </a:r>
          </a:p>
          <a:p>
            <a:pPr marL="0" indent="0">
              <a:buNone/>
            </a:pPr>
            <a:endParaRPr lang="en-US" sz="900" dirty="0"/>
          </a:p>
          <a:p>
            <a:pPr marL="0" indent="0">
              <a:buNone/>
            </a:pPr>
            <a:r>
              <a:rPr lang="en-US" sz="1050" dirty="0">
                <a:solidFill>
                  <a:srgbClr val="1E293B"/>
                </a:solidFill>
                <a:latin typeface="Calibri"/>
              </a:rPr>
              <a:t>High sales consistently correlate with high profit — indicating effective pricing and cost management across popular items.</a:t>
            </a:r>
          </a:p>
        </p:txBody>
      </p:sp>
      <p:sp>
        <p:nvSpPr>
          <p:cNvPr id="30" name="C3bg"/>
          <p:cNvSpPr/>
          <p:nvPr/>
        </p:nvSpPr>
        <p:spPr>
          <a:xfrm>
            <a:off x="5760240" y="1080000"/>
            <a:ext cx="2560080" cy="1660000"/>
          </a:xfrm>
          <a:prstGeom prst="roundRect">
            <a:avLst>
              <a:gd name="adj" fmla="val 3000"/>
            </a:avLst>
          </a:prstGeom>
          <a:solidFill>
            <a:schemeClr val="accent4">
              <a:lumMod val="20000"/>
              <a:lumOff val="80000"/>
            </a:schemeClr>
          </a:solidFill>
          <a:ln>
            <a:noFill/>
          </a:ln>
          <a:effectLst>
            <a:outerShdw blurRad="76200" dist="25400" dir="2700000" algn="bl" rotWithShape="0">
              <a:srgbClr val="000000">
                <a:alpha val="10000"/>
              </a:srgbClr>
            </a:outerShdw>
          </a:effectLst>
        </p:spPr>
        <p:txBody>
          <a:bodyPr/>
          <a:lstStyle/>
          <a:p>
            <a:endParaRPr lang="en-US"/>
          </a:p>
        </p:txBody>
      </p:sp>
      <p:sp>
        <p:nvSpPr>
          <p:cNvPr id="31" name="C3bar"/>
          <p:cNvSpPr/>
          <p:nvPr/>
        </p:nvSpPr>
        <p:spPr>
          <a:xfrm>
            <a:off x="5760240" y="1080000"/>
            <a:ext cx="2560080" cy="140000"/>
          </a:xfrm>
          <a:prstGeom prst="roundRect">
            <a:avLst>
              <a:gd name="adj" fmla="val 8000"/>
            </a:avLst>
          </a:prstGeom>
          <a:solidFill>
            <a:srgbClr val="21295C"/>
          </a:solidFill>
          <a:ln>
            <a:noFill/>
          </a:ln>
        </p:spPr>
        <p:txBody>
          <a:bodyPr/>
          <a:lstStyle/>
          <a:p>
            <a:endParaRPr lang="en-US"/>
          </a:p>
        </p:txBody>
      </p:sp>
      <p:sp>
        <p:nvSpPr>
          <p:cNvPr id="32" name="C3num"/>
          <p:cNvSpPr/>
          <p:nvPr/>
        </p:nvSpPr>
        <p:spPr>
          <a:xfrm>
            <a:off x="5812000" y="1260000"/>
            <a:ext cx="380000" cy="380000"/>
          </a:xfrm>
          <a:prstGeom prst="ellipse">
            <a:avLst/>
          </a:prstGeom>
          <a:solidFill>
            <a:srgbClr val="21295C"/>
          </a:solidFill>
          <a:ln>
            <a:noFill/>
          </a:ln>
        </p:spPr>
        <p:txBody>
          <a:bodyPr wrap="square" lIns="0" tIns="0" rIns="0" bIns="0" rtlCol="0" anchor="ctr"/>
          <a:lstStyle/>
          <a:p>
            <a:pPr algn="ctr">
              <a:buNone/>
            </a:pPr>
            <a:r>
              <a:rPr lang="en-US" sz="1400" b="1" dirty="0">
                <a:solidFill>
                  <a:srgbClr val="FFFFFF"/>
                </a:solidFill>
                <a:latin typeface="Cambria"/>
              </a:rPr>
              <a:t>3</a:t>
            </a:r>
          </a:p>
        </p:txBody>
      </p:sp>
      <p:sp>
        <p:nvSpPr>
          <p:cNvPr id="33" name="C3text"/>
          <p:cNvSpPr/>
          <p:nvPr/>
        </p:nvSpPr>
        <p:spPr>
          <a:xfrm>
            <a:off x="5812000" y="1690000"/>
            <a:ext cx="2450000" cy="1000000"/>
          </a:xfrm>
          <a:prstGeom prst="rect">
            <a:avLst/>
          </a:prstGeom>
          <a:noFill/>
          <a:ln/>
        </p:spPr>
        <p:txBody>
          <a:bodyPr wrap="square" rtlCol="0" anchor="t"/>
          <a:lstStyle/>
          <a:p>
            <a:pPr marL="0" indent="0">
              <a:buNone/>
            </a:pPr>
            <a:r>
              <a:rPr lang="en-US" sz="1250" b="1" dirty="0">
                <a:solidFill>
                  <a:srgbClr val="21295C"/>
                </a:solidFill>
                <a:latin typeface="Cambria"/>
              </a:rPr>
              <a:t>Sales vs. Order Volume</a:t>
            </a:r>
          </a:p>
          <a:p>
            <a:pPr marL="0" indent="0">
              <a:buNone/>
            </a:pPr>
            <a:endParaRPr lang="en-US" sz="900" dirty="0"/>
          </a:p>
          <a:p>
            <a:r>
              <a:rPr lang="en-US" sz="1050" dirty="0">
                <a:solidFill>
                  <a:srgbClr val="1E293B"/>
                </a:solidFill>
                <a:latin typeface="Calibri"/>
              </a:rPr>
              <a:t>Gun Safe wins on unit value (15K orders), </a:t>
            </a:r>
            <a:r>
              <a:rPr lang="en-US" sz="1050" dirty="0">
                <a:solidFill>
                  <a:srgbClr val="1E293B"/>
                </a:solidFill>
              </a:rPr>
              <a:t>Rip Deck</a:t>
            </a:r>
            <a:r>
              <a:rPr lang="en-US" sz="1050" dirty="0">
                <a:solidFill>
                  <a:srgbClr val="1E293B"/>
                </a:solidFill>
                <a:latin typeface="Calibri"/>
              </a:rPr>
              <a:t> wins on volume (20K orders) — two distinct revenue models.</a:t>
            </a:r>
          </a:p>
        </p:txBody>
      </p:sp>
      <p:sp>
        <p:nvSpPr>
          <p:cNvPr id="40" name="C4bg"/>
          <p:cNvSpPr/>
          <p:nvPr/>
        </p:nvSpPr>
        <p:spPr>
          <a:xfrm>
            <a:off x="457200" y="2870000"/>
            <a:ext cx="3900000" cy="166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41" name="C4bar"/>
          <p:cNvSpPr/>
          <p:nvPr/>
        </p:nvSpPr>
        <p:spPr>
          <a:xfrm>
            <a:off x="457200" y="2870000"/>
            <a:ext cx="3900000" cy="140000"/>
          </a:xfrm>
          <a:prstGeom prst="roundRect">
            <a:avLst>
              <a:gd name="adj" fmla="val 8000"/>
            </a:avLst>
          </a:prstGeom>
          <a:solidFill>
            <a:srgbClr val="028090"/>
          </a:solidFill>
          <a:ln>
            <a:noFill/>
          </a:ln>
        </p:spPr>
        <p:txBody>
          <a:bodyPr/>
          <a:lstStyle/>
          <a:p>
            <a:endParaRPr lang="en-US"/>
          </a:p>
        </p:txBody>
      </p:sp>
      <p:sp>
        <p:nvSpPr>
          <p:cNvPr id="42" name="C4num"/>
          <p:cNvSpPr/>
          <p:nvPr/>
        </p:nvSpPr>
        <p:spPr>
          <a:xfrm>
            <a:off x="510000" y="3050000"/>
            <a:ext cx="380000" cy="380000"/>
          </a:xfrm>
          <a:prstGeom prst="ellipse">
            <a:avLst/>
          </a:prstGeom>
          <a:solidFill>
            <a:srgbClr val="028090"/>
          </a:solidFill>
          <a:ln>
            <a:noFill/>
          </a:ln>
        </p:spPr>
        <p:txBody>
          <a:bodyPr wrap="square" lIns="0" tIns="0" rIns="0" bIns="0" rtlCol="0" anchor="ctr"/>
          <a:lstStyle/>
          <a:p>
            <a:pPr algn="ctr">
              <a:buNone/>
            </a:pPr>
            <a:r>
              <a:rPr lang="en-US" sz="1400" b="1" dirty="0">
                <a:solidFill>
                  <a:srgbClr val="FFFFFF"/>
                </a:solidFill>
                <a:latin typeface="Cambria"/>
              </a:rPr>
              <a:t>4</a:t>
            </a:r>
          </a:p>
        </p:txBody>
      </p:sp>
      <p:sp>
        <p:nvSpPr>
          <p:cNvPr id="43" name="C4text"/>
          <p:cNvSpPr/>
          <p:nvPr/>
        </p:nvSpPr>
        <p:spPr>
          <a:xfrm>
            <a:off x="510000" y="3480000"/>
            <a:ext cx="3790000" cy="1000000"/>
          </a:xfrm>
          <a:prstGeom prst="rect">
            <a:avLst/>
          </a:prstGeom>
          <a:noFill/>
          <a:ln/>
        </p:spPr>
        <p:txBody>
          <a:bodyPr wrap="square" rtlCol="0" anchor="t"/>
          <a:lstStyle/>
          <a:p>
            <a:pPr marL="0" indent="0">
              <a:buNone/>
            </a:pPr>
            <a:r>
              <a:rPr lang="en-US" sz="1250" b="1" dirty="0">
                <a:solidFill>
                  <a:srgbClr val="028090"/>
                </a:solidFill>
                <a:latin typeface="Cambria"/>
              </a:rPr>
              <a:t>Strategic Importance of Core Products</a:t>
            </a:r>
          </a:p>
          <a:p>
            <a:pPr marL="0" indent="0">
              <a:buNone/>
            </a:pPr>
            <a:endParaRPr lang="en-US" sz="900"/>
          </a:p>
          <a:p>
            <a:pPr marL="0" indent="0">
              <a:buNone/>
            </a:pPr>
            <a:r>
              <a:rPr lang="en-US" sz="1050" dirty="0">
                <a:solidFill>
                  <a:srgbClr val="1E293B"/>
                </a:solidFill>
                <a:latin typeface="Calibri"/>
              </a:rPr>
              <a:t>Nike footwear, Pelican kayaks, and O’Brien life vests are consistently strong performers — reliable revenue anchors that require continued inventory and marketing support.</a:t>
            </a:r>
          </a:p>
        </p:txBody>
      </p:sp>
      <p:sp>
        <p:nvSpPr>
          <p:cNvPr id="50" name="C5bg"/>
          <p:cNvSpPr/>
          <p:nvPr/>
        </p:nvSpPr>
        <p:spPr>
          <a:xfrm>
            <a:off x="4448640" y="2870000"/>
            <a:ext cx="3900000" cy="1660000"/>
          </a:xfrm>
          <a:prstGeom prst="roundRect">
            <a:avLst>
              <a:gd name="adj" fmla="val 3000"/>
            </a:avLst>
          </a:prstGeom>
          <a:solidFill>
            <a:srgbClr val="065A82"/>
          </a:solidFill>
          <a:ln>
            <a:noFill/>
          </a:ln>
          <a:effectLst>
            <a:outerShdw blurRad="76200" dist="25400" dir="2700000" algn="bl" rotWithShape="0">
              <a:srgbClr val="000000">
                <a:alpha val="15000"/>
              </a:srgbClr>
            </a:outerShdw>
          </a:effectLst>
        </p:spPr>
        <p:txBody>
          <a:bodyPr/>
          <a:lstStyle/>
          <a:p>
            <a:endParaRPr lang="en-US"/>
          </a:p>
        </p:txBody>
      </p:sp>
      <p:sp>
        <p:nvSpPr>
          <p:cNvPr id="52" name="C5num"/>
          <p:cNvSpPr/>
          <p:nvPr/>
        </p:nvSpPr>
        <p:spPr>
          <a:xfrm>
            <a:off x="4501000" y="3050000"/>
            <a:ext cx="380000" cy="380000"/>
          </a:xfrm>
          <a:prstGeom prst="ellipse">
            <a:avLst/>
          </a:prstGeom>
          <a:solidFill>
            <a:srgbClr val="FFFFFF"/>
          </a:solidFill>
          <a:ln>
            <a:noFill/>
          </a:ln>
        </p:spPr>
        <p:txBody>
          <a:bodyPr wrap="square" lIns="0" tIns="0" rIns="0" bIns="0" rtlCol="0" anchor="ctr"/>
          <a:lstStyle/>
          <a:p>
            <a:pPr algn="ctr">
              <a:buNone/>
            </a:pPr>
            <a:r>
              <a:rPr lang="en-US" sz="1400" b="1" dirty="0">
                <a:solidFill>
                  <a:srgbClr val="065A82"/>
                </a:solidFill>
                <a:latin typeface="Cambria"/>
              </a:rPr>
              <a:t>5</a:t>
            </a:r>
          </a:p>
        </p:txBody>
      </p:sp>
      <p:sp>
        <p:nvSpPr>
          <p:cNvPr id="53" name="C5text"/>
          <p:cNvSpPr/>
          <p:nvPr/>
        </p:nvSpPr>
        <p:spPr>
          <a:xfrm>
            <a:off x="4501000" y="3480000"/>
            <a:ext cx="3790000" cy="1000000"/>
          </a:xfrm>
          <a:prstGeom prst="rect">
            <a:avLst/>
          </a:prstGeom>
          <a:noFill/>
          <a:ln/>
        </p:spPr>
        <p:txBody>
          <a:bodyPr wrap="square" rtlCol="0" anchor="t"/>
          <a:lstStyle/>
          <a:p>
            <a:pPr marL="0" indent="0">
              <a:buNone/>
            </a:pPr>
            <a:r>
              <a:rPr lang="en-US" sz="1250" b="1" dirty="0">
                <a:solidFill>
                  <a:srgbClr val="FFFFFF"/>
                </a:solidFill>
                <a:latin typeface="Cambria"/>
              </a:rPr>
              <a:t>Potential for Category Deep Dive</a:t>
            </a:r>
          </a:p>
          <a:p>
            <a:pPr marL="0" indent="0">
              <a:buNone/>
            </a:pPr>
            <a:endParaRPr lang="en-US" sz="900"/>
          </a:p>
          <a:p>
            <a:pPr marL="0" indent="0">
              <a:buNone/>
            </a:pPr>
            <a:r>
              <a:rPr lang="en-US" sz="1050" dirty="0">
                <a:solidFill>
                  <a:srgbClr val="CADCFC"/>
                </a:solidFill>
                <a:latin typeface="Calibri"/>
              </a:rPr>
              <a:t>The diversity of top products points to an opportunity for deeper category-level analysis to uncover broader market trends and category-specific growth strategies.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C7B2BA4-478D-15EB-14D4-18ED51D3C39F}"/>
              </a:ext>
            </a:extLst>
          </p:cNvPr>
          <p:cNvSpPr/>
          <p:nvPr/>
        </p:nvSpPr>
        <p:spPr>
          <a:xfrm>
            <a:off x="457200" y="200000"/>
            <a:ext cx="8229600" cy="420000"/>
          </a:xfrm>
          <a:prstGeom prst="rect">
            <a:avLst/>
          </a:prstGeom>
          <a:noFill/>
          <a:ln/>
        </p:spPr>
        <p:txBody>
          <a:bodyPr wrap="square" lIns="60000" tIns="60000" rIns="0" bIns="0" rtlCol="0" anchor="ctr"/>
          <a:lstStyle/>
          <a:p>
            <a:pPr marL="0" indent="0">
              <a:buNone/>
            </a:pPr>
            <a:r>
              <a:rPr lang="en-US" sz="2000" b="1" dirty="0">
                <a:solidFill>
                  <a:srgbClr val="065A82"/>
                </a:solidFill>
                <a:latin typeface="Cambria"/>
              </a:rPr>
              <a:t>Correlation between Total Sales and Total Profit</a:t>
            </a:r>
          </a:p>
        </p:txBody>
      </p:sp>
      <p:pic>
        <p:nvPicPr>
          <p:cNvPr id="7" name="Picture 6">
            <a:extLst>
              <a:ext uri="{FF2B5EF4-FFF2-40B4-BE49-F238E27FC236}">
                <a16:creationId xmlns:a16="http://schemas.microsoft.com/office/drawing/2014/main" id="{1AA8DE72-5215-D394-CF86-05F84D3A842D}"/>
              </a:ext>
            </a:extLst>
          </p:cNvPr>
          <p:cNvPicPr>
            <a:picLocks noChangeAspect="1"/>
          </p:cNvPicPr>
          <p:nvPr/>
        </p:nvPicPr>
        <p:blipFill>
          <a:blip r:embed="rId2"/>
          <a:stretch>
            <a:fillRect/>
          </a:stretch>
        </p:blipFill>
        <p:spPr>
          <a:xfrm>
            <a:off x="1234440" y="1700506"/>
            <a:ext cx="5058964" cy="3418934"/>
          </a:xfrm>
          <a:prstGeom prst="rect">
            <a:avLst/>
          </a:prstGeom>
        </p:spPr>
      </p:pic>
      <p:sp>
        <p:nvSpPr>
          <p:cNvPr id="11" name="C2bg">
            <a:extLst>
              <a:ext uri="{FF2B5EF4-FFF2-40B4-BE49-F238E27FC236}">
                <a16:creationId xmlns:a16="http://schemas.microsoft.com/office/drawing/2014/main" id="{B69C2BA2-7A88-9A57-0124-1BE2745D4BD7}"/>
              </a:ext>
            </a:extLst>
          </p:cNvPr>
          <p:cNvSpPr/>
          <p:nvPr/>
        </p:nvSpPr>
        <p:spPr>
          <a:xfrm>
            <a:off x="548640" y="736170"/>
            <a:ext cx="6244046" cy="848168"/>
          </a:xfrm>
          <a:prstGeom prst="roundRect">
            <a:avLst>
              <a:gd name="adj" fmla="val 3000"/>
            </a:avLst>
          </a:prstGeom>
          <a:solidFill>
            <a:schemeClr val="accent1">
              <a:lumMod val="20000"/>
              <a:lumOff val="80000"/>
            </a:schemeClr>
          </a:solidFill>
          <a:ln>
            <a:noFill/>
          </a:ln>
          <a:effectLst>
            <a:outerShdw blurRad="76200" dist="25400" dir="2700000" algn="bl" rotWithShape="0">
              <a:srgbClr val="000000">
                <a:alpha val="10000"/>
              </a:srgbClr>
            </a:outerShdw>
          </a:effectLst>
        </p:spPr>
        <p:txBody>
          <a:bodyPr/>
          <a:lstStyle/>
          <a:p>
            <a:r>
              <a:rPr lang="en-SG" sz="1050" dirty="0">
                <a:solidFill>
                  <a:srgbClr val="1F1F1F"/>
                </a:solidFill>
                <a:latin typeface="Cambria" panose="02040503050406030204" pitchFamily="18" charset="0"/>
                <a:ea typeface="Cambria" panose="02040503050406030204" pitchFamily="18" charset="0"/>
              </a:rPr>
              <a:t>The scatter plot above visually confirms a strong positive correlation between Total Sales and Total Profit. The upward-sloping regression line indicates that as Total Sales increase, Total Profit also tends to increase. This supports the observation that for most products, effective pricing and cost management are in place, leading to higher profitability as sales volume grows.</a:t>
            </a:r>
            <a:endParaRPr lang="en-SG" sz="1050" dirty="0">
              <a:latin typeface="Cambria" panose="02040503050406030204" pitchFamily="18" charset="0"/>
              <a:ea typeface="Cambria" panose="02040503050406030204" pitchFamily="18" charset="0"/>
            </a:endParaRPr>
          </a:p>
        </p:txBody>
      </p:sp>
      <p:sp>
        <p:nvSpPr>
          <p:cNvPr id="13" name="C2bar">
            <a:extLst>
              <a:ext uri="{FF2B5EF4-FFF2-40B4-BE49-F238E27FC236}">
                <a16:creationId xmlns:a16="http://schemas.microsoft.com/office/drawing/2014/main" id="{CC7A7262-C5CC-F638-6456-D73AA22A8F4E}"/>
              </a:ext>
            </a:extLst>
          </p:cNvPr>
          <p:cNvSpPr/>
          <p:nvPr/>
        </p:nvSpPr>
        <p:spPr>
          <a:xfrm>
            <a:off x="548640" y="608085"/>
            <a:ext cx="6244046" cy="128084"/>
          </a:xfrm>
          <a:prstGeom prst="roundRect">
            <a:avLst>
              <a:gd name="adj" fmla="val 8000"/>
            </a:avLst>
          </a:prstGeom>
          <a:solidFill>
            <a:srgbClr val="1C7293"/>
          </a:solidFill>
          <a:ln>
            <a:noFill/>
          </a:ln>
        </p:spPr>
        <p:txBody>
          <a:bodyPr/>
          <a:lstStyle/>
          <a:p>
            <a:endParaRPr lang="en-US"/>
          </a:p>
        </p:txBody>
      </p:sp>
    </p:spTree>
    <p:extLst>
      <p:ext uri="{BB962C8B-B14F-4D97-AF65-F5344CB8AC3E}">
        <p14:creationId xmlns:p14="http://schemas.microsoft.com/office/powerpoint/2010/main" val="2695330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Title"/>
          <p:cNvSpPr/>
          <p:nvPr/>
        </p:nvSpPr>
        <p:spPr>
          <a:xfrm>
            <a:off x="457200" y="200000"/>
            <a:ext cx="8229600" cy="420000"/>
          </a:xfrm>
          <a:prstGeom prst="rect">
            <a:avLst/>
          </a:prstGeom>
          <a:noFill/>
          <a:ln/>
        </p:spPr>
        <p:txBody>
          <a:bodyPr wrap="square" lIns="60000" tIns="60000" rIns="0" bIns="0" rtlCol="0" anchor="ctr"/>
          <a:lstStyle/>
          <a:p>
            <a:pPr marL="0" indent="0">
              <a:buNone/>
            </a:pPr>
            <a:r>
              <a:rPr lang="en-US" sz="2000" b="1" dirty="0">
                <a:solidFill>
                  <a:srgbClr val="065A82"/>
                </a:solidFill>
                <a:latin typeface="Cambria"/>
              </a:rPr>
              <a:t>Two Revenue Models - Findings and Strategic Recommendations</a:t>
            </a:r>
          </a:p>
        </p:txBody>
      </p:sp>
      <p:sp>
        <p:nvSpPr>
          <p:cNvPr id="3" name="Sub"/>
          <p:cNvSpPr/>
          <p:nvPr/>
        </p:nvSpPr>
        <p:spPr>
          <a:xfrm>
            <a:off x="457200" y="680000"/>
            <a:ext cx="8229600" cy="250000"/>
          </a:xfrm>
          <a:prstGeom prst="rect">
            <a:avLst/>
          </a:prstGeom>
          <a:noFill/>
          <a:ln/>
        </p:spPr>
        <p:txBody>
          <a:bodyPr wrap="square" lIns="60000" tIns="60000" rIns="0" bIns="0" rtlCol="0" anchor="ctr"/>
          <a:lstStyle/>
          <a:p>
            <a:pPr marL="0" indent="0">
              <a:buNone/>
            </a:pPr>
            <a:r>
              <a:rPr lang="en-US" sz="1300" b="0" dirty="0">
                <a:solidFill>
                  <a:srgbClr val="64748B"/>
                </a:solidFill>
                <a:latin typeface="Calibri"/>
              </a:rPr>
              <a:t>Derived from Top 10 Products analysis - Slide 9 data</a:t>
            </a:r>
          </a:p>
        </p:txBody>
      </p:sp>
      <p:sp>
        <p:nvSpPr>
          <p:cNvPr id="10" name="AHdr"/>
          <p:cNvSpPr/>
          <p:nvPr/>
        </p:nvSpPr>
        <p:spPr>
          <a:xfrm>
            <a:off x="457200" y="1000000"/>
            <a:ext cx="3931920" cy="510000"/>
          </a:xfrm>
          <a:prstGeom prst="roundRect">
            <a:avLst>
              <a:gd name="adj" fmla="val 3000"/>
            </a:avLst>
          </a:prstGeom>
          <a:solidFill>
            <a:srgbClr val="065A82"/>
          </a:solidFill>
          <a:ln>
            <a:noFill/>
          </a:ln>
        </p:spPr>
        <p:txBody>
          <a:bodyPr/>
          <a:lstStyle/>
          <a:p>
            <a:endParaRPr lang="en-US"/>
          </a:p>
        </p:txBody>
      </p:sp>
      <p:sp>
        <p:nvSpPr>
          <p:cNvPr id="11" name="AHdrT"/>
          <p:cNvSpPr/>
          <p:nvPr/>
        </p:nvSpPr>
        <p:spPr>
          <a:xfrm>
            <a:off x="597200" y="1040000"/>
            <a:ext cx="3751920" cy="490000"/>
          </a:xfrm>
          <a:prstGeom prst="rect">
            <a:avLst/>
          </a:prstGeom>
          <a:noFill/>
          <a:ln/>
        </p:spPr>
        <p:txBody>
          <a:bodyPr wrap="square" lIns="60000" tIns="60000" rIns="0" bIns="0" rtlCol="0" anchor="ctr"/>
          <a:lstStyle/>
          <a:p>
            <a:pPr marL="0" indent="0">
              <a:buNone/>
            </a:pPr>
            <a:r>
              <a:rPr lang="en-US" sz="1100" b="0" dirty="0">
                <a:solidFill>
                  <a:srgbClr val="CADCFC"/>
                </a:solidFill>
                <a:latin typeface="Calibri"/>
              </a:rPr>
              <a:t>MODEL A   |   </a:t>
            </a:r>
            <a:r>
              <a:rPr lang="en-US" sz="1700" b="1" dirty="0">
                <a:solidFill>
                  <a:srgbClr val="FFFFFF"/>
                </a:solidFill>
                <a:latin typeface="Cambria"/>
              </a:rPr>
              <a:t>High Unit Value</a:t>
            </a:r>
          </a:p>
          <a:p>
            <a:pPr marL="0" indent="0">
              <a:buNone/>
            </a:pPr>
            <a:r>
              <a:rPr lang="en-US" sz="1000" b="0" dirty="0">
                <a:solidFill>
                  <a:srgbClr val="CADCFC"/>
                </a:solidFill>
                <a:latin typeface="Calibri"/>
              </a:rPr>
              <a:t>Field and Stream Gun Safe  |  $399.98/unit  |  15,164 orders  |  $6.93M</a:t>
            </a:r>
          </a:p>
        </p:txBody>
      </p:sp>
      <p:sp>
        <p:nvSpPr>
          <p:cNvPr id="12" name="AFBg"/>
          <p:cNvSpPr/>
          <p:nvPr/>
        </p:nvSpPr>
        <p:spPr>
          <a:xfrm>
            <a:off x="457200" y="1590000"/>
            <a:ext cx="3931920" cy="1760000"/>
          </a:xfrm>
          <a:prstGeom prst="roundRect">
            <a:avLst>
              <a:gd name="adj" fmla="val 2000"/>
            </a:avLst>
          </a:prstGeom>
          <a:solidFill>
            <a:srgbClr val="FFFFFF"/>
          </a:solidFill>
          <a:ln>
            <a:noFill/>
          </a:ln>
          <a:effectLst>
            <a:outerShdw blurRad="50800" dist="12700" dir="2700000" algn="bl" rotWithShape="0">
              <a:srgbClr val="000000">
                <a:alpha val="10000"/>
              </a:srgbClr>
            </a:outerShdw>
          </a:effectLst>
        </p:spPr>
        <p:txBody>
          <a:bodyPr/>
          <a:lstStyle/>
          <a:p>
            <a:endParaRPr lang="en-US"/>
          </a:p>
        </p:txBody>
      </p:sp>
      <p:sp>
        <p:nvSpPr>
          <p:cNvPr id="13" name="AFBar"/>
          <p:cNvSpPr/>
          <p:nvPr/>
        </p:nvSpPr>
        <p:spPr>
          <a:xfrm>
            <a:off x="457200" y="1590000"/>
            <a:ext cx="55000" cy="1760000"/>
          </a:xfrm>
          <a:prstGeom prst="roundRect">
            <a:avLst>
              <a:gd name="adj" fmla="val 2000"/>
            </a:avLst>
          </a:prstGeom>
          <a:solidFill>
            <a:srgbClr val="065A82"/>
          </a:solidFill>
          <a:ln>
            <a:noFill/>
          </a:ln>
        </p:spPr>
        <p:txBody>
          <a:bodyPr/>
          <a:lstStyle/>
          <a:p>
            <a:endParaRPr lang="en-US"/>
          </a:p>
        </p:txBody>
      </p:sp>
      <p:sp>
        <p:nvSpPr>
          <p:cNvPr id="14" name="AFTxt"/>
          <p:cNvSpPr/>
          <p:nvPr/>
        </p:nvSpPr>
        <p:spPr>
          <a:xfrm>
            <a:off x="584700" y="1560000"/>
            <a:ext cx="3776920" cy="1840000"/>
          </a:xfrm>
          <a:prstGeom prst="rect">
            <a:avLst/>
          </a:prstGeom>
          <a:noFill/>
          <a:ln/>
        </p:spPr>
        <p:txBody>
          <a:bodyPr wrap="square" lIns="60000" tIns="60000" rIns="0" bIns="0" rtlCol="0" anchor="t"/>
          <a:lstStyle/>
          <a:p>
            <a:pPr marL="0" indent="0">
              <a:buNone/>
            </a:pPr>
            <a:r>
              <a:rPr lang="en-US" sz="1200" b="1" dirty="0">
                <a:solidFill>
                  <a:srgbClr val="065A82"/>
                </a:solidFill>
                <a:latin typeface="Cambria"/>
              </a:rPr>
              <a:t>Key Findings</a:t>
            </a:r>
          </a:p>
          <a:p>
            <a:endParaRPr lang="en-US" sz="400" dirty="0"/>
          </a:p>
          <a:p>
            <a:pPr marL="0" indent="0">
              <a:buNone/>
            </a:pPr>
            <a:r>
              <a:rPr lang="en-US" sz="1050" b="1" dirty="0">
                <a:solidFill>
                  <a:srgbClr val="065A82"/>
                </a:solidFill>
                <a:latin typeface="Calibri"/>
              </a:rPr>
              <a:t>- </a:t>
            </a:r>
            <a:r>
              <a:rPr lang="en-US" sz="1050" b="1" dirty="0">
                <a:solidFill>
                  <a:srgbClr val="1E293B"/>
                </a:solidFill>
                <a:latin typeface="Calibri"/>
              </a:rPr>
              <a:t>Revenue through premium pricing, not scale.</a:t>
            </a:r>
          </a:p>
          <a:p>
            <a:pPr marL="0" indent="0">
              <a:buNone/>
            </a:pPr>
            <a:r>
              <a:rPr lang="en-US" sz="950" b="0" dirty="0">
                <a:solidFill>
                  <a:srgbClr val="64748B"/>
                </a:solidFill>
                <a:latin typeface="Calibri"/>
              </a:rPr>
              <a:t>  $399.98/unit is 6.7x higher than Rip Deck. $6.93M from just 15K orders - fewer fulfilment transactions needed.</a:t>
            </a:r>
          </a:p>
          <a:p>
            <a:endParaRPr lang="en-US" sz="400" dirty="0"/>
          </a:p>
          <a:p>
            <a:pPr marL="0" indent="0">
              <a:buNone/>
            </a:pPr>
            <a:r>
              <a:rPr lang="en-US" sz="1050" b="1" dirty="0">
                <a:solidFill>
                  <a:srgbClr val="065A82"/>
                </a:solidFill>
                <a:latin typeface="Calibri"/>
              </a:rPr>
              <a:t>- </a:t>
            </a:r>
            <a:r>
              <a:rPr lang="en-US" sz="1050" b="1" dirty="0">
                <a:solidFill>
                  <a:srgbClr val="1E293B"/>
                </a:solidFill>
                <a:latin typeface="Calibri"/>
              </a:rPr>
              <a:t>Stronger per-transaction profit impact.</a:t>
            </a:r>
          </a:p>
          <a:p>
            <a:pPr marL="0" indent="0">
              <a:buNone/>
            </a:pPr>
            <a:r>
              <a:rPr lang="en-US" sz="950" b="0" dirty="0">
                <a:solidFill>
                  <a:srgbClr val="64748B"/>
                </a:solidFill>
                <a:latin typeface="Calibri"/>
              </a:rPr>
              <a:t>  $756K profit at 10.9% margin. Premium buyers show low price sensitivity - protecting margins.</a:t>
            </a:r>
          </a:p>
          <a:p>
            <a:endParaRPr lang="en-US" sz="400" dirty="0"/>
          </a:p>
          <a:p>
            <a:pPr marL="0" indent="0">
              <a:buNone/>
            </a:pPr>
            <a:r>
              <a:rPr lang="en-US" sz="1050" b="1" dirty="0">
                <a:solidFill>
                  <a:srgbClr val="065A82"/>
                </a:solidFill>
                <a:latin typeface="Calibri"/>
              </a:rPr>
              <a:t>- </a:t>
            </a:r>
            <a:r>
              <a:rPr lang="en-US" sz="1050" b="1" dirty="0">
                <a:solidFill>
                  <a:srgbClr val="1E293B"/>
                </a:solidFill>
                <a:latin typeface="Calibri"/>
              </a:rPr>
              <a:t>Seasonal, concentrated demand window.</a:t>
            </a:r>
          </a:p>
          <a:p>
            <a:pPr marL="0" indent="0">
              <a:buNone/>
            </a:pPr>
            <a:r>
              <a:rPr lang="en-US" sz="950" b="0" dirty="0">
                <a:solidFill>
                  <a:srgbClr val="64748B"/>
                </a:solidFill>
                <a:latin typeface="Calibri"/>
              </a:rPr>
              <a:t>  August peak from hunting season. Predictable demand spikes make inventory planning critical and achievable.</a:t>
            </a:r>
          </a:p>
          <a:p>
            <a:endParaRPr lang="en-US" sz="400" dirty="0"/>
          </a:p>
        </p:txBody>
      </p:sp>
      <p:sp>
        <p:nvSpPr>
          <p:cNvPr id="15" name="ARBg"/>
          <p:cNvSpPr/>
          <p:nvPr/>
        </p:nvSpPr>
        <p:spPr>
          <a:xfrm>
            <a:off x="457200" y="3380000"/>
            <a:ext cx="3931920" cy="1590000"/>
          </a:xfrm>
          <a:prstGeom prst="roundRect">
            <a:avLst>
              <a:gd name="adj" fmla="val 2000"/>
            </a:avLst>
          </a:prstGeom>
          <a:solidFill>
            <a:srgbClr val="EFF6FF"/>
          </a:solidFill>
          <a:ln w="19050">
            <a:solidFill>
              <a:srgbClr val="065A82"/>
            </a:solidFill>
          </a:ln>
        </p:spPr>
        <p:txBody>
          <a:bodyPr/>
          <a:lstStyle/>
          <a:p>
            <a:endParaRPr lang="en-US"/>
          </a:p>
        </p:txBody>
      </p:sp>
      <p:sp>
        <p:nvSpPr>
          <p:cNvPr id="16" name="ARTxt"/>
          <p:cNvSpPr/>
          <p:nvPr/>
        </p:nvSpPr>
        <p:spPr>
          <a:xfrm>
            <a:off x="548200" y="3640000"/>
            <a:ext cx="3781920" cy="1560000"/>
          </a:xfrm>
          <a:prstGeom prst="rect">
            <a:avLst/>
          </a:prstGeom>
          <a:noFill/>
          <a:ln/>
        </p:spPr>
        <p:txBody>
          <a:bodyPr wrap="square" lIns="30000" tIns="30000" rIns="0" bIns="0" rtlCol="0" anchor="t"/>
          <a:lstStyle/>
          <a:p>
            <a:pPr marL="0" indent="0">
              <a:buNone/>
            </a:pPr>
            <a:r>
              <a:rPr lang="en-US" sz="1200" b="1" dirty="0">
                <a:solidFill>
                  <a:srgbClr val="065A82"/>
                </a:solidFill>
                <a:latin typeface="Cambria"/>
              </a:rPr>
              <a:t>Strategic Recommendations</a:t>
            </a:r>
          </a:p>
          <a:p>
            <a:endParaRPr lang="en-US" sz="400" dirty="0"/>
          </a:p>
          <a:p>
            <a:pPr marL="0" indent="0">
              <a:buNone/>
            </a:pPr>
            <a:r>
              <a:rPr lang="en-US" sz="1050" b="1" dirty="0">
                <a:solidFill>
                  <a:srgbClr val="065A82"/>
                </a:solidFill>
                <a:latin typeface="Calibri"/>
              </a:rPr>
              <a:t>-&gt; </a:t>
            </a:r>
            <a:r>
              <a:rPr lang="en-US" sz="1000" b="0" dirty="0">
                <a:solidFill>
                  <a:srgbClr val="1E293B"/>
                </a:solidFill>
                <a:latin typeface="Calibri"/>
              </a:rPr>
              <a:t>Pre-stage inventory before Aug-Sep peak to prevent stockouts during concentrated demand windows.</a:t>
            </a:r>
          </a:p>
          <a:p>
            <a:endParaRPr lang="en-US" sz="400" dirty="0"/>
          </a:p>
          <a:p>
            <a:pPr marL="0" indent="0">
              <a:buNone/>
            </a:pPr>
            <a:r>
              <a:rPr lang="en-US" sz="1050" b="1" dirty="0">
                <a:solidFill>
                  <a:srgbClr val="065A82"/>
                </a:solidFill>
                <a:latin typeface="Calibri"/>
              </a:rPr>
              <a:t>-&gt; </a:t>
            </a:r>
            <a:r>
              <a:rPr lang="en-US" sz="1000" b="0" dirty="0">
                <a:solidFill>
                  <a:srgbClr val="1E293B"/>
                </a:solidFill>
                <a:latin typeface="Calibri"/>
              </a:rPr>
              <a:t>Invest in premium fulfilment - expedited shipping and secure packaging - to justify the high price point.</a:t>
            </a:r>
          </a:p>
          <a:p>
            <a:endParaRPr lang="en-US" sz="400" dirty="0"/>
          </a:p>
          <a:p>
            <a:pPr marL="0" indent="0">
              <a:buNone/>
            </a:pPr>
            <a:r>
              <a:rPr lang="en-US" sz="1050" b="1" dirty="0">
                <a:solidFill>
                  <a:srgbClr val="065A82"/>
                </a:solidFill>
                <a:latin typeface="Calibri"/>
              </a:rPr>
              <a:t>-&gt; </a:t>
            </a:r>
            <a:r>
              <a:rPr lang="en-US" sz="1000" b="0" dirty="0">
                <a:solidFill>
                  <a:srgbClr val="1E293B"/>
                </a:solidFill>
                <a:latin typeface="Calibri"/>
              </a:rPr>
              <a:t>Cross-sell accessories to grow basket size. High-value transactions maximise attach rate returns.</a:t>
            </a:r>
          </a:p>
          <a:p>
            <a:endParaRPr lang="en-US" sz="400" dirty="0"/>
          </a:p>
        </p:txBody>
      </p:sp>
      <p:sp>
        <p:nvSpPr>
          <p:cNvPr id="20" name="BHdr"/>
          <p:cNvSpPr/>
          <p:nvPr/>
        </p:nvSpPr>
        <p:spPr>
          <a:xfrm>
            <a:off x="4754880" y="1020000"/>
            <a:ext cx="3931920" cy="530000"/>
          </a:xfrm>
          <a:prstGeom prst="roundRect">
            <a:avLst>
              <a:gd name="adj" fmla="val 3000"/>
            </a:avLst>
          </a:prstGeom>
          <a:solidFill>
            <a:srgbClr val="028090"/>
          </a:solidFill>
          <a:ln>
            <a:noFill/>
          </a:ln>
        </p:spPr>
        <p:txBody>
          <a:bodyPr/>
          <a:lstStyle/>
          <a:p>
            <a:endParaRPr lang="en-US"/>
          </a:p>
        </p:txBody>
      </p:sp>
      <p:sp>
        <p:nvSpPr>
          <p:cNvPr id="21" name="BHdrT"/>
          <p:cNvSpPr/>
          <p:nvPr/>
        </p:nvSpPr>
        <p:spPr>
          <a:xfrm>
            <a:off x="4894880" y="1040000"/>
            <a:ext cx="3751920" cy="490000"/>
          </a:xfrm>
          <a:prstGeom prst="rect">
            <a:avLst/>
          </a:prstGeom>
          <a:noFill/>
          <a:ln/>
        </p:spPr>
        <p:txBody>
          <a:bodyPr wrap="square" lIns="60000" tIns="60000" rIns="0" bIns="0" rtlCol="0" anchor="ctr"/>
          <a:lstStyle/>
          <a:p>
            <a:pPr marL="0" indent="0">
              <a:buNone/>
            </a:pPr>
            <a:r>
              <a:rPr lang="en-US" sz="1100" b="0" dirty="0">
                <a:solidFill>
                  <a:srgbClr val="CADCFC"/>
                </a:solidFill>
                <a:latin typeface="Calibri"/>
              </a:rPr>
              <a:t>MODEL B   |   </a:t>
            </a:r>
            <a:r>
              <a:rPr lang="en-US" sz="1700" b="1" dirty="0">
                <a:solidFill>
                  <a:srgbClr val="FFFFFF"/>
                </a:solidFill>
                <a:latin typeface="Cambria"/>
              </a:rPr>
              <a:t>High Order Volume</a:t>
            </a:r>
          </a:p>
          <a:p>
            <a:pPr marL="0" indent="0">
              <a:buNone/>
            </a:pPr>
            <a:r>
              <a:rPr lang="en-US" sz="1000" b="0" dirty="0">
                <a:solidFill>
                  <a:srgbClr val="CADCFC"/>
                </a:solidFill>
                <a:latin typeface="Calibri"/>
              </a:rPr>
              <a:t>Perfect Fitness Rip Deck  |  $59.99/unit  |  20,359 orders  |  $4.42M</a:t>
            </a:r>
          </a:p>
        </p:txBody>
      </p:sp>
      <p:sp>
        <p:nvSpPr>
          <p:cNvPr id="22" name="BFBg"/>
          <p:cNvSpPr/>
          <p:nvPr/>
        </p:nvSpPr>
        <p:spPr>
          <a:xfrm>
            <a:off x="4754880" y="1630000"/>
            <a:ext cx="3931920" cy="1890000"/>
          </a:xfrm>
          <a:prstGeom prst="roundRect">
            <a:avLst>
              <a:gd name="adj" fmla="val 2000"/>
            </a:avLst>
          </a:prstGeom>
          <a:solidFill>
            <a:srgbClr val="FFFFFF"/>
          </a:solidFill>
          <a:ln>
            <a:noFill/>
          </a:ln>
          <a:effectLst>
            <a:outerShdw blurRad="50800" dist="12700" dir="2700000" algn="bl" rotWithShape="0">
              <a:srgbClr val="000000">
                <a:alpha val="10000"/>
              </a:srgbClr>
            </a:outerShdw>
          </a:effectLst>
        </p:spPr>
        <p:txBody>
          <a:bodyPr/>
          <a:lstStyle/>
          <a:p>
            <a:endParaRPr lang="en-US"/>
          </a:p>
        </p:txBody>
      </p:sp>
      <p:sp>
        <p:nvSpPr>
          <p:cNvPr id="23" name="BFBar"/>
          <p:cNvSpPr/>
          <p:nvPr/>
        </p:nvSpPr>
        <p:spPr>
          <a:xfrm>
            <a:off x="4754880" y="1630000"/>
            <a:ext cx="55000" cy="1890000"/>
          </a:xfrm>
          <a:prstGeom prst="roundRect">
            <a:avLst>
              <a:gd name="adj" fmla="val 2000"/>
            </a:avLst>
          </a:prstGeom>
          <a:solidFill>
            <a:srgbClr val="028090"/>
          </a:solidFill>
          <a:ln>
            <a:noFill/>
          </a:ln>
        </p:spPr>
        <p:txBody>
          <a:bodyPr/>
          <a:lstStyle/>
          <a:p>
            <a:endParaRPr lang="en-US"/>
          </a:p>
        </p:txBody>
      </p:sp>
      <p:sp>
        <p:nvSpPr>
          <p:cNvPr id="24" name="BFTxt"/>
          <p:cNvSpPr/>
          <p:nvPr/>
        </p:nvSpPr>
        <p:spPr>
          <a:xfrm>
            <a:off x="4869880" y="1670000"/>
            <a:ext cx="3776920" cy="1840000"/>
          </a:xfrm>
          <a:prstGeom prst="rect">
            <a:avLst/>
          </a:prstGeom>
          <a:noFill/>
          <a:ln/>
        </p:spPr>
        <p:txBody>
          <a:bodyPr wrap="square" lIns="60000" tIns="60000" rIns="0" bIns="0" rtlCol="0" anchor="t"/>
          <a:lstStyle/>
          <a:p>
            <a:pPr marL="0" indent="0">
              <a:buNone/>
            </a:pPr>
            <a:r>
              <a:rPr lang="en-US" sz="1200" b="1" dirty="0">
                <a:solidFill>
                  <a:srgbClr val="028090"/>
                </a:solidFill>
                <a:latin typeface="Cambria"/>
              </a:rPr>
              <a:t>Key Findings</a:t>
            </a:r>
          </a:p>
          <a:p>
            <a:endParaRPr lang="en-US" sz="400" dirty="0"/>
          </a:p>
          <a:p>
            <a:pPr marL="0" indent="0">
              <a:buNone/>
            </a:pPr>
            <a:r>
              <a:rPr lang="en-US" sz="1050" b="1" dirty="0">
                <a:solidFill>
                  <a:srgbClr val="028090"/>
                </a:solidFill>
                <a:latin typeface="Calibri"/>
              </a:rPr>
              <a:t>- </a:t>
            </a:r>
            <a:r>
              <a:rPr lang="en-US" sz="1050" b="1" dirty="0">
                <a:solidFill>
                  <a:srgbClr val="1E293B"/>
                </a:solidFill>
                <a:latin typeface="Calibri"/>
              </a:rPr>
              <a:t>Revenue through market reach, not price premium.</a:t>
            </a:r>
          </a:p>
          <a:p>
            <a:pPr marL="0" indent="0">
              <a:buNone/>
            </a:pPr>
            <a:r>
              <a:rPr lang="en-US" sz="950" b="0" dirty="0">
                <a:solidFill>
                  <a:srgbClr val="64748B"/>
                </a:solidFill>
                <a:latin typeface="Calibri"/>
              </a:rPr>
              <a:t>  $4.42M from 20,359 orders at $59.99. 34% more orders than Gun Safe despite a 6.7x lower unit price.</a:t>
            </a:r>
          </a:p>
          <a:p>
            <a:endParaRPr lang="en-US" sz="400" dirty="0"/>
          </a:p>
          <a:p>
            <a:pPr marL="0" indent="0">
              <a:buNone/>
            </a:pPr>
            <a:r>
              <a:rPr lang="en-US" sz="1050" b="1" dirty="0">
                <a:solidFill>
                  <a:srgbClr val="028090"/>
                </a:solidFill>
                <a:latin typeface="Calibri"/>
              </a:rPr>
              <a:t>- </a:t>
            </a:r>
            <a:r>
              <a:rPr lang="en-US" sz="1050" b="1" dirty="0">
                <a:solidFill>
                  <a:srgbClr val="1E293B"/>
                </a:solidFill>
                <a:latin typeface="Calibri"/>
              </a:rPr>
              <a:t>Thin margins make fulfilment efficiency critical.</a:t>
            </a:r>
          </a:p>
          <a:p>
            <a:pPr marL="0" indent="0">
              <a:buNone/>
            </a:pPr>
            <a:r>
              <a:rPr lang="en-US" sz="950" b="0" dirty="0">
                <a:solidFill>
                  <a:srgbClr val="64748B"/>
                </a:solidFill>
                <a:latin typeface="Calibri"/>
              </a:rPr>
              <a:t>  $493K profit at 11.2% margin. Shipping delays and returns erode thin per-unit margins quickly at volume.</a:t>
            </a:r>
          </a:p>
          <a:p>
            <a:endParaRPr lang="en-US" sz="400" dirty="0"/>
          </a:p>
          <a:p>
            <a:pPr marL="0" indent="0">
              <a:buNone/>
            </a:pPr>
            <a:r>
              <a:rPr lang="en-US" sz="1050" b="1" dirty="0">
                <a:solidFill>
                  <a:srgbClr val="028090"/>
                </a:solidFill>
                <a:latin typeface="Calibri"/>
              </a:rPr>
              <a:t>- </a:t>
            </a:r>
            <a:r>
              <a:rPr lang="en-US" sz="1050" b="1" dirty="0">
                <a:solidFill>
                  <a:srgbClr val="1E293B"/>
                </a:solidFill>
                <a:latin typeface="Calibri"/>
              </a:rPr>
              <a:t>Broad, repeat-purchase product with high elasticity.</a:t>
            </a:r>
          </a:p>
          <a:p>
            <a:pPr marL="0" indent="0">
              <a:buNone/>
            </a:pPr>
            <a:r>
              <a:rPr lang="en-US" sz="950" b="0" dirty="0">
                <a:solidFill>
                  <a:srgbClr val="64748B"/>
                </a:solidFill>
                <a:latin typeface="Calibri"/>
              </a:rPr>
              <a:t>  Fitness accessories at $60 attract impulse and repeat buyers. Easily scalable across demographics.</a:t>
            </a:r>
          </a:p>
          <a:p>
            <a:endParaRPr lang="en-US" sz="400" dirty="0"/>
          </a:p>
        </p:txBody>
      </p:sp>
      <p:sp>
        <p:nvSpPr>
          <p:cNvPr id="25" name="BRBg"/>
          <p:cNvSpPr/>
          <p:nvPr/>
        </p:nvSpPr>
        <p:spPr>
          <a:xfrm>
            <a:off x="4754880" y="3600000"/>
            <a:ext cx="3931920" cy="1620000"/>
          </a:xfrm>
          <a:prstGeom prst="roundRect">
            <a:avLst>
              <a:gd name="adj" fmla="val 2000"/>
            </a:avLst>
          </a:prstGeom>
          <a:solidFill>
            <a:srgbClr val="F0FDFD"/>
          </a:solidFill>
          <a:ln w="19050">
            <a:solidFill>
              <a:srgbClr val="028090"/>
            </a:solidFill>
          </a:ln>
        </p:spPr>
        <p:txBody>
          <a:bodyPr/>
          <a:lstStyle/>
          <a:p>
            <a:endParaRPr lang="en-US"/>
          </a:p>
        </p:txBody>
      </p:sp>
      <p:sp>
        <p:nvSpPr>
          <p:cNvPr id="26" name="BRTxt"/>
          <p:cNvSpPr/>
          <p:nvPr/>
        </p:nvSpPr>
        <p:spPr>
          <a:xfrm>
            <a:off x="4845880" y="3640000"/>
            <a:ext cx="3781920" cy="1560000"/>
          </a:xfrm>
          <a:prstGeom prst="rect">
            <a:avLst/>
          </a:prstGeom>
          <a:noFill/>
          <a:ln/>
        </p:spPr>
        <p:txBody>
          <a:bodyPr wrap="square" lIns="30000" tIns="30000" rIns="0" bIns="0" rtlCol="0" anchor="t"/>
          <a:lstStyle/>
          <a:p>
            <a:pPr marL="0" indent="0">
              <a:buNone/>
            </a:pPr>
            <a:r>
              <a:rPr lang="en-US" sz="1200" b="1" dirty="0">
                <a:solidFill>
                  <a:srgbClr val="028090"/>
                </a:solidFill>
                <a:latin typeface="Cambria"/>
              </a:rPr>
              <a:t>Strategic Recommendations</a:t>
            </a:r>
          </a:p>
          <a:p>
            <a:endParaRPr lang="en-US" sz="400" dirty="0"/>
          </a:p>
          <a:p>
            <a:pPr marL="0" indent="0">
              <a:buNone/>
            </a:pPr>
            <a:r>
              <a:rPr lang="en-US" sz="1050" b="1" dirty="0">
                <a:solidFill>
                  <a:srgbClr val="028090"/>
                </a:solidFill>
                <a:latin typeface="Calibri"/>
              </a:rPr>
              <a:t>-&gt; </a:t>
            </a:r>
            <a:r>
              <a:rPr lang="en-US" sz="1000" b="0" dirty="0">
                <a:solidFill>
                  <a:srgbClr val="1E293B"/>
                </a:solidFill>
                <a:latin typeface="Calibri"/>
              </a:rPr>
              <a:t>Optimise fulfilment efficiency. Standard Class and bulk dispatch reduce per-unit shipping cost to protect margins.</a:t>
            </a:r>
          </a:p>
          <a:p>
            <a:endParaRPr lang="en-US" sz="400" dirty="0"/>
          </a:p>
          <a:p>
            <a:pPr marL="0" indent="0">
              <a:buNone/>
            </a:pPr>
            <a:r>
              <a:rPr lang="en-US" sz="1050" b="1" dirty="0">
                <a:solidFill>
                  <a:srgbClr val="028090"/>
                </a:solidFill>
                <a:latin typeface="Calibri"/>
              </a:rPr>
              <a:t>-&gt; </a:t>
            </a:r>
            <a:r>
              <a:rPr lang="en-US" sz="1000" b="0" dirty="0">
                <a:solidFill>
                  <a:srgbClr val="1E293B"/>
                </a:solidFill>
                <a:latin typeface="Calibri"/>
              </a:rPr>
              <a:t>Bundle promotions and subscription offers to boost repeat purchase rate and customer lifetime value.</a:t>
            </a:r>
          </a:p>
          <a:p>
            <a:endParaRPr lang="en-US" sz="400" dirty="0"/>
          </a:p>
          <a:p>
            <a:pPr marL="0" indent="0">
              <a:buNone/>
            </a:pPr>
            <a:r>
              <a:rPr lang="en-US" sz="1050" b="1" dirty="0">
                <a:solidFill>
                  <a:srgbClr val="028090"/>
                </a:solidFill>
                <a:latin typeface="Calibri"/>
              </a:rPr>
              <a:t>-&gt; </a:t>
            </a:r>
            <a:r>
              <a:rPr lang="en-US" sz="1000" b="0" dirty="0">
                <a:solidFill>
                  <a:srgbClr val="1E293B"/>
                </a:solidFill>
                <a:latin typeface="Calibri"/>
              </a:rPr>
              <a:t>Scale via targeted digital marketing. Fitness influencer channels drive volume at low acquisition cost.</a:t>
            </a:r>
          </a:p>
          <a:p>
            <a:endParaRPr lang="en-US" sz="400" dirty="0"/>
          </a:p>
        </p:txBody>
      </p:sp>
      <p:sp>
        <p:nvSpPr>
          <p:cNvPr id="70" name="Banner"/>
          <p:cNvSpPr/>
          <p:nvPr/>
        </p:nvSpPr>
        <p:spPr>
          <a:xfrm>
            <a:off x="457200" y="5070000"/>
            <a:ext cx="8229600" cy="400000"/>
          </a:xfrm>
          <a:prstGeom prst="roundRect">
            <a:avLst>
              <a:gd name="adj" fmla="val 3000"/>
            </a:avLst>
          </a:prstGeom>
          <a:solidFill>
            <a:srgbClr val="065A82"/>
          </a:solidFill>
          <a:ln>
            <a:noFill/>
          </a:ln>
        </p:spPr>
        <p:txBody>
          <a:bodyPr/>
          <a:lstStyle/>
          <a:p>
            <a:endParaRPr lang="en-US"/>
          </a:p>
        </p:txBody>
      </p:sp>
      <p:sp>
        <p:nvSpPr>
          <p:cNvPr id="71" name="BannerT"/>
          <p:cNvSpPr/>
          <p:nvPr/>
        </p:nvSpPr>
        <p:spPr>
          <a:xfrm>
            <a:off x="640000" y="5080000"/>
            <a:ext cx="7860000" cy="375000"/>
          </a:xfrm>
          <a:prstGeom prst="rect">
            <a:avLst/>
          </a:prstGeom>
          <a:noFill/>
          <a:ln/>
        </p:spPr>
        <p:txBody>
          <a:bodyPr wrap="square" lIns="60000" tIns="60000" rIns="0" bIns="0" rtlCol="0" anchor="ctr"/>
          <a:lstStyle/>
          <a:p>
            <a:pPr marL="0" indent="0">
              <a:buNone/>
            </a:pPr>
            <a:r>
              <a:rPr lang="en-US" sz="1100" b="1" dirty="0">
                <a:solidFill>
                  <a:srgbClr val="CADCFC"/>
                </a:solidFill>
                <a:latin typeface="Calibri"/>
              </a:rPr>
              <a:t>Strategic Priority:  </a:t>
            </a:r>
            <a:r>
              <a:rPr lang="en-US" sz="1100" b="0" dirty="0">
                <a:solidFill>
                  <a:srgbClr val="FFFFFF"/>
                </a:solidFill>
                <a:latin typeface="Calibri"/>
              </a:rPr>
              <a:t>Protect Model A margins through premium service and inventory timing; scale Model B through operational efficiency and repeat purchases. Manage both models distinctly.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Title"/>
          <p:cNvSpPr/>
          <p:nvPr/>
        </p:nvSpPr>
        <p:spPr>
          <a:xfrm>
            <a:off x="457200" y="230000"/>
            <a:ext cx="8229600" cy="460000"/>
          </a:xfrm>
          <a:prstGeom prst="rect">
            <a:avLst/>
          </a:prstGeom>
          <a:noFill/>
          <a:ln/>
        </p:spPr>
        <p:txBody>
          <a:bodyPr wrap="square" rtlCol="0" anchor="ctr"/>
          <a:lstStyle/>
          <a:p>
            <a:pPr marL="0" indent="0">
              <a:buNone/>
            </a:pPr>
            <a:r>
              <a:rPr lang="en-US" sz="2200" b="1" dirty="0">
                <a:solidFill>
                  <a:srgbClr val="065A82"/>
                </a:solidFill>
                <a:latin typeface="Cambria" pitchFamily="34" charset="0"/>
              </a:rPr>
              <a:t>Seasonal Analysis — Field &amp; Stream Sportsman 16 Gun Fire Safe</a:t>
            </a:r>
          </a:p>
        </p:txBody>
      </p:sp>
      <p:sp>
        <p:nvSpPr>
          <p:cNvPr id="3" name="Sub"/>
          <p:cNvSpPr/>
          <p:nvPr/>
        </p:nvSpPr>
        <p:spPr>
          <a:xfrm>
            <a:off x="457200" y="680000"/>
            <a:ext cx="8229600" cy="260000"/>
          </a:xfrm>
          <a:prstGeom prst="rect">
            <a:avLst/>
          </a:prstGeom>
          <a:noFill/>
          <a:ln/>
        </p:spPr>
        <p:txBody>
          <a:bodyPr wrap="square" rtlCol="0" anchor="ctr"/>
          <a:lstStyle/>
          <a:p>
            <a:pPr marL="0" indent="0">
              <a:buNone/>
            </a:pPr>
            <a:r>
              <a:rPr lang="en-US" sz="1200" dirty="0">
                <a:solidFill>
                  <a:srgbClr val="64748B"/>
                </a:solidFill>
                <a:latin typeface="Calibri" pitchFamily="34" charset="0"/>
              </a:rPr>
              <a:t>Monthly total sales ($) — seasonal demand patterns for inventory and marketing planning</a:t>
            </a:r>
          </a:p>
        </p:txBody>
      </p:sp>
      <p:pic>
        <p:nvPicPr>
          <p:cNvPr id="4" name="ChartImage"/>
          <p:cNvPicPr>
            <a:picLocks noChangeAspect="1"/>
          </p:cNvPicPr>
          <p:nvPr/>
        </p:nvPicPr>
        <p:blipFill>
          <a:blip r:embed="rId2"/>
          <a:stretch>
            <a:fillRect/>
          </a:stretch>
        </p:blipFill>
        <p:spPr>
          <a:xfrm>
            <a:off x="643760" y="1020000"/>
            <a:ext cx="7400000" cy="2900000"/>
          </a:xfrm>
          <a:prstGeom prst="rect">
            <a:avLst/>
          </a:prstGeom>
        </p:spPr>
      </p:pic>
      <p:sp>
        <p:nvSpPr>
          <p:cNvPr id="10" name="C1"/>
          <p:cNvSpPr/>
          <p:nvPr/>
        </p:nvSpPr>
        <p:spPr>
          <a:xfrm>
            <a:off x="457200" y="4060000"/>
            <a:ext cx="2560080" cy="860000"/>
          </a:xfrm>
          <a:prstGeom prst="roundRect">
            <a:avLst>
              <a:gd name="adj" fmla="val 3000"/>
            </a:avLst>
          </a:prstGeom>
          <a:solidFill>
            <a:srgbClr val="FFFFFF"/>
          </a:solidFill>
          <a:ln>
            <a:noFill/>
          </a:ln>
          <a:effectLst>
            <a:outerShdw blurRad="50800" dist="25400" dir="2700000" algn="bl" rotWithShape="0">
              <a:srgbClr val="000000">
                <a:alpha val="10000"/>
              </a:srgbClr>
            </a:outerShdw>
          </a:effectLst>
        </p:spPr>
        <p:txBody>
          <a:bodyPr wrap="square" lIns="182880" tIns="182880" rIns="182880" bIns="182880" rtlCol="0" anchor="t"/>
          <a:lstStyle/>
          <a:p>
            <a:pPr marL="0" indent="0">
              <a:buNone/>
            </a:pPr>
            <a:r>
              <a:rPr lang="en-US" sz="1100" b="1" dirty="0">
                <a:solidFill>
                  <a:srgbClr val="065A82"/>
                </a:solidFill>
                <a:latin typeface="Cambria"/>
              </a:rPr>
              <a:t>📈 Peak: Aug ~$420K</a:t>
            </a:r>
          </a:p>
          <a:p>
            <a:pPr marL="0" indent="0">
              <a:buNone/>
            </a:pPr>
            <a:r>
              <a:rPr lang="en-US" sz="1000" dirty="0">
                <a:solidFill>
                  <a:srgbClr val="1E293B"/>
                </a:solidFill>
                <a:latin typeface="Calibri"/>
              </a:rPr>
              <a:t>Hunting season &amp; back-to-school overlap drive the highest monthly sales.</a:t>
            </a:r>
          </a:p>
        </p:txBody>
      </p:sp>
      <p:sp>
        <p:nvSpPr>
          <p:cNvPr id="11" name="C2"/>
          <p:cNvSpPr/>
          <p:nvPr/>
        </p:nvSpPr>
        <p:spPr>
          <a:xfrm>
            <a:off x="3160560" y="4060000"/>
            <a:ext cx="2560080" cy="860000"/>
          </a:xfrm>
          <a:prstGeom prst="roundRect">
            <a:avLst>
              <a:gd name="adj" fmla="val 3000"/>
            </a:avLst>
          </a:prstGeom>
          <a:solidFill>
            <a:srgbClr val="FFFFFF"/>
          </a:solidFill>
          <a:ln>
            <a:noFill/>
          </a:ln>
          <a:effectLst>
            <a:outerShdw blurRad="50800" dist="25400" dir="2700000" algn="bl" rotWithShape="0">
              <a:srgbClr val="000000">
                <a:alpha val="10000"/>
              </a:srgbClr>
            </a:outerShdw>
          </a:effectLst>
        </p:spPr>
        <p:txBody>
          <a:bodyPr wrap="square" lIns="182880" tIns="182880" rIns="182880" bIns="182880" rtlCol="0" anchor="t"/>
          <a:lstStyle/>
          <a:p>
            <a:pPr marL="0" indent="0">
              <a:buNone/>
            </a:pPr>
            <a:r>
              <a:rPr lang="en-US" sz="1100" b="1" dirty="0">
                <a:solidFill>
                  <a:srgbClr val="DC2626"/>
                </a:solidFill>
                <a:latin typeface="Cambria"/>
              </a:rPr>
              <a:t>📉 Trough: Oct ~$260K</a:t>
            </a:r>
          </a:p>
          <a:p>
            <a:pPr marL="0" indent="0">
              <a:buNone/>
            </a:pPr>
            <a:r>
              <a:rPr lang="en-US" sz="1000" dirty="0">
                <a:solidFill>
                  <a:srgbClr val="1E293B"/>
                </a:solidFill>
                <a:latin typeface="Calibri"/>
              </a:rPr>
              <a:t>Sharp post-summer drop signals need for targeted promotions in Q4.</a:t>
            </a:r>
          </a:p>
        </p:txBody>
      </p:sp>
      <p:sp>
        <p:nvSpPr>
          <p:cNvPr id="12" name="C3"/>
          <p:cNvSpPr/>
          <p:nvPr/>
        </p:nvSpPr>
        <p:spPr>
          <a:xfrm>
            <a:off x="5863920" y="4060000"/>
            <a:ext cx="2560080" cy="860000"/>
          </a:xfrm>
          <a:prstGeom prst="roundRect">
            <a:avLst>
              <a:gd name="adj" fmla="val 3000"/>
            </a:avLst>
          </a:prstGeom>
          <a:solidFill>
            <a:srgbClr val="FFFFFF"/>
          </a:solidFill>
          <a:ln>
            <a:noFill/>
          </a:ln>
          <a:effectLst>
            <a:outerShdw blurRad="50800" dist="25400" dir="2700000" algn="bl" rotWithShape="0">
              <a:srgbClr val="000000">
                <a:alpha val="10000"/>
              </a:srgbClr>
            </a:outerShdw>
          </a:effectLst>
        </p:spPr>
        <p:txBody>
          <a:bodyPr wrap="square" lIns="182880" tIns="182880" rIns="182880" bIns="182880" rtlCol="0" anchor="t"/>
          <a:lstStyle/>
          <a:p>
            <a:pPr marL="0" indent="0">
              <a:buNone/>
            </a:pPr>
            <a:r>
              <a:rPr lang="en-US" sz="1100" b="1" dirty="0">
                <a:solidFill>
                  <a:srgbClr val="028090"/>
                </a:solidFill>
                <a:latin typeface="Cambria"/>
              </a:rPr>
              <a:t>📋 Inventory Implication</a:t>
            </a:r>
          </a:p>
          <a:p>
            <a:pPr marL="0" indent="0">
              <a:buNone/>
            </a:pPr>
            <a:r>
              <a:rPr lang="en-US" sz="1000" dirty="0">
                <a:solidFill>
                  <a:srgbClr val="1E293B"/>
                </a:solidFill>
                <a:latin typeface="Calibri"/>
              </a:rPr>
              <a:t>Pre-position stock in Jun–Aug; scale back in Oct–Dec to avoid overstock.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1C7293">
              <a:alpha val="18000"/>
            </a:srgbClr>
          </a:solidFill>
          <a:ln w="12700">
            <a:solidFill>
              <a:srgbClr val="1C7293">
                <a:alpha val="18000"/>
              </a:srgbClr>
            </a:solidFill>
            <a:prstDash val="solid"/>
          </a:ln>
        </p:spPr>
        <p:txBody>
          <a:bodyPr/>
          <a:lstStyle/>
          <a:p>
            <a:endParaRPr lang="en-SG"/>
          </a:p>
        </p:txBody>
      </p:sp>
      <p:sp>
        <p:nvSpPr>
          <p:cNvPr id="3" name="Shape 1"/>
          <p:cNvSpPr/>
          <p:nvPr/>
        </p:nvSpPr>
        <p:spPr>
          <a:xfrm>
            <a:off x="7772400" y="2286000"/>
            <a:ext cx="2743200" cy="2743200"/>
          </a:xfrm>
          <a:prstGeom prst="ellipse">
            <a:avLst/>
          </a:prstGeom>
          <a:solidFill>
            <a:srgbClr val="02C39A">
              <a:alpha val="12000"/>
            </a:srgbClr>
          </a:solidFill>
          <a:ln w="12700">
            <a:solidFill>
              <a:srgbClr val="02C39A">
                <a:alpha val="12000"/>
              </a:srgbClr>
            </a:solidFill>
            <a:prstDash val="solid"/>
          </a:ln>
        </p:spPr>
        <p:txBody>
          <a:bodyPr/>
          <a:lstStyle/>
          <a:p>
            <a:endParaRPr lang="en-SG"/>
          </a:p>
        </p:txBody>
      </p:sp>
      <p:sp>
        <p:nvSpPr>
          <p:cNvPr id="4" name="Text 2"/>
          <p:cNvSpPr/>
          <p:nvPr/>
        </p:nvSpPr>
        <p:spPr>
          <a:xfrm>
            <a:off x="914400" y="1645920"/>
            <a:ext cx="1097280" cy="1097280"/>
          </a:xfrm>
          <a:prstGeom prst="rect">
            <a:avLst/>
          </a:prstGeom>
          <a:noFill/>
          <a:ln/>
        </p:spPr>
        <p:txBody>
          <a:bodyPr wrap="square" rtlCol="0" anchor="ctr"/>
          <a:lstStyle/>
          <a:p>
            <a:pPr marL="0" indent="0" algn="ctr">
              <a:buNone/>
            </a:pPr>
            <a:r>
              <a:rPr lang="en-US" sz="4800" dirty="0">
                <a:solidFill>
                  <a:srgbClr val="000000"/>
                </a:solidFill>
              </a:rPr>
              <a:t>📋</a:t>
            </a:r>
            <a:endParaRPr lang="en-US" sz="4800" dirty="0"/>
          </a:p>
        </p:txBody>
      </p:sp>
      <p:sp>
        <p:nvSpPr>
          <p:cNvPr id="5" name="Text 3"/>
          <p:cNvSpPr/>
          <p:nvPr/>
        </p:nvSpPr>
        <p:spPr>
          <a:xfrm>
            <a:off x="2194560" y="1737360"/>
            <a:ext cx="6400800" cy="109728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Order Status distribution &amp; Financial Impact</a:t>
            </a:r>
            <a:endParaRPr lang="en-US" sz="3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30352"/>
          </a:xfrm>
          <a:prstGeom prst="rect">
            <a:avLst/>
          </a:prstGeom>
          <a:noFill/>
          <a:ln/>
        </p:spPr>
        <p:txBody>
          <a:bodyPr wrap="square" rtlCol="0" anchor="ctr"/>
          <a:lstStyle/>
          <a:p>
            <a:pPr marL="0" indent="0">
              <a:buNone/>
            </a:pPr>
            <a:r>
              <a:rPr lang="en-US" sz="2600" b="1" dirty="0">
                <a:solidFill>
                  <a:srgbClr val="065A82"/>
                </a:solidFill>
                <a:latin typeface="Cambria" pitchFamily="34" charset="0"/>
                <a:ea typeface="Cambria" pitchFamily="34" charset="-122"/>
                <a:cs typeface="Cambria" pitchFamily="34" charset="-120"/>
              </a:rPr>
              <a:t>Order Status Distribution</a:t>
            </a:r>
            <a:endParaRPr lang="en-US" sz="2600" dirty="0"/>
          </a:p>
        </p:txBody>
      </p:sp>
      <p:sp>
        <p:nvSpPr>
          <p:cNvPr id="3" name="Text 1"/>
          <p:cNvSpPr/>
          <p:nvPr/>
        </p:nvSpPr>
        <p:spPr>
          <a:xfrm>
            <a:off x="457200" y="713232"/>
            <a:ext cx="822960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Analysis of 180,519 orders reveals fulfilment health and risk areas</a:t>
            </a:r>
            <a:endParaRPr lang="en-US" sz="1300" dirty="0"/>
          </a:p>
        </p:txBody>
      </p:sp>
      <p:graphicFrame>
        <p:nvGraphicFramePr>
          <p:cNvPr id="4" name="Chart 0"/>
          <p:cNvGraphicFramePr/>
          <p:nvPr/>
        </p:nvGraphicFramePr>
        <p:xfrm>
          <a:off x="365760" y="1097280"/>
          <a:ext cx="548640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035040" y="1143000"/>
            <a:ext cx="2743200" cy="1143000"/>
          </a:xfrm>
          <a:prstGeom prst="roundRect">
            <a:avLst>
              <a:gd name="adj" fmla="val 9600"/>
            </a:avLst>
          </a:prstGeom>
          <a:solidFill>
            <a:srgbClr val="1C7293"/>
          </a:solidFill>
          <a:ln/>
          <a:effectLst>
            <a:outerShdw blurRad="76200" dist="25400" dir="2700000" algn="bl" rotWithShape="0">
              <a:srgbClr val="000000">
                <a:alpha val="12000"/>
              </a:srgbClr>
            </a:outerShdw>
          </a:effectLst>
        </p:spPr>
        <p:txBody>
          <a:bodyPr/>
          <a:lstStyle/>
          <a:p>
            <a:endParaRPr lang="en-SG"/>
          </a:p>
        </p:txBody>
      </p:sp>
      <p:sp>
        <p:nvSpPr>
          <p:cNvPr id="6" name="Text 3"/>
          <p:cNvSpPr/>
          <p:nvPr/>
        </p:nvSpPr>
        <p:spPr>
          <a:xfrm>
            <a:off x="6035040" y="1280160"/>
            <a:ext cx="2743200"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59,491</a:t>
            </a:r>
            <a:endParaRPr lang="en-US" sz="3000" dirty="0"/>
          </a:p>
        </p:txBody>
      </p:sp>
      <p:sp>
        <p:nvSpPr>
          <p:cNvPr id="7" name="Text 4"/>
          <p:cNvSpPr/>
          <p:nvPr/>
        </p:nvSpPr>
        <p:spPr>
          <a:xfrm>
            <a:off x="6108192" y="1783080"/>
            <a:ext cx="2596896" cy="457200"/>
          </a:xfrm>
          <a:prstGeom prst="rect">
            <a:avLst/>
          </a:prstGeom>
          <a:noFill/>
          <a:ln/>
        </p:spPr>
        <p:txBody>
          <a:bodyPr wrap="square" lIns="0" tIns="0" rIns="0" bIns="0" rtlCol="0" anchor="t"/>
          <a:lstStyle/>
          <a:p>
            <a:pPr marL="0" indent="0" algn="ctr">
              <a:buNone/>
            </a:pPr>
            <a:r>
              <a:rPr lang="en-US" sz="1050" dirty="0">
                <a:solidFill>
                  <a:srgbClr val="FFFFFF"/>
                </a:solidFill>
              </a:rPr>
              <a:t>Complete</a:t>
            </a:r>
            <a:endParaRPr lang="en-US" sz="1050" dirty="0"/>
          </a:p>
          <a:p>
            <a:pPr marL="0" indent="0" algn="ctr">
              <a:buNone/>
            </a:pPr>
            <a:r>
              <a:rPr lang="en-US" sz="1050" dirty="0">
                <a:solidFill>
                  <a:srgbClr val="FFFFFF"/>
                </a:solidFill>
              </a:rPr>
              <a:t>Orders ✓</a:t>
            </a:r>
            <a:endParaRPr lang="en-US" sz="1050" dirty="0"/>
          </a:p>
        </p:txBody>
      </p:sp>
      <p:sp>
        <p:nvSpPr>
          <p:cNvPr id="8" name="Shape 5"/>
          <p:cNvSpPr/>
          <p:nvPr/>
        </p:nvSpPr>
        <p:spPr>
          <a:xfrm>
            <a:off x="6035040" y="2441448"/>
            <a:ext cx="2743200" cy="1143000"/>
          </a:xfrm>
          <a:prstGeom prst="roundRect">
            <a:avLst>
              <a:gd name="adj" fmla="val 9600"/>
            </a:avLst>
          </a:prstGeom>
          <a:solidFill>
            <a:srgbClr val="F59E0B"/>
          </a:solidFill>
          <a:ln/>
          <a:effectLst>
            <a:outerShdw blurRad="76200" dist="25400" dir="2700000" algn="bl" rotWithShape="0">
              <a:srgbClr val="000000">
                <a:alpha val="12000"/>
              </a:srgbClr>
            </a:outerShdw>
          </a:effectLst>
        </p:spPr>
        <p:txBody>
          <a:bodyPr/>
          <a:lstStyle/>
          <a:p>
            <a:endParaRPr lang="en-SG"/>
          </a:p>
        </p:txBody>
      </p:sp>
      <p:sp>
        <p:nvSpPr>
          <p:cNvPr id="9" name="Text 6"/>
          <p:cNvSpPr/>
          <p:nvPr/>
        </p:nvSpPr>
        <p:spPr>
          <a:xfrm>
            <a:off x="6035040" y="2578608"/>
            <a:ext cx="2743200"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39,832</a:t>
            </a:r>
            <a:endParaRPr lang="en-US" sz="3000" dirty="0"/>
          </a:p>
        </p:txBody>
      </p:sp>
      <p:sp>
        <p:nvSpPr>
          <p:cNvPr id="10" name="Text 7"/>
          <p:cNvSpPr/>
          <p:nvPr/>
        </p:nvSpPr>
        <p:spPr>
          <a:xfrm>
            <a:off x="6108192" y="3081528"/>
            <a:ext cx="2596896" cy="457200"/>
          </a:xfrm>
          <a:prstGeom prst="rect">
            <a:avLst/>
          </a:prstGeom>
          <a:noFill/>
          <a:ln/>
        </p:spPr>
        <p:txBody>
          <a:bodyPr wrap="square" lIns="0" tIns="0" rIns="0" bIns="0" rtlCol="0" anchor="t"/>
          <a:lstStyle/>
          <a:p>
            <a:pPr marL="0" indent="0" algn="ctr">
              <a:buNone/>
            </a:pPr>
            <a:r>
              <a:rPr lang="en-US" sz="1050" dirty="0">
                <a:solidFill>
                  <a:srgbClr val="FFFFFF"/>
                </a:solidFill>
              </a:rPr>
              <a:t>Pending</a:t>
            </a:r>
            <a:endParaRPr lang="en-US" sz="1050" dirty="0"/>
          </a:p>
          <a:p>
            <a:pPr marL="0" indent="0" algn="ctr">
              <a:buNone/>
            </a:pPr>
            <a:r>
              <a:rPr lang="en-US" sz="1050" dirty="0">
                <a:solidFill>
                  <a:srgbClr val="FFFFFF"/>
                </a:solidFill>
              </a:rPr>
              <a:t>Payment ⚠️</a:t>
            </a:r>
            <a:endParaRPr lang="en-US" sz="1050" dirty="0"/>
          </a:p>
        </p:txBody>
      </p:sp>
      <p:sp>
        <p:nvSpPr>
          <p:cNvPr id="11" name="Shape 8"/>
          <p:cNvSpPr/>
          <p:nvPr/>
        </p:nvSpPr>
        <p:spPr>
          <a:xfrm>
            <a:off x="6035040" y="3739896"/>
            <a:ext cx="2743200" cy="1143000"/>
          </a:xfrm>
          <a:prstGeom prst="roundRect">
            <a:avLst>
              <a:gd name="adj" fmla="val 9600"/>
            </a:avLst>
          </a:prstGeom>
          <a:solidFill>
            <a:srgbClr val="EF4444"/>
          </a:solidFill>
          <a:ln/>
          <a:effectLst>
            <a:outerShdw blurRad="76200" dist="25400" dir="2700000" algn="bl" rotWithShape="0">
              <a:srgbClr val="000000">
                <a:alpha val="12000"/>
              </a:srgbClr>
            </a:outerShdw>
          </a:effectLst>
        </p:spPr>
        <p:txBody>
          <a:bodyPr/>
          <a:lstStyle/>
          <a:p>
            <a:endParaRPr lang="en-SG"/>
          </a:p>
        </p:txBody>
      </p:sp>
      <p:sp>
        <p:nvSpPr>
          <p:cNvPr id="12" name="Text 9"/>
          <p:cNvSpPr/>
          <p:nvPr/>
        </p:nvSpPr>
        <p:spPr>
          <a:xfrm>
            <a:off x="6035040" y="3877056"/>
            <a:ext cx="2743200"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13,558</a:t>
            </a:r>
            <a:endParaRPr lang="en-US" sz="3000" dirty="0"/>
          </a:p>
        </p:txBody>
      </p:sp>
      <p:sp>
        <p:nvSpPr>
          <p:cNvPr id="13" name="Text 10"/>
          <p:cNvSpPr/>
          <p:nvPr/>
        </p:nvSpPr>
        <p:spPr>
          <a:xfrm>
            <a:off x="6108192" y="4379976"/>
            <a:ext cx="2596896" cy="457200"/>
          </a:xfrm>
          <a:prstGeom prst="rect">
            <a:avLst/>
          </a:prstGeom>
          <a:noFill/>
          <a:ln/>
        </p:spPr>
        <p:txBody>
          <a:bodyPr wrap="square" lIns="0" tIns="0" rIns="0" bIns="0" rtlCol="0" anchor="t"/>
          <a:lstStyle/>
          <a:p>
            <a:pPr marL="0" indent="0" algn="ctr">
              <a:buNone/>
            </a:pPr>
            <a:r>
              <a:rPr lang="en-US" sz="1050" dirty="0">
                <a:solidFill>
                  <a:srgbClr val="FFFFFF"/>
                </a:solidFill>
              </a:rPr>
              <a:t>High Risk</a:t>
            </a:r>
            <a:endParaRPr lang="en-US" sz="1050" dirty="0"/>
          </a:p>
          <a:p>
            <a:pPr marL="0" indent="0" algn="ctr">
              <a:buNone/>
            </a:pPr>
            <a:r>
              <a:rPr lang="en-US" sz="1050" dirty="0">
                <a:solidFill>
                  <a:srgbClr val="FFFFFF"/>
                </a:solidFill>
              </a:rPr>
              <a:t>(Fraud + Hold)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Title"/>
          <p:cNvSpPr/>
          <p:nvPr/>
        </p:nvSpPr>
        <p:spPr>
          <a:xfrm>
            <a:off x="457200" y="220000"/>
            <a:ext cx="8229600" cy="480000"/>
          </a:xfrm>
          <a:prstGeom prst="rect">
            <a:avLst/>
          </a:prstGeom>
          <a:noFill/>
          <a:ln/>
        </p:spPr>
        <p:txBody>
          <a:bodyPr wrap="square" rtlCol="0" anchor="ctr"/>
          <a:lstStyle/>
          <a:p>
            <a:pPr marL="0" indent="0">
              <a:buNone/>
            </a:pPr>
            <a:r>
              <a:rPr lang="en-US" sz="2800" b="1" dirty="0">
                <a:solidFill>
                  <a:srgbClr val="065A82"/>
                </a:solidFill>
                <a:latin typeface="Cambria" pitchFamily="34" charset="0"/>
              </a:rPr>
              <a:t>Financial Impact — Top 3 High-Risk Categories</a:t>
            </a:r>
          </a:p>
        </p:txBody>
      </p:sp>
      <p:sp>
        <p:nvSpPr>
          <p:cNvPr id="3" name="Sub"/>
          <p:cNvSpPr/>
          <p:nvPr/>
        </p:nvSpPr>
        <p:spPr>
          <a:xfrm>
            <a:off x="457200" y="690000"/>
            <a:ext cx="8229600" cy="260000"/>
          </a:xfrm>
          <a:prstGeom prst="rect">
            <a:avLst/>
          </a:prstGeom>
          <a:noFill/>
          <a:ln/>
        </p:spPr>
        <p:txBody>
          <a:bodyPr wrap="square" rtlCol="0" anchor="ctr"/>
          <a:lstStyle/>
          <a:p>
            <a:pPr marL="0" indent="0">
              <a:buNone/>
            </a:pPr>
            <a:r>
              <a:rPr lang="en-US" sz="1300" dirty="0">
                <a:solidFill>
                  <a:srgbClr val="64748B"/>
                </a:solidFill>
                <a:latin typeface="Calibri" pitchFamily="34" charset="0"/>
              </a:rPr>
              <a:t>Sales exposure by order status — how each dollar of revenue is at risk</a:t>
            </a:r>
          </a:p>
        </p:txBody>
      </p:sp>
      <p:sp>
        <p:nvSpPr>
          <p:cNvPr id="90" name="L1"/>
          <p:cNvSpPr/>
          <p:nvPr/>
        </p:nvSpPr>
        <p:spPr>
          <a:xfrm>
            <a:off x="457200" y="1040000"/>
            <a:ext cx="220000" cy="120000"/>
          </a:xfrm>
          <a:prstGeom prst="rect">
            <a:avLst/>
          </a:prstGeom>
          <a:solidFill>
            <a:srgbClr val="1C7293"/>
          </a:solidFill>
          <a:ln>
            <a:noFill/>
          </a:ln>
        </p:spPr>
        <p:txBody>
          <a:bodyPr/>
          <a:lstStyle/>
          <a:p>
            <a:endParaRPr lang="en-US"/>
          </a:p>
        </p:txBody>
      </p:sp>
      <p:sp>
        <p:nvSpPr>
          <p:cNvPr id="91" name="L1t"/>
          <p:cNvSpPr/>
          <p:nvPr/>
        </p:nvSpPr>
        <p:spPr>
          <a:xfrm>
            <a:off x="700000" y="1025000"/>
            <a:ext cx="900000" cy="150000"/>
          </a:xfrm>
          <a:prstGeom prst="rect">
            <a:avLst/>
          </a:prstGeom>
          <a:noFill/>
          <a:ln/>
        </p:spPr>
        <p:txBody>
          <a:bodyPr wrap="square" lIns="0" tIns="0" rIns="0" bIns="0" rtlCol="0" anchor="ctr"/>
          <a:lstStyle/>
          <a:p>
            <a:pPr marL="0" indent="0">
              <a:buNone/>
            </a:pPr>
            <a:r>
              <a:rPr lang="en-US" sz="1000" dirty="0">
                <a:solidFill>
                  <a:srgbClr val="1E293B"/>
                </a:solidFill>
                <a:latin typeface="Calibri"/>
              </a:rPr>
              <a:t>Healthy Sales</a:t>
            </a:r>
          </a:p>
        </p:txBody>
      </p:sp>
      <p:sp>
        <p:nvSpPr>
          <p:cNvPr id="92" name="L2"/>
          <p:cNvSpPr/>
          <p:nvPr/>
        </p:nvSpPr>
        <p:spPr>
          <a:xfrm>
            <a:off x="1700000" y="1040000"/>
            <a:ext cx="220000" cy="120000"/>
          </a:xfrm>
          <a:prstGeom prst="rect">
            <a:avLst/>
          </a:prstGeom>
          <a:solidFill>
            <a:srgbClr val="D97706"/>
          </a:solidFill>
          <a:ln>
            <a:noFill/>
          </a:ln>
        </p:spPr>
        <p:txBody>
          <a:bodyPr/>
          <a:lstStyle/>
          <a:p>
            <a:endParaRPr lang="en-US"/>
          </a:p>
        </p:txBody>
      </p:sp>
      <p:sp>
        <p:nvSpPr>
          <p:cNvPr id="93" name="L2t"/>
          <p:cNvSpPr/>
          <p:nvPr/>
        </p:nvSpPr>
        <p:spPr>
          <a:xfrm>
            <a:off x="1940000" y="1025000"/>
            <a:ext cx="1000000" cy="150000"/>
          </a:xfrm>
          <a:prstGeom prst="rect">
            <a:avLst/>
          </a:prstGeom>
          <a:noFill/>
          <a:ln/>
        </p:spPr>
        <p:txBody>
          <a:bodyPr wrap="square" lIns="0" tIns="0" rIns="0" bIns="0" rtlCol="0" anchor="ctr"/>
          <a:lstStyle/>
          <a:p>
            <a:pPr marL="0" indent="0">
              <a:buNone/>
            </a:pPr>
            <a:r>
              <a:rPr lang="en-US" sz="1000" dirty="0">
                <a:solidFill>
                  <a:srgbClr val="1E293B"/>
                </a:solidFill>
                <a:latin typeface="Calibri"/>
              </a:rPr>
              <a:t>Pending Payment</a:t>
            </a:r>
          </a:p>
        </p:txBody>
      </p:sp>
      <p:sp>
        <p:nvSpPr>
          <p:cNvPr id="94" name="L3"/>
          <p:cNvSpPr/>
          <p:nvPr/>
        </p:nvSpPr>
        <p:spPr>
          <a:xfrm>
            <a:off x="3100000" y="1040000"/>
            <a:ext cx="220000" cy="120000"/>
          </a:xfrm>
          <a:prstGeom prst="rect">
            <a:avLst/>
          </a:prstGeom>
          <a:solidFill>
            <a:srgbClr val="DC2626"/>
          </a:solidFill>
          <a:ln>
            <a:noFill/>
          </a:ln>
        </p:spPr>
        <p:txBody>
          <a:bodyPr/>
          <a:lstStyle/>
          <a:p>
            <a:endParaRPr lang="en-US"/>
          </a:p>
        </p:txBody>
      </p:sp>
      <p:sp>
        <p:nvSpPr>
          <p:cNvPr id="95" name="L3t"/>
          <p:cNvSpPr/>
          <p:nvPr/>
        </p:nvSpPr>
        <p:spPr>
          <a:xfrm>
            <a:off x="3340000" y="1025000"/>
            <a:ext cx="1000000" cy="150000"/>
          </a:xfrm>
          <a:prstGeom prst="rect">
            <a:avLst/>
          </a:prstGeom>
          <a:noFill/>
          <a:ln/>
        </p:spPr>
        <p:txBody>
          <a:bodyPr wrap="square" lIns="0" tIns="0" rIns="0" bIns="0" rtlCol="0" anchor="ctr"/>
          <a:lstStyle/>
          <a:p>
            <a:pPr marL="0" indent="0">
              <a:buNone/>
            </a:pPr>
            <a:r>
              <a:rPr lang="en-US" sz="1000" dirty="0">
                <a:solidFill>
                  <a:srgbClr val="1E293B"/>
                </a:solidFill>
                <a:latin typeface="Calibri"/>
              </a:rPr>
              <a:t>Suspected Fraud</a:t>
            </a:r>
          </a:p>
        </p:txBody>
      </p:sp>
      <p:sp>
        <p:nvSpPr>
          <p:cNvPr id="96" name="L4"/>
          <p:cNvSpPr/>
          <p:nvPr/>
        </p:nvSpPr>
        <p:spPr>
          <a:xfrm>
            <a:off x="4450000" y="1040000"/>
            <a:ext cx="220000" cy="120000"/>
          </a:xfrm>
          <a:prstGeom prst="rect">
            <a:avLst/>
          </a:prstGeom>
          <a:solidFill>
            <a:srgbClr val="7C3AED"/>
          </a:solidFill>
          <a:ln>
            <a:noFill/>
          </a:ln>
        </p:spPr>
        <p:txBody>
          <a:bodyPr/>
          <a:lstStyle/>
          <a:p>
            <a:endParaRPr lang="en-US"/>
          </a:p>
        </p:txBody>
      </p:sp>
      <p:sp>
        <p:nvSpPr>
          <p:cNvPr id="97" name="L4t"/>
          <p:cNvSpPr/>
          <p:nvPr/>
        </p:nvSpPr>
        <p:spPr>
          <a:xfrm>
            <a:off x="4690000" y="1025000"/>
            <a:ext cx="900000" cy="150000"/>
          </a:xfrm>
          <a:prstGeom prst="rect">
            <a:avLst/>
          </a:prstGeom>
          <a:noFill/>
          <a:ln/>
        </p:spPr>
        <p:txBody>
          <a:bodyPr wrap="square" lIns="0" tIns="0" rIns="0" bIns="0" rtlCol="0" anchor="ctr"/>
          <a:lstStyle/>
          <a:p>
            <a:pPr marL="0" indent="0">
              <a:buNone/>
            </a:pPr>
            <a:r>
              <a:rPr lang="en-US" sz="1000" dirty="0">
                <a:solidFill>
                  <a:srgbClr val="1E293B"/>
                </a:solidFill>
                <a:latin typeface="Calibri"/>
              </a:rPr>
              <a:t>Cancelled</a:t>
            </a:r>
          </a:p>
        </p:txBody>
      </p:sp>
      <p:sp>
        <p:nvSpPr>
          <p:cNvPr id="100" name="LblC"/>
          <p:cNvSpPr/>
          <p:nvPr/>
        </p:nvSpPr>
        <p:spPr>
          <a:xfrm>
            <a:off x="457200" y="1260000"/>
            <a:ext cx="1200000" cy="500000"/>
          </a:xfrm>
          <a:prstGeom prst="rect">
            <a:avLst/>
          </a:prstGeom>
          <a:noFill/>
          <a:ln/>
        </p:spPr>
        <p:txBody>
          <a:bodyPr wrap="square" lIns="0" tIns="0" rIns="91440" bIns="0" rtlCol="0" anchor="ctr"/>
          <a:lstStyle/>
          <a:p>
            <a:pPr marL="0" indent="0" algn="r">
              <a:buNone/>
            </a:pPr>
            <a:r>
              <a:rPr lang="en-US" sz="1200" b="1" dirty="0">
                <a:solidFill>
                  <a:srgbClr val="065A82"/>
                </a:solidFill>
                <a:latin typeface="Calibri"/>
              </a:rPr>
              <a:t>Cleats</a:t>
            </a:r>
          </a:p>
        </p:txBody>
      </p:sp>
      <p:sp>
        <p:nvSpPr>
          <p:cNvPr id="101" name="C_safe"/>
          <p:cNvSpPr/>
          <p:nvPr/>
        </p:nvSpPr>
        <p:spPr>
          <a:xfrm>
            <a:off x="1700000" y="1260000"/>
            <a:ext cx="4835789" cy="500000"/>
          </a:xfrm>
          <a:prstGeom prst="rect">
            <a:avLst/>
          </a:prstGeom>
          <a:solidFill>
            <a:srgbClr val="1C7293"/>
          </a:solidFill>
          <a:ln>
            <a:noFill/>
          </a:ln>
        </p:spPr>
        <p:txBody>
          <a:bodyPr wrap="square" lIns="91440" tIns="0" rIns="0" bIns="0" rtlCol="0" anchor="ctr"/>
          <a:lstStyle/>
          <a:p>
            <a:pPr marL="0" indent="0">
              <a:buNone/>
            </a:pPr>
            <a:r>
              <a:rPr lang="en-US" sz="1000" b="1" dirty="0">
                <a:solidFill>
                  <a:srgbClr val="FFFFFF"/>
                </a:solidFill>
                <a:latin typeface="Calibri"/>
              </a:rPr>
              <a:t>$3.27M  (73.8%)</a:t>
            </a:r>
          </a:p>
        </p:txBody>
      </p:sp>
      <p:sp>
        <p:nvSpPr>
          <p:cNvPr id="102" name="C_pend"/>
          <p:cNvSpPr/>
          <p:nvPr/>
        </p:nvSpPr>
        <p:spPr>
          <a:xfrm>
            <a:off x="6535789" y="1260000"/>
            <a:ext cx="1441563" cy="500000"/>
          </a:xfrm>
          <a:prstGeom prst="rect">
            <a:avLst/>
          </a:prstGeom>
          <a:solidFill>
            <a:srgbClr val="D97706"/>
          </a:solidFill>
          <a:ln>
            <a:noFill/>
          </a:ln>
        </p:spPr>
        <p:txBody>
          <a:bodyPr wrap="square" lIns="91440" tIns="0" rIns="0" bIns="0" rtlCol="0" anchor="ctr"/>
          <a:lstStyle/>
          <a:p>
            <a:pPr marL="0" indent="0">
              <a:buNone/>
            </a:pPr>
            <a:r>
              <a:rPr lang="en-US" sz="950" b="1" dirty="0">
                <a:solidFill>
                  <a:srgbClr val="FFFFFF"/>
                </a:solidFill>
                <a:latin typeface="Calibri"/>
              </a:rPr>
              <a:t>22.0%</a:t>
            </a:r>
          </a:p>
        </p:txBody>
      </p:sp>
      <p:sp>
        <p:nvSpPr>
          <p:cNvPr id="103" name="C_fraud"/>
          <p:cNvSpPr/>
          <p:nvPr/>
        </p:nvSpPr>
        <p:spPr>
          <a:xfrm>
            <a:off x="7977352" y="1260000"/>
            <a:ext cx="150709" cy="500000"/>
          </a:xfrm>
          <a:prstGeom prst="rect">
            <a:avLst/>
          </a:prstGeom>
          <a:solidFill>
            <a:srgbClr val="DC2626"/>
          </a:solidFill>
          <a:ln>
            <a:noFill/>
          </a:ln>
        </p:spPr>
        <p:txBody>
          <a:bodyPr/>
          <a:lstStyle/>
          <a:p>
            <a:endParaRPr lang="en-US"/>
          </a:p>
        </p:txBody>
      </p:sp>
      <p:sp>
        <p:nvSpPr>
          <p:cNvPr id="104" name="C_canc"/>
          <p:cNvSpPr/>
          <p:nvPr/>
        </p:nvSpPr>
        <p:spPr>
          <a:xfrm>
            <a:off x="8128061" y="1260000"/>
            <a:ext cx="124499" cy="500000"/>
          </a:xfrm>
          <a:prstGeom prst="rect">
            <a:avLst/>
          </a:prstGeom>
          <a:solidFill>
            <a:srgbClr val="7C3AED"/>
          </a:solidFill>
          <a:ln>
            <a:noFill/>
          </a:ln>
        </p:spPr>
        <p:txBody>
          <a:bodyPr/>
          <a:lstStyle/>
          <a:p>
            <a:endParaRPr lang="en-US"/>
          </a:p>
        </p:txBody>
      </p:sp>
      <p:sp>
        <p:nvSpPr>
          <p:cNvPr id="105" name="C_total"/>
          <p:cNvSpPr/>
          <p:nvPr/>
        </p:nvSpPr>
        <p:spPr>
          <a:xfrm>
            <a:off x="8302560" y="1260000"/>
            <a:ext cx="900000" cy="500000"/>
          </a:xfrm>
          <a:prstGeom prst="rect">
            <a:avLst/>
          </a:prstGeom>
          <a:noFill/>
          <a:ln/>
        </p:spPr>
        <p:txBody>
          <a:bodyPr wrap="square" lIns="91440" tIns="0" rIns="0" bIns="0" rtlCol="0" anchor="ctr"/>
          <a:lstStyle/>
          <a:p>
            <a:pPr marL="0" indent="0">
              <a:buNone/>
            </a:pPr>
            <a:r>
              <a:rPr lang="en-US" sz="1000" b="1" dirty="0">
                <a:solidFill>
                  <a:srgbClr val="065A82"/>
                </a:solidFill>
                <a:latin typeface="Calibri"/>
              </a:rPr>
              <a:t>$4.43M</a:t>
            </a:r>
          </a:p>
        </p:txBody>
      </p:sp>
      <p:sp>
        <p:nvSpPr>
          <p:cNvPr id="110" name="LblMF"/>
          <p:cNvSpPr/>
          <p:nvPr/>
        </p:nvSpPr>
        <p:spPr>
          <a:xfrm>
            <a:off x="457200" y="1910000"/>
            <a:ext cx="1200000" cy="500000"/>
          </a:xfrm>
          <a:prstGeom prst="rect">
            <a:avLst/>
          </a:prstGeom>
          <a:noFill/>
          <a:ln/>
        </p:spPr>
        <p:txBody>
          <a:bodyPr wrap="square" lIns="0" tIns="0" rIns="91440" bIns="0" rtlCol="0" anchor="ctr"/>
          <a:lstStyle/>
          <a:p>
            <a:pPr marL="0" indent="0" algn="r">
              <a:buNone/>
            </a:pPr>
            <a:r>
              <a:rPr lang="en-US" sz="1200" b="1" dirty="0">
                <a:solidFill>
                  <a:srgbClr val="1C7293"/>
                </a:solidFill>
                <a:latin typeface="Calibri"/>
              </a:rPr>
              <a:t>Men’s Footwear</a:t>
            </a:r>
          </a:p>
        </p:txBody>
      </p:sp>
      <p:sp>
        <p:nvSpPr>
          <p:cNvPr id="111" name="MF_safe"/>
          <p:cNvSpPr/>
          <p:nvPr/>
        </p:nvSpPr>
        <p:spPr>
          <a:xfrm>
            <a:off x="1700000" y="1910000"/>
            <a:ext cx="3155260" cy="500000"/>
          </a:xfrm>
          <a:prstGeom prst="rect">
            <a:avLst/>
          </a:prstGeom>
          <a:solidFill>
            <a:srgbClr val="1C7293"/>
          </a:solidFill>
          <a:ln>
            <a:noFill/>
          </a:ln>
        </p:spPr>
        <p:txBody>
          <a:bodyPr wrap="square" lIns="91440" tIns="0" rIns="0" bIns="0" rtlCol="0" anchor="ctr"/>
          <a:lstStyle/>
          <a:p>
            <a:pPr marL="0" indent="0">
              <a:buNone/>
            </a:pPr>
            <a:r>
              <a:rPr lang="en-US" sz="1000" b="1" dirty="0">
                <a:solidFill>
                  <a:srgbClr val="FFFFFF"/>
                </a:solidFill>
                <a:latin typeface="Calibri"/>
              </a:rPr>
              <a:t>$2.13M  (73.8%)</a:t>
            </a:r>
          </a:p>
        </p:txBody>
      </p:sp>
      <p:sp>
        <p:nvSpPr>
          <p:cNvPr id="112" name="MF_pend"/>
          <p:cNvSpPr/>
          <p:nvPr/>
        </p:nvSpPr>
        <p:spPr>
          <a:xfrm>
            <a:off x="4855260" y="1910000"/>
            <a:ext cx="932042" cy="500000"/>
          </a:xfrm>
          <a:prstGeom prst="rect">
            <a:avLst/>
          </a:prstGeom>
          <a:solidFill>
            <a:srgbClr val="D97706"/>
          </a:solidFill>
          <a:ln>
            <a:noFill/>
          </a:ln>
        </p:spPr>
        <p:txBody>
          <a:bodyPr wrap="square" lIns="91440" tIns="0" rIns="0" bIns="0" rtlCol="0" anchor="ctr"/>
          <a:lstStyle/>
          <a:p>
            <a:pPr marL="0" indent="0">
              <a:buNone/>
            </a:pPr>
            <a:r>
              <a:rPr lang="en-US" sz="950" b="1" dirty="0">
                <a:solidFill>
                  <a:srgbClr val="FFFFFF"/>
                </a:solidFill>
                <a:latin typeface="Calibri"/>
              </a:rPr>
              <a:t>21.8%</a:t>
            </a:r>
          </a:p>
        </p:txBody>
      </p:sp>
      <p:sp>
        <p:nvSpPr>
          <p:cNvPr id="113" name="MF_fraud"/>
          <p:cNvSpPr/>
          <p:nvPr/>
        </p:nvSpPr>
        <p:spPr>
          <a:xfrm>
            <a:off x="5787302" y="1910000"/>
            <a:ext cx="98335" cy="500000"/>
          </a:xfrm>
          <a:prstGeom prst="rect">
            <a:avLst/>
          </a:prstGeom>
          <a:solidFill>
            <a:srgbClr val="DC2626"/>
          </a:solidFill>
          <a:ln>
            <a:noFill/>
          </a:ln>
        </p:spPr>
        <p:txBody>
          <a:bodyPr/>
          <a:lstStyle/>
          <a:p>
            <a:endParaRPr lang="en-US"/>
          </a:p>
        </p:txBody>
      </p:sp>
      <p:sp>
        <p:nvSpPr>
          <p:cNvPr id="114" name="MF_canc"/>
          <p:cNvSpPr/>
          <p:nvPr/>
        </p:nvSpPr>
        <p:spPr>
          <a:xfrm>
            <a:off x="5885637" y="1910000"/>
            <a:ext cx="89783" cy="500000"/>
          </a:xfrm>
          <a:prstGeom prst="rect">
            <a:avLst/>
          </a:prstGeom>
          <a:solidFill>
            <a:srgbClr val="7C3AED"/>
          </a:solidFill>
          <a:ln>
            <a:noFill/>
          </a:ln>
        </p:spPr>
        <p:txBody>
          <a:bodyPr/>
          <a:lstStyle/>
          <a:p>
            <a:endParaRPr lang="en-US"/>
          </a:p>
        </p:txBody>
      </p:sp>
      <p:sp>
        <p:nvSpPr>
          <p:cNvPr id="115" name="MF_total"/>
          <p:cNvSpPr/>
          <p:nvPr/>
        </p:nvSpPr>
        <p:spPr>
          <a:xfrm>
            <a:off x="6025420" y="1910000"/>
            <a:ext cx="900000" cy="500000"/>
          </a:xfrm>
          <a:prstGeom prst="rect">
            <a:avLst/>
          </a:prstGeom>
          <a:noFill/>
          <a:ln/>
        </p:spPr>
        <p:txBody>
          <a:bodyPr wrap="square" lIns="91440" tIns="0" rIns="0" bIns="0" rtlCol="0" anchor="ctr"/>
          <a:lstStyle/>
          <a:p>
            <a:pPr marL="0" indent="0">
              <a:buNone/>
            </a:pPr>
            <a:r>
              <a:rPr lang="en-US" sz="1000" b="1" dirty="0">
                <a:solidFill>
                  <a:srgbClr val="065A82"/>
                </a:solidFill>
                <a:latin typeface="Calibri"/>
              </a:rPr>
              <a:t>$2.89M</a:t>
            </a:r>
          </a:p>
        </p:txBody>
      </p:sp>
      <p:sp>
        <p:nvSpPr>
          <p:cNvPr id="120" name="LblWA"/>
          <p:cNvSpPr/>
          <p:nvPr/>
        </p:nvSpPr>
        <p:spPr>
          <a:xfrm>
            <a:off x="457200" y="2560000"/>
            <a:ext cx="1200000" cy="500000"/>
          </a:xfrm>
          <a:prstGeom prst="rect">
            <a:avLst/>
          </a:prstGeom>
          <a:noFill/>
          <a:ln/>
        </p:spPr>
        <p:txBody>
          <a:bodyPr wrap="square" lIns="0" tIns="0" rIns="91440" bIns="0" rtlCol="0" anchor="ctr"/>
          <a:lstStyle/>
          <a:p>
            <a:pPr marL="0" indent="0" algn="r">
              <a:buNone/>
            </a:pPr>
            <a:r>
              <a:rPr lang="en-US" sz="1200" b="1" dirty="0">
                <a:solidFill>
                  <a:srgbClr val="21295C"/>
                </a:solidFill>
                <a:latin typeface="Calibri"/>
              </a:rPr>
              <a:t>Women’s Apparel</a:t>
            </a:r>
          </a:p>
        </p:txBody>
      </p:sp>
      <p:sp>
        <p:nvSpPr>
          <p:cNvPr id="121" name="WA_safe"/>
          <p:cNvSpPr/>
          <p:nvPr/>
        </p:nvSpPr>
        <p:spPr>
          <a:xfrm>
            <a:off x="1700000" y="2560000"/>
            <a:ext cx="3420671" cy="500000"/>
          </a:xfrm>
          <a:prstGeom prst="rect">
            <a:avLst/>
          </a:prstGeom>
          <a:solidFill>
            <a:srgbClr val="21295C"/>
          </a:solidFill>
          <a:ln>
            <a:noFill/>
          </a:ln>
        </p:spPr>
        <p:txBody>
          <a:bodyPr wrap="square" lIns="91440" tIns="0" rIns="0" bIns="0" rtlCol="0" anchor="ctr"/>
          <a:lstStyle/>
          <a:p>
            <a:pPr marL="0" indent="0">
              <a:buNone/>
            </a:pPr>
            <a:r>
              <a:rPr lang="en-US" sz="1000" b="1" dirty="0">
                <a:solidFill>
                  <a:srgbClr val="FFFFFF"/>
                </a:solidFill>
                <a:latin typeface="Calibri"/>
              </a:rPr>
              <a:t>$2.31M  (73.5%)</a:t>
            </a:r>
          </a:p>
        </p:txBody>
      </p:sp>
      <p:sp>
        <p:nvSpPr>
          <p:cNvPr id="122" name="WA_pend"/>
          <p:cNvSpPr/>
          <p:nvPr/>
        </p:nvSpPr>
        <p:spPr>
          <a:xfrm>
            <a:off x="5120671" y="2560000"/>
            <a:ext cx="1028528" cy="500000"/>
          </a:xfrm>
          <a:prstGeom prst="rect">
            <a:avLst/>
          </a:prstGeom>
          <a:solidFill>
            <a:srgbClr val="D97706"/>
          </a:solidFill>
          <a:ln>
            <a:noFill/>
          </a:ln>
        </p:spPr>
        <p:txBody>
          <a:bodyPr wrap="square" lIns="91440" tIns="0" rIns="0" bIns="0" rtlCol="0" anchor="ctr"/>
          <a:lstStyle/>
          <a:p>
            <a:pPr marL="0" indent="0">
              <a:buNone/>
            </a:pPr>
            <a:r>
              <a:rPr lang="en-US" sz="950" b="1" dirty="0">
                <a:solidFill>
                  <a:srgbClr val="FFFFFF"/>
                </a:solidFill>
                <a:latin typeface="Calibri"/>
              </a:rPr>
              <a:t>22.1%</a:t>
            </a:r>
          </a:p>
        </p:txBody>
      </p:sp>
      <p:sp>
        <p:nvSpPr>
          <p:cNvPr id="123" name="WA_fraud"/>
          <p:cNvSpPr/>
          <p:nvPr/>
        </p:nvSpPr>
        <p:spPr>
          <a:xfrm>
            <a:off x="6149199" y="2560000"/>
            <a:ext cx="102387" cy="500000"/>
          </a:xfrm>
          <a:prstGeom prst="rect">
            <a:avLst/>
          </a:prstGeom>
          <a:solidFill>
            <a:srgbClr val="DC2626"/>
          </a:solidFill>
          <a:ln>
            <a:noFill/>
          </a:ln>
        </p:spPr>
        <p:txBody>
          <a:bodyPr/>
          <a:lstStyle/>
          <a:p>
            <a:endParaRPr lang="en-US"/>
          </a:p>
        </p:txBody>
      </p:sp>
      <p:sp>
        <p:nvSpPr>
          <p:cNvPr id="124" name="WA_canc"/>
          <p:cNvSpPr/>
          <p:nvPr/>
        </p:nvSpPr>
        <p:spPr>
          <a:xfrm>
            <a:off x="6251586" y="2560000"/>
            <a:ext cx="102388" cy="500000"/>
          </a:xfrm>
          <a:prstGeom prst="rect">
            <a:avLst/>
          </a:prstGeom>
          <a:solidFill>
            <a:srgbClr val="7C3AED"/>
          </a:solidFill>
          <a:ln>
            <a:noFill/>
          </a:ln>
        </p:spPr>
        <p:txBody>
          <a:bodyPr/>
          <a:lstStyle/>
          <a:p>
            <a:endParaRPr lang="en-US"/>
          </a:p>
        </p:txBody>
      </p:sp>
      <p:sp>
        <p:nvSpPr>
          <p:cNvPr id="125" name="WA_total"/>
          <p:cNvSpPr/>
          <p:nvPr/>
        </p:nvSpPr>
        <p:spPr>
          <a:xfrm>
            <a:off x="6403974" y="2560000"/>
            <a:ext cx="900000" cy="500000"/>
          </a:xfrm>
          <a:prstGeom prst="rect">
            <a:avLst/>
          </a:prstGeom>
          <a:noFill/>
          <a:ln/>
        </p:spPr>
        <p:txBody>
          <a:bodyPr wrap="square" lIns="91440" tIns="0" rIns="0" bIns="0" rtlCol="0" anchor="ctr"/>
          <a:lstStyle/>
          <a:p>
            <a:pPr marL="0" indent="0">
              <a:buNone/>
            </a:pPr>
            <a:r>
              <a:rPr lang="en-US" sz="1000" b="1" dirty="0">
                <a:solidFill>
                  <a:srgbClr val="065A82"/>
                </a:solidFill>
                <a:latin typeface="Calibri"/>
              </a:rPr>
              <a:t>$3.15M</a:t>
            </a:r>
          </a:p>
        </p:txBody>
      </p:sp>
      <p:sp>
        <p:nvSpPr>
          <p:cNvPr id="200" name="K1bg"/>
          <p:cNvSpPr/>
          <p:nvPr/>
        </p:nvSpPr>
        <p:spPr>
          <a:xfrm>
            <a:off x="457200" y="3340000"/>
            <a:ext cx="2560080" cy="130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201" name="K1bar"/>
          <p:cNvSpPr/>
          <p:nvPr/>
        </p:nvSpPr>
        <p:spPr>
          <a:xfrm>
            <a:off x="457200" y="3340000"/>
            <a:ext cx="2560080" cy="120000"/>
          </a:xfrm>
          <a:prstGeom prst="roundRect">
            <a:avLst>
              <a:gd name="adj" fmla="val 8000"/>
            </a:avLst>
          </a:prstGeom>
          <a:solidFill>
            <a:srgbClr val="1C7293"/>
          </a:solidFill>
          <a:ln>
            <a:noFill/>
          </a:ln>
        </p:spPr>
        <p:txBody>
          <a:bodyPr/>
          <a:lstStyle/>
          <a:p>
            <a:endParaRPr lang="en-US"/>
          </a:p>
        </p:txBody>
      </p:sp>
      <p:sp>
        <p:nvSpPr>
          <p:cNvPr id="202" name="K1txt"/>
          <p:cNvSpPr/>
          <p:nvPr/>
        </p:nvSpPr>
        <p:spPr>
          <a:xfrm>
            <a:off x="600000" y="3480000"/>
            <a:ext cx="2370000" cy="1100000"/>
          </a:xfrm>
          <a:prstGeom prst="rect">
            <a:avLst/>
          </a:prstGeom>
          <a:noFill/>
          <a:ln/>
        </p:spPr>
        <p:txBody>
          <a:bodyPr wrap="square" rtlCol="0" anchor="t"/>
          <a:lstStyle/>
          <a:p>
            <a:pPr marL="0" indent="0">
              <a:buNone/>
            </a:pPr>
            <a:r>
              <a:rPr lang="en-US" sz="3200" b="1" dirty="0">
                <a:solidFill>
                  <a:srgbClr val="1C7293"/>
                </a:solidFill>
                <a:latin typeface="Cambria"/>
              </a:rPr>
              <a:t>~74%</a:t>
            </a:r>
          </a:p>
          <a:p>
            <a:pPr marL="0" indent="0">
              <a:buNone/>
            </a:pPr>
            <a:r>
              <a:rPr lang="en-US" sz="1050" dirty="0">
                <a:solidFill>
                  <a:srgbClr val="64748B"/>
                </a:solidFill>
                <a:latin typeface="Calibri"/>
              </a:rPr>
              <a:t>of revenue is healthy across all three categories</a:t>
            </a:r>
          </a:p>
        </p:txBody>
      </p:sp>
      <p:sp>
        <p:nvSpPr>
          <p:cNvPr id="210" name="K2bg"/>
          <p:cNvSpPr/>
          <p:nvPr/>
        </p:nvSpPr>
        <p:spPr>
          <a:xfrm>
            <a:off x="3108720" y="3340000"/>
            <a:ext cx="2560080" cy="130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211" name="K2bar"/>
          <p:cNvSpPr/>
          <p:nvPr/>
        </p:nvSpPr>
        <p:spPr>
          <a:xfrm>
            <a:off x="3108720" y="3340000"/>
            <a:ext cx="2560080" cy="120000"/>
          </a:xfrm>
          <a:prstGeom prst="roundRect">
            <a:avLst>
              <a:gd name="adj" fmla="val 8000"/>
            </a:avLst>
          </a:prstGeom>
          <a:solidFill>
            <a:srgbClr val="D97706"/>
          </a:solidFill>
          <a:ln>
            <a:noFill/>
          </a:ln>
        </p:spPr>
        <p:txBody>
          <a:bodyPr/>
          <a:lstStyle/>
          <a:p>
            <a:endParaRPr lang="en-US"/>
          </a:p>
        </p:txBody>
      </p:sp>
      <p:sp>
        <p:nvSpPr>
          <p:cNvPr id="212" name="K2txt"/>
          <p:cNvSpPr/>
          <p:nvPr/>
        </p:nvSpPr>
        <p:spPr>
          <a:xfrm>
            <a:off x="3251000" y="3480000"/>
            <a:ext cx="2370000" cy="1100000"/>
          </a:xfrm>
          <a:prstGeom prst="rect">
            <a:avLst/>
          </a:prstGeom>
          <a:noFill/>
          <a:ln/>
        </p:spPr>
        <p:txBody>
          <a:bodyPr wrap="square" rtlCol="0" anchor="t"/>
          <a:lstStyle/>
          <a:p>
            <a:pPr marL="0" indent="0">
              <a:buNone/>
            </a:pPr>
            <a:r>
              <a:rPr lang="en-US" sz="3200" b="1" dirty="0">
                <a:solidFill>
                  <a:srgbClr val="D97706"/>
                </a:solidFill>
                <a:latin typeface="Cambria"/>
              </a:rPr>
              <a:t>~22%</a:t>
            </a:r>
          </a:p>
          <a:p>
            <a:pPr marL="0" indent="0">
              <a:buNone/>
            </a:pPr>
            <a:r>
              <a:rPr lang="en-US" sz="1050" dirty="0">
                <a:solidFill>
                  <a:srgbClr val="64748B"/>
                </a:solidFill>
                <a:latin typeface="Calibri"/>
              </a:rPr>
              <a:t>stuck in Pending Payment — a systemic gateway risk</a:t>
            </a:r>
          </a:p>
        </p:txBody>
      </p:sp>
      <p:sp>
        <p:nvSpPr>
          <p:cNvPr id="220" name="K3bg"/>
          <p:cNvSpPr/>
          <p:nvPr/>
        </p:nvSpPr>
        <p:spPr>
          <a:xfrm>
            <a:off x="5760240" y="3340000"/>
            <a:ext cx="2560080" cy="130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221" name="K3bar"/>
          <p:cNvSpPr/>
          <p:nvPr/>
        </p:nvSpPr>
        <p:spPr>
          <a:xfrm>
            <a:off x="5760240" y="3340000"/>
            <a:ext cx="2560080" cy="120000"/>
          </a:xfrm>
          <a:prstGeom prst="roundRect">
            <a:avLst>
              <a:gd name="adj" fmla="val 8000"/>
            </a:avLst>
          </a:prstGeom>
          <a:solidFill>
            <a:srgbClr val="DC2626"/>
          </a:solidFill>
          <a:ln>
            <a:noFill/>
          </a:ln>
        </p:spPr>
        <p:txBody>
          <a:bodyPr/>
          <a:lstStyle/>
          <a:p>
            <a:endParaRPr lang="en-US"/>
          </a:p>
        </p:txBody>
      </p:sp>
      <p:sp>
        <p:nvSpPr>
          <p:cNvPr id="222" name="K3txt"/>
          <p:cNvSpPr/>
          <p:nvPr/>
        </p:nvSpPr>
        <p:spPr>
          <a:xfrm>
            <a:off x="5903000" y="3480000"/>
            <a:ext cx="2370000" cy="1100000"/>
          </a:xfrm>
          <a:prstGeom prst="rect">
            <a:avLst/>
          </a:prstGeom>
          <a:noFill/>
          <a:ln/>
        </p:spPr>
        <p:txBody>
          <a:bodyPr wrap="square" rtlCol="0" anchor="t"/>
          <a:lstStyle/>
          <a:p>
            <a:pPr marL="0" indent="0">
              <a:buNone/>
            </a:pPr>
            <a:r>
              <a:rPr lang="en-US" sz="3200" b="1" dirty="0">
                <a:solidFill>
                  <a:srgbClr val="DC2626"/>
                </a:solidFill>
                <a:latin typeface="Cambria"/>
              </a:rPr>
              <a:t>~4%</a:t>
            </a:r>
          </a:p>
          <a:p>
            <a:pPr marL="0" indent="0">
              <a:buNone/>
            </a:pPr>
            <a:r>
              <a:rPr lang="en-US" sz="1050" dirty="0">
                <a:solidFill>
                  <a:srgbClr val="64748B"/>
                </a:solidFill>
                <a:latin typeface="Calibri"/>
              </a:rPr>
              <a:t>permanently lost to fraud and cancellations combined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Title"/>
          <p:cNvSpPr/>
          <p:nvPr/>
        </p:nvSpPr>
        <p:spPr>
          <a:xfrm>
            <a:off x="457200" y="220000"/>
            <a:ext cx="8229600" cy="480000"/>
          </a:xfrm>
          <a:prstGeom prst="rect">
            <a:avLst/>
          </a:prstGeom>
          <a:noFill/>
          <a:ln/>
        </p:spPr>
        <p:txBody>
          <a:bodyPr wrap="square" rtlCol="0" anchor="ctr"/>
          <a:lstStyle/>
          <a:p>
            <a:pPr marL="0" indent="0">
              <a:buNone/>
            </a:pPr>
            <a:r>
              <a:rPr lang="en-US" sz="2800" b="1" dirty="0">
                <a:solidFill>
                  <a:srgbClr val="065A82"/>
                </a:solidFill>
                <a:latin typeface="Cambria" pitchFamily="34" charset="0"/>
              </a:rPr>
              <a:t>High-Risk Category Loss Analysis</a:t>
            </a:r>
          </a:p>
        </p:txBody>
      </p:sp>
      <p:sp>
        <p:nvSpPr>
          <p:cNvPr id="3" name="Sub"/>
          <p:cNvSpPr/>
          <p:nvPr/>
        </p:nvSpPr>
        <p:spPr>
          <a:xfrm>
            <a:off x="457200" y="690000"/>
            <a:ext cx="8229600" cy="260000"/>
          </a:xfrm>
          <a:prstGeom prst="rect">
            <a:avLst/>
          </a:prstGeom>
          <a:noFill/>
          <a:ln/>
        </p:spPr>
        <p:txBody>
          <a:bodyPr wrap="square" rtlCol="0" anchor="ctr"/>
          <a:lstStyle/>
          <a:p>
            <a:pPr marL="0" indent="0">
              <a:buNone/>
            </a:pPr>
            <a:r>
              <a:rPr lang="en-US" sz="1300" dirty="0">
                <a:solidFill>
                  <a:srgbClr val="64748B"/>
                </a:solidFill>
                <a:latin typeface="Calibri" pitchFamily="34" charset="0"/>
              </a:rPr>
              <a:t>Sales lost to cancellations and fraud — dollar value, loss rate, and profit impact per category</a:t>
            </a:r>
          </a:p>
        </p:txBody>
      </p:sp>
      <p:sp>
        <p:nvSpPr>
          <p:cNvPr id="10" name="C1card"/>
          <p:cNvSpPr/>
          <p:nvPr/>
        </p:nvSpPr>
        <p:spPr>
          <a:xfrm>
            <a:off x="457200" y="1060000"/>
            <a:ext cx="2560080" cy="374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11" name="C1hdr"/>
          <p:cNvSpPr/>
          <p:nvPr/>
        </p:nvSpPr>
        <p:spPr>
          <a:xfrm>
            <a:off x="457200" y="1060000"/>
            <a:ext cx="2560080" cy="420000"/>
          </a:xfrm>
          <a:prstGeom prst="roundRect">
            <a:avLst>
              <a:gd name="adj" fmla="val 5000"/>
            </a:avLst>
          </a:prstGeom>
          <a:solidFill>
            <a:srgbClr val="065A82"/>
          </a:solidFill>
          <a:ln>
            <a:noFill/>
          </a:ln>
        </p:spPr>
        <p:txBody>
          <a:bodyPr wrap="square" lIns="182880" tIns="0" rIns="0" bIns="0" rtlCol="0" anchor="ctr"/>
          <a:lstStyle/>
          <a:p>
            <a:pPr marL="0" indent="0">
              <a:buNone/>
            </a:pPr>
            <a:r>
              <a:rPr lang="en-US" sz="1600" b="1" dirty="0">
                <a:solidFill>
                  <a:srgbClr val="FFFFFF"/>
                </a:solidFill>
                <a:latin typeface="Cambria"/>
              </a:rPr>
              <a:t>Cleats</a:t>
            </a:r>
          </a:p>
        </p:txBody>
      </p:sp>
      <p:sp>
        <p:nvSpPr>
          <p:cNvPr id="12" name="C1total"/>
          <p:cNvSpPr/>
          <p:nvPr/>
        </p:nvSpPr>
        <p:spPr>
          <a:xfrm>
            <a:off x="550000" y="1530000"/>
            <a:ext cx="2380000" cy="300000"/>
          </a:xfrm>
          <a:prstGeom prst="roundRect">
            <a:avLst>
              <a:gd name="adj" fmla="val 15000"/>
            </a:avLst>
          </a:prstGeom>
          <a:solidFill>
            <a:srgbClr val="EFF6FF"/>
          </a:solidFill>
          <a:ln>
            <a:noFill/>
          </a:ln>
        </p:spPr>
        <p:txBody>
          <a:bodyPr wrap="square" lIns="182880" tIns="0" rIns="0" bIns="0" rtlCol="0" anchor="ctr"/>
          <a:lstStyle/>
          <a:p>
            <a:pPr marL="0" indent="0">
              <a:buNone/>
            </a:pPr>
            <a:r>
              <a:rPr lang="en-US" sz="1000" dirty="0">
                <a:solidFill>
                  <a:srgbClr val="64748B"/>
                </a:solidFill>
                <a:latin typeface="Calibri"/>
              </a:rPr>
              <a:t>Total Sales  </a:t>
            </a:r>
            <a:r>
              <a:rPr lang="en-US" sz="1100" b="1" dirty="0">
                <a:solidFill>
                  <a:srgbClr val="065A82"/>
                </a:solidFill>
                <a:latin typeface="Calibri"/>
              </a:rPr>
              <a:t>$4,431,942.78</a:t>
            </a:r>
          </a:p>
        </p:txBody>
      </p:sp>
      <p:sp>
        <p:nvSpPr>
          <p:cNvPr id="13" name="C1cancbg"/>
          <p:cNvSpPr/>
          <p:nvPr/>
        </p:nvSpPr>
        <p:spPr>
          <a:xfrm>
            <a:off x="550000" y="1900000"/>
            <a:ext cx="1140000" cy="1500000"/>
          </a:xfrm>
          <a:prstGeom prst="roundRect">
            <a:avLst>
              <a:gd name="adj" fmla="val 5000"/>
            </a:avLst>
          </a:prstGeom>
          <a:solidFill>
            <a:srgbClr val="FEF2F2"/>
          </a:solidFill>
          <a:ln w="19050">
            <a:solidFill>
              <a:srgbClr val="DC2626"/>
            </a:solidFill>
          </a:ln>
        </p:spPr>
        <p:txBody>
          <a:bodyPr/>
          <a:lstStyle/>
          <a:p>
            <a:endParaRPr lang="en-US"/>
          </a:p>
        </p:txBody>
      </p:sp>
      <p:sp>
        <p:nvSpPr>
          <p:cNvPr id="14" name="C1canctext"/>
          <p:cNvSpPr/>
          <p:nvPr/>
        </p:nvSpPr>
        <p:spPr>
          <a:xfrm>
            <a:off x="570000" y="1920000"/>
            <a:ext cx="1100000" cy="1460000"/>
          </a:xfrm>
          <a:prstGeom prst="rect">
            <a:avLst/>
          </a:prstGeom>
          <a:noFill/>
          <a:ln/>
        </p:spPr>
        <p:txBody>
          <a:bodyPr wrap="square" rtlCol="0" anchor="t"/>
          <a:lstStyle/>
          <a:p>
            <a:pPr marL="0" indent="0">
              <a:buNone/>
            </a:pPr>
            <a:r>
              <a:rPr lang="en-US" sz="950" b="1" dirty="0">
                <a:solidFill>
                  <a:srgbClr val="DC2626"/>
                </a:solidFill>
                <a:latin typeface="Calibri"/>
              </a:rPr>
              <a:t>CANCELLED</a:t>
            </a:r>
          </a:p>
          <a:p>
            <a:pPr marL="0" indent="0">
              <a:buNone/>
            </a:pPr>
            <a:endParaRPr lang="en-US" sz="800"/>
          </a:p>
          <a:p>
            <a:pPr marL="0" indent="0">
              <a:buNone/>
            </a:pPr>
            <a:r>
              <a:rPr lang="en-US" sz="1600" b="1" dirty="0">
                <a:solidFill>
                  <a:srgbClr val="DC2626"/>
                </a:solidFill>
                <a:latin typeface="Cambria"/>
              </a:rPr>
              <a:t>1.94%</a:t>
            </a:r>
          </a:p>
          <a:p>
            <a:pPr marL="0" indent="0">
              <a:buNone/>
            </a:pPr>
            <a:r>
              <a:rPr lang="en-US" sz="1000" b="1" dirty="0">
                <a:solidFill>
                  <a:srgbClr val="1E293B"/>
                </a:solidFill>
                <a:latin typeface="Calibri"/>
              </a:rPr>
              <a:t>$85,785.70</a:t>
            </a:r>
          </a:p>
          <a:p>
            <a:pPr marL="0" indent="0">
              <a:buNone/>
            </a:pPr>
            <a:endParaRPr lang="en-US" sz="700"/>
          </a:p>
          <a:p>
            <a:pPr marL="0" indent="0">
              <a:buNone/>
            </a:pPr>
            <a:r>
              <a:rPr lang="en-US" sz="900" dirty="0">
                <a:solidFill>
                  <a:srgbClr val="64748B"/>
                </a:solidFill>
                <a:latin typeface="Calibri"/>
              </a:rPr>
              <a:t>Profit lost</a:t>
            </a:r>
          </a:p>
          <a:p>
            <a:pPr marL="0" indent="0">
              <a:buNone/>
            </a:pPr>
            <a:r>
              <a:rPr lang="en-US" sz="950" b="1" dirty="0">
                <a:solidFill>
                  <a:srgbClr val="1E293B"/>
                </a:solidFill>
                <a:latin typeface="Calibri"/>
              </a:rPr>
              <a:t>$8,789.54</a:t>
            </a:r>
          </a:p>
        </p:txBody>
      </p:sp>
      <p:sp>
        <p:nvSpPr>
          <p:cNvPr id="15" name="C1fraudbg"/>
          <p:cNvSpPr/>
          <p:nvPr/>
        </p:nvSpPr>
        <p:spPr>
          <a:xfrm>
            <a:off x="1730000" y="1900000"/>
            <a:ext cx="1140000" cy="1500000"/>
          </a:xfrm>
          <a:prstGeom prst="roundRect">
            <a:avLst>
              <a:gd name="adj" fmla="val 5000"/>
            </a:avLst>
          </a:prstGeom>
          <a:solidFill>
            <a:srgbClr val="FFFBEB"/>
          </a:solidFill>
          <a:ln w="19050">
            <a:solidFill>
              <a:srgbClr val="D97706"/>
            </a:solidFill>
          </a:ln>
        </p:spPr>
        <p:txBody>
          <a:bodyPr/>
          <a:lstStyle/>
          <a:p>
            <a:endParaRPr lang="en-US"/>
          </a:p>
        </p:txBody>
      </p:sp>
      <p:sp>
        <p:nvSpPr>
          <p:cNvPr id="16" name="C1fraudtext"/>
          <p:cNvSpPr/>
          <p:nvPr/>
        </p:nvSpPr>
        <p:spPr>
          <a:xfrm>
            <a:off x="1750000" y="1920000"/>
            <a:ext cx="1100000" cy="1460000"/>
          </a:xfrm>
          <a:prstGeom prst="rect">
            <a:avLst/>
          </a:prstGeom>
          <a:noFill/>
          <a:ln/>
        </p:spPr>
        <p:txBody>
          <a:bodyPr wrap="square" rtlCol="0" anchor="t"/>
          <a:lstStyle/>
          <a:p>
            <a:pPr marL="0" indent="0">
              <a:buNone/>
            </a:pPr>
            <a:r>
              <a:rPr lang="en-US" sz="950" b="1" dirty="0">
                <a:solidFill>
                  <a:srgbClr val="D97706"/>
                </a:solidFill>
                <a:latin typeface="Calibri"/>
              </a:rPr>
              <a:t>FRAUD</a:t>
            </a:r>
          </a:p>
          <a:p>
            <a:pPr marL="0" indent="0">
              <a:buNone/>
            </a:pPr>
            <a:endParaRPr lang="en-US" sz="800"/>
          </a:p>
          <a:p>
            <a:pPr marL="0" indent="0">
              <a:buNone/>
            </a:pPr>
            <a:r>
              <a:rPr lang="en-US" sz="1600" b="1" dirty="0">
                <a:solidFill>
                  <a:srgbClr val="D97706"/>
                </a:solidFill>
                <a:latin typeface="Cambria"/>
              </a:rPr>
              <a:t>2.29%</a:t>
            </a:r>
          </a:p>
          <a:p>
            <a:pPr marL="0" indent="0">
              <a:buNone/>
            </a:pPr>
            <a:r>
              <a:rPr lang="en-US" sz="1000" b="1" dirty="0">
                <a:solidFill>
                  <a:srgbClr val="1E293B"/>
                </a:solidFill>
                <a:latin typeface="Calibri"/>
              </a:rPr>
              <a:t>$101,563.07</a:t>
            </a:r>
          </a:p>
          <a:p>
            <a:pPr marL="0" indent="0">
              <a:buNone/>
            </a:pPr>
            <a:endParaRPr lang="en-US" sz="700"/>
          </a:p>
          <a:p>
            <a:pPr marL="0" indent="0">
              <a:buNone/>
            </a:pPr>
            <a:r>
              <a:rPr lang="en-US" sz="900" dirty="0">
                <a:solidFill>
                  <a:srgbClr val="64748B"/>
                </a:solidFill>
                <a:latin typeface="Calibri"/>
              </a:rPr>
              <a:t>Profit lost</a:t>
            </a:r>
          </a:p>
          <a:p>
            <a:pPr marL="0" indent="0">
              <a:buNone/>
            </a:pPr>
            <a:r>
              <a:rPr lang="en-US" sz="950" b="1" dirty="0">
                <a:solidFill>
                  <a:srgbClr val="1E293B"/>
                </a:solidFill>
                <a:latin typeface="Calibri"/>
              </a:rPr>
              <a:t>$11,217.87</a:t>
            </a:r>
          </a:p>
        </p:txBody>
      </p:sp>
      <p:sp>
        <p:nvSpPr>
          <p:cNvPr id="17" name="C1insight"/>
          <p:cNvSpPr/>
          <p:nvPr/>
        </p:nvSpPr>
        <p:spPr>
          <a:xfrm>
            <a:off x="550000" y="3480000"/>
            <a:ext cx="2370000" cy="280000"/>
          </a:xfrm>
          <a:prstGeom prst="rect">
            <a:avLst/>
          </a:prstGeom>
          <a:noFill/>
          <a:ln/>
        </p:spPr>
        <p:txBody>
          <a:bodyPr wrap="square" rtlCol="0" anchor="ctr"/>
          <a:lstStyle/>
          <a:p>
            <a:pPr marL="0" indent="0">
              <a:buNone/>
            </a:pPr>
            <a:r>
              <a:rPr lang="en-US" sz="1000" b="1" dirty="0">
                <a:solidFill>
                  <a:srgbClr val="065A82"/>
                </a:solidFill>
                <a:latin typeface="Calibri"/>
              </a:rPr>
              <a:t>Highest impact category</a:t>
            </a:r>
          </a:p>
        </p:txBody>
      </p:sp>
      <p:sp>
        <p:nvSpPr>
          <p:cNvPr id="20" name="C2card"/>
          <p:cNvSpPr/>
          <p:nvPr/>
        </p:nvSpPr>
        <p:spPr>
          <a:xfrm>
            <a:off x="3108720" y="1060000"/>
            <a:ext cx="2560080" cy="374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21" name="C2hdr"/>
          <p:cNvSpPr/>
          <p:nvPr/>
        </p:nvSpPr>
        <p:spPr>
          <a:xfrm>
            <a:off x="3108720" y="1060000"/>
            <a:ext cx="2560080" cy="420000"/>
          </a:xfrm>
          <a:prstGeom prst="roundRect">
            <a:avLst>
              <a:gd name="adj" fmla="val 5000"/>
            </a:avLst>
          </a:prstGeom>
          <a:solidFill>
            <a:srgbClr val="1C7293"/>
          </a:solidFill>
          <a:ln>
            <a:noFill/>
          </a:ln>
        </p:spPr>
        <p:txBody>
          <a:bodyPr wrap="square" lIns="182880" tIns="0" rIns="0" bIns="0" rtlCol="0" anchor="ctr"/>
          <a:lstStyle/>
          <a:p>
            <a:pPr marL="0" indent="0">
              <a:buNone/>
            </a:pPr>
            <a:r>
              <a:rPr lang="en-US" sz="1600" b="1" dirty="0">
                <a:solidFill>
                  <a:srgbClr val="FFFFFF"/>
                </a:solidFill>
                <a:latin typeface="Cambria"/>
              </a:rPr>
              <a:t>Men’s Footwear</a:t>
            </a:r>
          </a:p>
        </p:txBody>
      </p:sp>
      <p:sp>
        <p:nvSpPr>
          <p:cNvPr id="22" name="C2total"/>
          <p:cNvSpPr/>
          <p:nvPr/>
        </p:nvSpPr>
        <p:spPr>
          <a:xfrm>
            <a:off x="3201000" y="1530000"/>
            <a:ext cx="2380000" cy="300000"/>
          </a:xfrm>
          <a:prstGeom prst="roundRect">
            <a:avLst>
              <a:gd name="adj" fmla="val 15000"/>
            </a:avLst>
          </a:prstGeom>
          <a:solidFill>
            <a:srgbClr val="EFF6FF"/>
          </a:solidFill>
          <a:ln>
            <a:noFill/>
          </a:ln>
        </p:spPr>
        <p:txBody>
          <a:bodyPr wrap="square" lIns="182880" tIns="0" rIns="0" bIns="0" rtlCol="0" anchor="ctr"/>
          <a:lstStyle/>
          <a:p>
            <a:pPr marL="0" indent="0">
              <a:buNone/>
            </a:pPr>
            <a:r>
              <a:rPr lang="en-US" sz="1000" dirty="0">
                <a:solidFill>
                  <a:srgbClr val="64748B"/>
                </a:solidFill>
                <a:latin typeface="Calibri"/>
              </a:rPr>
              <a:t>Total Sales  </a:t>
            </a:r>
            <a:r>
              <a:rPr lang="en-US" sz="1100" b="1" dirty="0">
                <a:solidFill>
                  <a:srgbClr val="1C7293"/>
                </a:solidFill>
                <a:latin typeface="Calibri"/>
              </a:rPr>
              <a:t>$2,891,757.66</a:t>
            </a:r>
          </a:p>
        </p:txBody>
      </p:sp>
      <p:sp>
        <p:nvSpPr>
          <p:cNvPr id="23" name="C2cancbg"/>
          <p:cNvSpPr/>
          <p:nvPr/>
        </p:nvSpPr>
        <p:spPr>
          <a:xfrm>
            <a:off x="3201000" y="1900000"/>
            <a:ext cx="1140000" cy="1500000"/>
          </a:xfrm>
          <a:prstGeom prst="roundRect">
            <a:avLst>
              <a:gd name="adj" fmla="val 5000"/>
            </a:avLst>
          </a:prstGeom>
          <a:solidFill>
            <a:srgbClr val="FEF2F2"/>
          </a:solidFill>
          <a:ln w="19050">
            <a:solidFill>
              <a:srgbClr val="DC2626"/>
            </a:solidFill>
          </a:ln>
        </p:spPr>
        <p:txBody>
          <a:bodyPr/>
          <a:lstStyle/>
          <a:p>
            <a:endParaRPr lang="en-US"/>
          </a:p>
        </p:txBody>
      </p:sp>
      <p:sp>
        <p:nvSpPr>
          <p:cNvPr id="24" name="C2canctext"/>
          <p:cNvSpPr/>
          <p:nvPr/>
        </p:nvSpPr>
        <p:spPr>
          <a:xfrm>
            <a:off x="3221000" y="1920000"/>
            <a:ext cx="1100000" cy="1460000"/>
          </a:xfrm>
          <a:prstGeom prst="rect">
            <a:avLst/>
          </a:prstGeom>
          <a:noFill/>
          <a:ln/>
        </p:spPr>
        <p:txBody>
          <a:bodyPr wrap="square" rtlCol="0" anchor="t"/>
          <a:lstStyle/>
          <a:p>
            <a:pPr marL="0" indent="0">
              <a:buNone/>
            </a:pPr>
            <a:r>
              <a:rPr lang="en-US" sz="950" b="1" dirty="0">
                <a:solidFill>
                  <a:srgbClr val="DC2626"/>
                </a:solidFill>
                <a:latin typeface="Calibri"/>
              </a:rPr>
              <a:t>CANCELLED</a:t>
            </a:r>
          </a:p>
          <a:p>
            <a:pPr marL="0" indent="0">
              <a:buNone/>
            </a:pPr>
            <a:endParaRPr lang="en-US" sz="800"/>
          </a:p>
          <a:p>
            <a:pPr marL="0" indent="0">
              <a:buNone/>
            </a:pPr>
            <a:r>
              <a:rPr lang="en-US" sz="1600" b="1" dirty="0">
                <a:solidFill>
                  <a:srgbClr val="DC2626"/>
                </a:solidFill>
                <a:latin typeface="Cambria"/>
              </a:rPr>
              <a:t>2.10%</a:t>
            </a:r>
          </a:p>
          <a:p>
            <a:pPr marL="0" indent="0">
              <a:buNone/>
            </a:pPr>
            <a:r>
              <a:rPr lang="en-US" sz="1000" b="1" dirty="0">
                <a:solidFill>
                  <a:srgbClr val="1E293B"/>
                </a:solidFill>
                <a:latin typeface="Calibri"/>
              </a:rPr>
              <a:t>$60,705.33</a:t>
            </a:r>
          </a:p>
          <a:p>
            <a:pPr marL="0" indent="0">
              <a:buNone/>
            </a:pPr>
            <a:endParaRPr lang="en-US" sz="700"/>
          </a:p>
          <a:p>
            <a:pPr marL="0" indent="0">
              <a:buNone/>
            </a:pPr>
            <a:r>
              <a:rPr lang="en-US" sz="900" dirty="0">
                <a:solidFill>
                  <a:srgbClr val="64748B"/>
                </a:solidFill>
                <a:latin typeface="Calibri"/>
              </a:rPr>
              <a:t>Profit lost</a:t>
            </a:r>
          </a:p>
          <a:p>
            <a:pPr marL="0" indent="0">
              <a:buNone/>
            </a:pPr>
            <a:r>
              <a:rPr lang="en-US" sz="950" b="1" dirty="0">
                <a:solidFill>
                  <a:srgbClr val="1E293B"/>
                </a:solidFill>
                <a:latin typeface="Calibri"/>
              </a:rPr>
              <a:t>$6,712.10</a:t>
            </a:r>
          </a:p>
        </p:txBody>
      </p:sp>
      <p:sp>
        <p:nvSpPr>
          <p:cNvPr id="25" name="C2fraudbg"/>
          <p:cNvSpPr/>
          <p:nvPr/>
        </p:nvSpPr>
        <p:spPr>
          <a:xfrm>
            <a:off x="4381000" y="1900000"/>
            <a:ext cx="1140000" cy="1500000"/>
          </a:xfrm>
          <a:prstGeom prst="roundRect">
            <a:avLst>
              <a:gd name="adj" fmla="val 5000"/>
            </a:avLst>
          </a:prstGeom>
          <a:solidFill>
            <a:srgbClr val="FFFBEB"/>
          </a:solidFill>
          <a:ln w="19050">
            <a:solidFill>
              <a:srgbClr val="D97706"/>
            </a:solidFill>
          </a:ln>
        </p:spPr>
        <p:txBody>
          <a:bodyPr/>
          <a:lstStyle/>
          <a:p>
            <a:endParaRPr lang="en-US"/>
          </a:p>
        </p:txBody>
      </p:sp>
      <p:sp>
        <p:nvSpPr>
          <p:cNvPr id="26" name="C2fraudtext"/>
          <p:cNvSpPr/>
          <p:nvPr/>
        </p:nvSpPr>
        <p:spPr>
          <a:xfrm>
            <a:off x="4401000" y="1920000"/>
            <a:ext cx="1100000" cy="1460000"/>
          </a:xfrm>
          <a:prstGeom prst="rect">
            <a:avLst/>
          </a:prstGeom>
          <a:noFill/>
          <a:ln/>
        </p:spPr>
        <p:txBody>
          <a:bodyPr wrap="square" rtlCol="0" anchor="t"/>
          <a:lstStyle/>
          <a:p>
            <a:pPr marL="0" indent="0">
              <a:buNone/>
            </a:pPr>
            <a:r>
              <a:rPr lang="en-US" sz="950" b="1" dirty="0">
                <a:solidFill>
                  <a:srgbClr val="D97706"/>
                </a:solidFill>
                <a:latin typeface="Calibri"/>
              </a:rPr>
              <a:t>FRAUD</a:t>
            </a:r>
          </a:p>
          <a:p>
            <a:pPr marL="0" indent="0">
              <a:buNone/>
            </a:pPr>
            <a:endParaRPr lang="en-US" sz="800"/>
          </a:p>
          <a:p>
            <a:pPr marL="0" indent="0">
              <a:buNone/>
            </a:pPr>
            <a:r>
              <a:rPr lang="en-US" sz="1600" b="1" dirty="0">
                <a:solidFill>
                  <a:srgbClr val="D97706"/>
                </a:solidFill>
                <a:latin typeface="Cambria"/>
              </a:rPr>
              <a:t>2.32%</a:t>
            </a:r>
          </a:p>
          <a:p>
            <a:pPr marL="0" indent="0">
              <a:buNone/>
            </a:pPr>
            <a:r>
              <a:rPr lang="en-US" sz="1000" b="1" dirty="0">
                <a:solidFill>
                  <a:srgbClr val="1E293B"/>
                </a:solidFill>
                <a:latin typeface="Calibri"/>
              </a:rPr>
              <a:t>$67,074.84</a:t>
            </a:r>
          </a:p>
          <a:p>
            <a:pPr marL="0" indent="0">
              <a:buNone/>
            </a:pPr>
            <a:endParaRPr lang="en-US" sz="700"/>
          </a:p>
          <a:p>
            <a:pPr marL="0" indent="0">
              <a:buNone/>
            </a:pPr>
            <a:r>
              <a:rPr lang="en-US" sz="900" dirty="0">
                <a:solidFill>
                  <a:srgbClr val="64748B"/>
                </a:solidFill>
                <a:latin typeface="Calibri"/>
              </a:rPr>
              <a:t>Profit lost</a:t>
            </a:r>
          </a:p>
          <a:p>
            <a:pPr marL="0" indent="0">
              <a:buNone/>
            </a:pPr>
            <a:r>
              <a:rPr lang="en-US" sz="950" b="1" dirty="0">
                <a:solidFill>
                  <a:srgbClr val="1E293B"/>
                </a:solidFill>
                <a:latin typeface="Calibri"/>
              </a:rPr>
              <a:t>$8,479.63</a:t>
            </a:r>
          </a:p>
        </p:txBody>
      </p:sp>
      <p:sp>
        <p:nvSpPr>
          <p:cNvPr id="27" name="C2insight"/>
          <p:cNvSpPr/>
          <p:nvPr/>
        </p:nvSpPr>
        <p:spPr>
          <a:xfrm>
            <a:off x="3201000" y="3480000"/>
            <a:ext cx="2370000" cy="280000"/>
          </a:xfrm>
          <a:prstGeom prst="rect">
            <a:avLst/>
          </a:prstGeom>
          <a:noFill/>
          <a:ln/>
        </p:spPr>
        <p:txBody>
          <a:bodyPr wrap="square" rtlCol="0" anchor="ctr"/>
          <a:lstStyle/>
          <a:p>
            <a:pPr marL="0" indent="0">
              <a:buNone/>
            </a:pPr>
            <a:r>
              <a:rPr lang="en-US" sz="1000" b="1" dirty="0">
                <a:solidFill>
                  <a:srgbClr val="1C7293"/>
                </a:solidFill>
                <a:latin typeface="Calibri"/>
              </a:rPr>
              <a:t>Fraud dominates losses</a:t>
            </a:r>
          </a:p>
        </p:txBody>
      </p:sp>
      <p:sp>
        <p:nvSpPr>
          <p:cNvPr id="30" name="C3card"/>
          <p:cNvSpPr/>
          <p:nvPr/>
        </p:nvSpPr>
        <p:spPr>
          <a:xfrm>
            <a:off x="5751960" y="1060000"/>
            <a:ext cx="2560080" cy="374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31" name="C3hdr"/>
          <p:cNvSpPr/>
          <p:nvPr/>
        </p:nvSpPr>
        <p:spPr>
          <a:xfrm>
            <a:off x="5760240" y="1060000"/>
            <a:ext cx="2560080" cy="420000"/>
          </a:xfrm>
          <a:prstGeom prst="roundRect">
            <a:avLst>
              <a:gd name="adj" fmla="val 5000"/>
            </a:avLst>
          </a:prstGeom>
          <a:solidFill>
            <a:srgbClr val="21295C"/>
          </a:solidFill>
          <a:ln>
            <a:noFill/>
          </a:ln>
        </p:spPr>
        <p:txBody>
          <a:bodyPr wrap="square" lIns="182880" tIns="0" rIns="0" bIns="0" rtlCol="0" anchor="ctr"/>
          <a:lstStyle/>
          <a:p>
            <a:pPr marL="0" indent="0">
              <a:buNone/>
            </a:pPr>
            <a:r>
              <a:rPr lang="en-US" sz="1600" b="1" dirty="0">
                <a:solidFill>
                  <a:srgbClr val="FFFFFF"/>
                </a:solidFill>
                <a:latin typeface="Cambria"/>
              </a:rPr>
              <a:t>Women’s Apparel</a:t>
            </a:r>
          </a:p>
        </p:txBody>
      </p:sp>
      <p:sp>
        <p:nvSpPr>
          <p:cNvPr id="32" name="C3total"/>
          <p:cNvSpPr/>
          <p:nvPr/>
        </p:nvSpPr>
        <p:spPr>
          <a:xfrm>
            <a:off x="5852000" y="1530000"/>
            <a:ext cx="2380000" cy="300000"/>
          </a:xfrm>
          <a:prstGeom prst="roundRect">
            <a:avLst>
              <a:gd name="adj" fmla="val 15000"/>
            </a:avLst>
          </a:prstGeom>
          <a:solidFill>
            <a:srgbClr val="EFF6FF"/>
          </a:solidFill>
          <a:ln>
            <a:noFill/>
          </a:ln>
        </p:spPr>
        <p:txBody>
          <a:bodyPr wrap="square" lIns="182880" tIns="0" rIns="0" bIns="0" rtlCol="0" anchor="ctr"/>
          <a:lstStyle/>
          <a:p>
            <a:pPr marL="0" indent="0">
              <a:buNone/>
            </a:pPr>
            <a:r>
              <a:rPr lang="en-US" sz="1000" dirty="0">
                <a:solidFill>
                  <a:srgbClr val="64748B"/>
                </a:solidFill>
                <a:latin typeface="Calibri"/>
              </a:rPr>
              <a:t>Total Sales  </a:t>
            </a:r>
            <a:r>
              <a:rPr lang="en-US" sz="1100" b="1" dirty="0">
                <a:solidFill>
                  <a:srgbClr val="21295C"/>
                </a:solidFill>
                <a:latin typeface="Calibri"/>
              </a:rPr>
              <a:t>$3,147,800.00</a:t>
            </a:r>
          </a:p>
        </p:txBody>
      </p:sp>
      <p:sp>
        <p:nvSpPr>
          <p:cNvPr id="33" name="C3cancbg"/>
          <p:cNvSpPr/>
          <p:nvPr/>
        </p:nvSpPr>
        <p:spPr>
          <a:xfrm>
            <a:off x="5852000" y="1900000"/>
            <a:ext cx="1140000" cy="1500000"/>
          </a:xfrm>
          <a:prstGeom prst="roundRect">
            <a:avLst>
              <a:gd name="adj" fmla="val 5000"/>
            </a:avLst>
          </a:prstGeom>
          <a:solidFill>
            <a:srgbClr val="FEF2F2"/>
          </a:solidFill>
          <a:ln w="19050">
            <a:solidFill>
              <a:srgbClr val="DC2626"/>
            </a:solidFill>
          </a:ln>
        </p:spPr>
        <p:txBody>
          <a:bodyPr/>
          <a:lstStyle/>
          <a:p>
            <a:endParaRPr lang="en-US"/>
          </a:p>
        </p:txBody>
      </p:sp>
      <p:sp>
        <p:nvSpPr>
          <p:cNvPr id="34" name="C3canctext"/>
          <p:cNvSpPr/>
          <p:nvPr/>
        </p:nvSpPr>
        <p:spPr>
          <a:xfrm>
            <a:off x="5872000" y="1920000"/>
            <a:ext cx="1100000" cy="1460000"/>
          </a:xfrm>
          <a:prstGeom prst="rect">
            <a:avLst/>
          </a:prstGeom>
          <a:noFill/>
          <a:ln/>
        </p:spPr>
        <p:txBody>
          <a:bodyPr wrap="square" rtlCol="0" anchor="t"/>
          <a:lstStyle/>
          <a:p>
            <a:pPr marL="0" indent="0">
              <a:buNone/>
            </a:pPr>
            <a:r>
              <a:rPr lang="en-US" sz="950" b="1" dirty="0">
                <a:solidFill>
                  <a:srgbClr val="DC2626"/>
                </a:solidFill>
                <a:latin typeface="Calibri"/>
              </a:rPr>
              <a:t>CANCELLED</a:t>
            </a:r>
          </a:p>
          <a:p>
            <a:pPr marL="0" indent="0">
              <a:buNone/>
            </a:pPr>
            <a:endParaRPr lang="en-US" sz="800"/>
          </a:p>
          <a:p>
            <a:pPr marL="0" indent="0">
              <a:buNone/>
            </a:pPr>
            <a:r>
              <a:rPr lang="en-US" sz="1600" b="1" dirty="0">
                <a:solidFill>
                  <a:srgbClr val="DC2626"/>
                </a:solidFill>
                <a:latin typeface="Cambria"/>
              </a:rPr>
              <a:t>2.09%</a:t>
            </a:r>
          </a:p>
          <a:p>
            <a:pPr marL="0" indent="0">
              <a:buNone/>
            </a:pPr>
            <a:r>
              <a:rPr lang="en-US" sz="1000" b="1" dirty="0">
                <a:solidFill>
                  <a:srgbClr val="1E293B"/>
                </a:solidFill>
                <a:latin typeface="Calibri"/>
              </a:rPr>
              <a:t>$65,750.00</a:t>
            </a:r>
          </a:p>
          <a:p>
            <a:pPr marL="0" indent="0">
              <a:buNone/>
            </a:pPr>
            <a:endParaRPr lang="en-US" sz="700"/>
          </a:p>
          <a:p>
            <a:pPr marL="0" indent="0">
              <a:buNone/>
            </a:pPr>
            <a:r>
              <a:rPr lang="en-US" sz="900" dirty="0">
                <a:solidFill>
                  <a:srgbClr val="64748B"/>
                </a:solidFill>
                <a:latin typeface="Calibri"/>
              </a:rPr>
              <a:t>Profit lost</a:t>
            </a:r>
          </a:p>
          <a:p>
            <a:pPr marL="0" indent="0">
              <a:buNone/>
            </a:pPr>
            <a:r>
              <a:rPr lang="en-US" sz="950" b="1" dirty="0">
                <a:solidFill>
                  <a:srgbClr val="1E293B"/>
                </a:solidFill>
                <a:latin typeface="Calibri"/>
              </a:rPr>
              <a:t>$8,032.32</a:t>
            </a:r>
          </a:p>
        </p:txBody>
      </p:sp>
      <p:sp>
        <p:nvSpPr>
          <p:cNvPr id="35" name="C3fraudbg"/>
          <p:cNvSpPr/>
          <p:nvPr/>
        </p:nvSpPr>
        <p:spPr>
          <a:xfrm>
            <a:off x="7032000" y="1900000"/>
            <a:ext cx="1140000" cy="1500000"/>
          </a:xfrm>
          <a:prstGeom prst="roundRect">
            <a:avLst>
              <a:gd name="adj" fmla="val 5000"/>
            </a:avLst>
          </a:prstGeom>
          <a:solidFill>
            <a:srgbClr val="FFFBEB"/>
          </a:solidFill>
          <a:ln w="19050">
            <a:solidFill>
              <a:srgbClr val="D97706"/>
            </a:solidFill>
          </a:ln>
        </p:spPr>
        <p:txBody>
          <a:bodyPr/>
          <a:lstStyle/>
          <a:p>
            <a:endParaRPr lang="en-US"/>
          </a:p>
        </p:txBody>
      </p:sp>
      <p:sp>
        <p:nvSpPr>
          <p:cNvPr id="36" name="C3fraudtext"/>
          <p:cNvSpPr/>
          <p:nvPr/>
        </p:nvSpPr>
        <p:spPr>
          <a:xfrm>
            <a:off x="7052000" y="1920000"/>
            <a:ext cx="1100000" cy="1460000"/>
          </a:xfrm>
          <a:prstGeom prst="rect">
            <a:avLst/>
          </a:prstGeom>
          <a:noFill/>
          <a:ln/>
        </p:spPr>
        <p:txBody>
          <a:bodyPr wrap="square" rtlCol="0" anchor="t"/>
          <a:lstStyle/>
          <a:p>
            <a:pPr marL="0" indent="0">
              <a:buNone/>
            </a:pPr>
            <a:r>
              <a:rPr lang="en-US" sz="950" b="1" dirty="0">
                <a:solidFill>
                  <a:srgbClr val="D97706"/>
                </a:solidFill>
                <a:latin typeface="Calibri"/>
              </a:rPr>
              <a:t>FRAUD</a:t>
            </a:r>
          </a:p>
          <a:p>
            <a:pPr marL="0" indent="0">
              <a:buNone/>
            </a:pPr>
            <a:endParaRPr lang="en-US" sz="800"/>
          </a:p>
          <a:p>
            <a:pPr marL="0" indent="0">
              <a:buNone/>
            </a:pPr>
            <a:r>
              <a:rPr lang="en-US" sz="1600" b="1" dirty="0">
                <a:solidFill>
                  <a:srgbClr val="D97706"/>
                </a:solidFill>
                <a:latin typeface="Cambria"/>
              </a:rPr>
              <a:t>2.24%</a:t>
            </a:r>
          </a:p>
          <a:p>
            <a:pPr marL="0" indent="0">
              <a:buNone/>
            </a:pPr>
            <a:r>
              <a:rPr lang="en-US" sz="1000" b="1" dirty="0">
                <a:solidFill>
                  <a:srgbClr val="1E293B"/>
                </a:solidFill>
                <a:latin typeface="Calibri"/>
              </a:rPr>
              <a:t>$70,450.00</a:t>
            </a:r>
          </a:p>
          <a:p>
            <a:pPr marL="0" indent="0">
              <a:buNone/>
            </a:pPr>
            <a:endParaRPr lang="en-US" sz="700"/>
          </a:p>
          <a:p>
            <a:pPr marL="0" indent="0">
              <a:buNone/>
            </a:pPr>
            <a:r>
              <a:rPr lang="en-US" sz="900" dirty="0">
                <a:solidFill>
                  <a:srgbClr val="64748B"/>
                </a:solidFill>
                <a:latin typeface="Calibri"/>
              </a:rPr>
              <a:t>Profit lost</a:t>
            </a:r>
          </a:p>
          <a:p>
            <a:pPr marL="0" indent="0">
              <a:buNone/>
            </a:pPr>
            <a:r>
              <a:rPr lang="en-US" sz="950" b="1" dirty="0">
                <a:solidFill>
                  <a:srgbClr val="1E293B"/>
                </a:solidFill>
                <a:latin typeface="Calibri"/>
              </a:rPr>
              <a:t>$8,053.18</a:t>
            </a:r>
          </a:p>
        </p:txBody>
      </p:sp>
      <p:sp>
        <p:nvSpPr>
          <p:cNvPr id="37" name="C3insight"/>
          <p:cNvSpPr/>
          <p:nvPr/>
        </p:nvSpPr>
        <p:spPr>
          <a:xfrm>
            <a:off x="5852000" y="3480000"/>
            <a:ext cx="2370000" cy="280000"/>
          </a:xfrm>
          <a:prstGeom prst="rect">
            <a:avLst/>
          </a:prstGeom>
          <a:noFill/>
          <a:ln/>
        </p:spPr>
        <p:txBody>
          <a:bodyPr wrap="square" rtlCol="0" anchor="ctr"/>
          <a:lstStyle/>
          <a:p>
            <a:pPr marL="0" indent="0">
              <a:buNone/>
            </a:pPr>
            <a:r>
              <a:rPr lang="en-US" sz="1000" b="1" dirty="0">
                <a:solidFill>
                  <a:srgbClr val="21295C"/>
                </a:solidFill>
                <a:latin typeface="Calibri"/>
              </a:rPr>
              <a:t>Balanced risk exposure</a:t>
            </a:r>
          </a:p>
        </p:txBody>
      </p:sp>
      <p:sp>
        <p:nvSpPr>
          <p:cNvPr id="50" name="Banner"/>
          <p:cNvSpPr/>
          <p:nvPr/>
        </p:nvSpPr>
        <p:spPr>
          <a:xfrm>
            <a:off x="339634" y="3936006"/>
            <a:ext cx="8229600" cy="400000"/>
          </a:xfrm>
          <a:prstGeom prst="roundRect">
            <a:avLst>
              <a:gd name="adj" fmla="val 3000"/>
            </a:avLst>
          </a:prstGeom>
          <a:solidFill>
            <a:srgbClr val="FEF3C7"/>
          </a:solidFill>
          <a:ln w="19050">
            <a:solidFill>
              <a:srgbClr val="D97706"/>
            </a:solidFill>
          </a:ln>
        </p:spPr>
        <p:txBody>
          <a:bodyPr wrap="square" lIns="182880" tIns="91440" rIns="182880" bIns="91440" rtlCol="0" anchor="ctr"/>
          <a:lstStyle/>
          <a:p>
            <a:pPr marL="0" indent="0">
              <a:buNone/>
            </a:pPr>
            <a:r>
              <a:rPr lang="en-US" sz="1000" b="1" dirty="0">
                <a:solidFill>
                  <a:srgbClr val="92400E"/>
                </a:solidFill>
                <a:latin typeface="Calibri"/>
              </a:rPr>
              <a:t>⚠ Key Insight: </a:t>
            </a:r>
            <a:r>
              <a:rPr lang="en-US" sz="1000" dirty="0">
                <a:solidFill>
                  <a:srgbClr val="78350F"/>
                </a:solidFill>
                <a:latin typeface="Calibri"/>
              </a:rPr>
              <a:t>Fraud loss rate consistently exceeds cancellation rate across all three categories. All figures hover near ~2% per risk type — a systemic pattern, not isolated incidents.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30352"/>
          </a:xfrm>
          <a:prstGeom prst="rect">
            <a:avLst/>
          </a:prstGeom>
          <a:noFill/>
          <a:ln/>
        </p:spPr>
        <p:txBody>
          <a:bodyPr wrap="square" rtlCol="0" anchor="ctr"/>
          <a:lstStyle/>
          <a:p>
            <a:pPr marL="0" indent="0">
              <a:buNone/>
            </a:pPr>
            <a:r>
              <a:rPr lang="en-US" sz="2600" b="1" dirty="0">
                <a:solidFill>
                  <a:srgbClr val="065A82"/>
                </a:solidFill>
                <a:latin typeface="Cambria" pitchFamily="34" charset="0"/>
                <a:ea typeface="Cambria" pitchFamily="34" charset="-122"/>
                <a:cs typeface="Cambria" pitchFamily="34" charset="-120"/>
              </a:rPr>
              <a:t>Recommended Analytical Next Steps</a:t>
            </a:r>
            <a:endParaRPr lang="en-US" sz="2600" dirty="0"/>
          </a:p>
        </p:txBody>
      </p:sp>
      <p:sp>
        <p:nvSpPr>
          <p:cNvPr id="3" name="Shape 1"/>
          <p:cNvSpPr/>
          <p:nvPr/>
        </p:nvSpPr>
        <p:spPr>
          <a:xfrm>
            <a:off x="347472" y="804672"/>
            <a:ext cx="4251960" cy="1395198"/>
          </a:xfrm>
          <a:prstGeom prst="roundRect">
            <a:avLst>
              <a:gd name="adj" fmla="val 5714"/>
            </a:avLst>
          </a:prstGeom>
          <a:solidFill>
            <a:srgbClr val="FFFFFF"/>
          </a:solidFill>
          <a:ln/>
          <a:effectLst>
            <a:outerShdw blurRad="76200" dist="25400" dir="2700000" algn="bl" rotWithShape="0">
              <a:srgbClr val="000000">
                <a:alpha val="12000"/>
              </a:srgbClr>
            </a:outerShdw>
          </a:effectLst>
        </p:spPr>
        <p:txBody>
          <a:bodyPr/>
          <a:lstStyle/>
          <a:p>
            <a:endParaRPr lang="en-SG"/>
          </a:p>
        </p:txBody>
      </p:sp>
      <p:sp>
        <p:nvSpPr>
          <p:cNvPr id="4" name="Text 2"/>
          <p:cNvSpPr/>
          <p:nvPr/>
        </p:nvSpPr>
        <p:spPr>
          <a:xfrm>
            <a:off x="484632" y="1115568"/>
            <a:ext cx="594360" cy="59436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5" name="Text 3"/>
          <p:cNvSpPr/>
          <p:nvPr/>
        </p:nvSpPr>
        <p:spPr>
          <a:xfrm>
            <a:off x="1102511" y="905256"/>
            <a:ext cx="3291840" cy="347472"/>
          </a:xfrm>
          <a:prstGeom prst="rect">
            <a:avLst/>
          </a:prstGeom>
          <a:noFill/>
          <a:ln/>
        </p:spPr>
        <p:txBody>
          <a:bodyPr wrap="square" lIns="0" tIns="0" rIns="0" bIns="0" rtlCol="0" anchor="ctr"/>
          <a:lstStyle/>
          <a:p>
            <a:pPr marL="0" indent="0">
              <a:buNone/>
            </a:pPr>
            <a:r>
              <a:rPr lang="en-US" sz="1200" b="1" dirty="0">
                <a:solidFill>
                  <a:srgbClr val="065A82"/>
                </a:solidFill>
                <a:latin typeface="Cambria" pitchFamily="34" charset="0"/>
                <a:ea typeface="Cambria" pitchFamily="34" charset="-122"/>
                <a:cs typeface="Cambria" pitchFamily="34" charset="-120"/>
              </a:rPr>
              <a:t>Investigate PENDING_PAYMENT</a:t>
            </a:r>
            <a:endParaRPr lang="en-US" sz="1200" dirty="0"/>
          </a:p>
        </p:txBody>
      </p:sp>
      <p:sp>
        <p:nvSpPr>
          <p:cNvPr id="6" name="Text 4"/>
          <p:cNvSpPr/>
          <p:nvPr/>
        </p:nvSpPr>
        <p:spPr>
          <a:xfrm>
            <a:off x="1095014" y="1303673"/>
            <a:ext cx="3291840" cy="100584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Examine payment methods, demographics, order values, and temporal patterns to identify root causes of payment failures.</a:t>
            </a:r>
            <a:endParaRPr lang="en-US" sz="1050" dirty="0"/>
          </a:p>
        </p:txBody>
      </p:sp>
      <p:sp>
        <p:nvSpPr>
          <p:cNvPr id="7" name="Shape 5"/>
          <p:cNvSpPr/>
          <p:nvPr/>
        </p:nvSpPr>
        <p:spPr>
          <a:xfrm>
            <a:off x="4782312" y="800058"/>
            <a:ext cx="4251960" cy="1395198"/>
          </a:xfrm>
          <a:prstGeom prst="roundRect">
            <a:avLst>
              <a:gd name="adj" fmla="val 5714"/>
            </a:avLst>
          </a:prstGeom>
          <a:solidFill>
            <a:srgbClr val="FFFFFF"/>
          </a:solidFill>
          <a:ln/>
          <a:effectLst>
            <a:outerShdw blurRad="76200" dist="25400" dir="2700000" algn="bl" rotWithShape="0">
              <a:srgbClr val="000000">
                <a:alpha val="12000"/>
              </a:srgbClr>
            </a:outerShdw>
          </a:effectLst>
        </p:spPr>
        <p:txBody>
          <a:bodyPr/>
          <a:lstStyle/>
          <a:p>
            <a:endParaRPr lang="en-SG"/>
          </a:p>
        </p:txBody>
      </p:sp>
      <p:sp>
        <p:nvSpPr>
          <p:cNvPr id="8" name="Text 6"/>
          <p:cNvSpPr/>
          <p:nvPr/>
        </p:nvSpPr>
        <p:spPr>
          <a:xfrm>
            <a:off x="4965192" y="1115568"/>
            <a:ext cx="594360" cy="59436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5559552" y="891498"/>
            <a:ext cx="3291840" cy="347472"/>
          </a:xfrm>
          <a:prstGeom prst="rect">
            <a:avLst/>
          </a:prstGeom>
          <a:noFill/>
          <a:ln/>
        </p:spPr>
        <p:txBody>
          <a:bodyPr wrap="square" lIns="0" tIns="0" rIns="0" bIns="0" rtlCol="0" anchor="ctr"/>
          <a:lstStyle/>
          <a:p>
            <a:pPr marL="0" indent="0">
              <a:buNone/>
            </a:pPr>
            <a:r>
              <a:rPr lang="en-US" sz="1200" b="1" dirty="0">
                <a:solidFill>
                  <a:srgbClr val="065A82"/>
                </a:solidFill>
                <a:latin typeface="Cambria" pitchFamily="34" charset="0"/>
                <a:ea typeface="Cambria" pitchFamily="34" charset="-122"/>
                <a:cs typeface="Cambria" pitchFamily="34" charset="-120"/>
              </a:rPr>
              <a:t>Analyse High-Risk Statuses</a:t>
            </a:r>
            <a:endParaRPr lang="en-US" sz="1200" dirty="0"/>
          </a:p>
        </p:txBody>
      </p:sp>
      <p:sp>
        <p:nvSpPr>
          <p:cNvPr id="10" name="Text 8"/>
          <p:cNvSpPr/>
          <p:nvPr/>
        </p:nvSpPr>
        <p:spPr>
          <a:xfrm>
            <a:off x="5559552" y="1266444"/>
            <a:ext cx="3291840" cy="100584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Quantify financial impact of ON_HOLD, FRAUD, CANCELED, and PAYMENT_REVIEW orders. Map to specific products, segments, or geographies.</a:t>
            </a:r>
            <a:endParaRPr lang="en-US" sz="1050" dirty="0"/>
          </a:p>
        </p:txBody>
      </p:sp>
      <p:sp>
        <p:nvSpPr>
          <p:cNvPr id="11" name="Shape 9"/>
          <p:cNvSpPr/>
          <p:nvPr/>
        </p:nvSpPr>
        <p:spPr>
          <a:xfrm>
            <a:off x="378516" y="2336987"/>
            <a:ext cx="4251960" cy="1462345"/>
          </a:xfrm>
          <a:prstGeom prst="roundRect">
            <a:avLst>
              <a:gd name="adj" fmla="val 5714"/>
            </a:avLst>
          </a:prstGeom>
          <a:solidFill>
            <a:srgbClr val="FFFFFF"/>
          </a:solidFill>
          <a:ln/>
          <a:effectLst>
            <a:outerShdw blurRad="76200" dist="25400" dir="2700000" algn="bl" rotWithShape="0">
              <a:srgbClr val="000000">
                <a:alpha val="12000"/>
              </a:srgbClr>
            </a:outerShdw>
          </a:effectLst>
        </p:spPr>
        <p:txBody>
          <a:bodyPr/>
          <a:lstStyle/>
          <a:p>
            <a:endParaRPr lang="en-SG"/>
          </a:p>
        </p:txBody>
      </p:sp>
      <p:sp>
        <p:nvSpPr>
          <p:cNvPr id="12" name="Text 10"/>
          <p:cNvSpPr/>
          <p:nvPr/>
        </p:nvSpPr>
        <p:spPr>
          <a:xfrm>
            <a:off x="484632" y="2860155"/>
            <a:ext cx="594360" cy="59436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1124712" y="2642616"/>
            <a:ext cx="3291840" cy="347472"/>
          </a:xfrm>
          <a:prstGeom prst="rect">
            <a:avLst/>
          </a:prstGeom>
          <a:noFill/>
          <a:ln/>
        </p:spPr>
        <p:txBody>
          <a:bodyPr wrap="square" lIns="0" tIns="0" rIns="0" bIns="0" rtlCol="0" anchor="ctr"/>
          <a:lstStyle/>
          <a:p>
            <a:pPr marL="0" indent="0">
              <a:buNone/>
            </a:pPr>
            <a:r>
              <a:rPr lang="en-US" sz="1200" b="1" dirty="0">
                <a:solidFill>
                  <a:srgbClr val="065A82"/>
                </a:solidFill>
                <a:latin typeface="Cambria" pitchFamily="34" charset="0"/>
                <a:ea typeface="Cambria" pitchFamily="34" charset="-122"/>
                <a:cs typeface="Cambria" pitchFamily="34" charset="-120"/>
              </a:rPr>
              <a:t>Evaluate Fulfilment Speed</a:t>
            </a:r>
            <a:endParaRPr lang="en-US" sz="1200" dirty="0"/>
          </a:p>
        </p:txBody>
      </p:sp>
      <p:sp>
        <p:nvSpPr>
          <p:cNvPr id="14" name="Text 12"/>
          <p:cNvSpPr/>
          <p:nvPr/>
        </p:nvSpPr>
        <p:spPr>
          <a:xfrm>
            <a:off x="1124712" y="2999232"/>
            <a:ext cx="3291840" cy="100584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Measure average time in PROCESSING and PENDING states. Identify optimisation opportunities to reduce cycle times.</a:t>
            </a:r>
            <a:endParaRPr lang="en-US" sz="1050" dirty="0"/>
          </a:p>
        </p:txBody>
      </p:sp>
      <p:sp>
        <p:nvSpPr>
          <p:cNvPr id="15" name="Shape 13"/>
          <p:cNvSpPr/>
          <p:nvPr/>
        </p:nvSpPr>
        <p:spPr>
          <a:xfrm>
            <a:off x="4782312" y="2346090"/>
            <a:ext cx="4251960" cy="1453242"/>
          </a:xfrm>
          <a:prstGeom prst="roundRect">
            <a:avLst>
              <a:gd name="adj" fmla="val 5714"/>
            </a:avLst>
          </a:prstGeom>
          <a:solidFill>
            <a:srgbClr val="FFFFFF"/>
          </a:solidFill>
          <a:ln/>
          <a:effectLst>
            <a:outerShdw blurRad="76200" dist="25400" dir="2700000" algn="bl" rotWithShape="0">
              <a:srgbClr val="000000">
                <a:alpha val="12000"/>
              </a:srgbClr>
            </a:outerShdw>
          </a:effectLst>
        </p:spPr>
        <p:txBody>
          <a:bodyPr/>
          <a:lstStyle/>
          <a:p>
            <a:endParaRPr lang="en-SG" dirty="0"/>
          </a:p>
        </p:txBody>
      </p:sp>
      <p:sp>
        <p:nvSpPr>
          <p:cNvPr id="16" name="Text 14"/>
          <p:cNvSpPr/>
          <p:nvPr/>
        </p:nvSpPr>
        <p:spPr>
          <a:xfrm>
            <a:off x="4922090" y="2901261"/>
            <a:ext cx="594360" cy="59436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7" name="Text 15"/>
          <p:cNvSpPr/>
          <p:nvPr/>
        </p:nvSpPr>
        <p:spPr>
          <a:xfrm>
            <a:off x="5559552" y="2692950"/>
            <a:ext cx="3291840" cy="347472"/>
          </a:xfrm>
          <a:prstGeom prst="rect">
            <a:avLst/>
          </a:prstGeom>
          <a:noFill/>
          <a:ln/>
        </p:spPr>
        <p:txBody>
          <a:bodyPr wrap="square" lIns="0" tIns="0" rIns="0" bIns="0" rtlCol="0" anchor="ctr"/>
          <a:lstStyle/>
          <a:p>
            <a:pPr marL="0" indent="0">
              <a:buNone/>
            </a:pPr>
            <a:r>
              <a:rPr lang="en-US" sz="1200" b="1" dirty="0">
                <a:solidFill>
                  <a:srgbClr val="065A82"/>
                </a:solidFill>
                <a:latin typeface="Cambria" pitchFamily="34" charset="0"/>
                <a:ea typeface="Cambria" pitchFamily="34" charset="-122"/>
                <a:cs typeface="Cambria" pitchFamily="34" charset="-120"/>
              </a:rPr>
              <a:t>Correlate with Late Deliveries</a:t>
            </a:r>
            <a:endParaRPr lang="en-US" sz="1200" dirty="0"/>
          </a:p>
        </p:txBody>
      </p:sp>
      <p:sp>
        <p:nvSpPr>
          <p:cNvPr id="18" name="Text 16"/>
          <p:cNvSpPr/>
          <p:nvPr/>
        </p:nvSpPr>
        <p:spPr>
          <a:xfrm>
            <a:off x="5559552" y="3025358"/>
            <a:ext cx="3291840" cy="100584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Determine if PENDING status orders are more likely to become late deliveries — enabling proactive intervention.</a:t>
            </a:r>
            <a:endParaRPr lang="en-US" sz="1050" dirty="0"/>
          </a:p>
        </p:txBody>
      </p:sp>
      <p:sp>
        <p:nvSpPr>
          <p:cNvPr id="19" name="Shape 17"/>
          <p:cNvSpPr/>
          <p:nvPr/>
        </p:nvSpPr>
        <p:spPr>
          <a:xfrm>
            <a:off x="2130552" y="3873138"/>
            <a:ext cx="5303520" cy="1270362"/>
          </a:xfrm>
          <a:prstGeom prst="roundRect">
            <a:avLst>
              <a:gd name="adj" fmla="val 5714"/>
            </a:avLst>
          </a:prstGeom>
          <a:solidFill>
            <a:srgbClr val="FFFFFF"/>
          </a:solidFill>
          <a:ln/>
          <a:effectLst>
            <a:outerShdw blurRad="76200" dist="25400" dir="2700000" algn="bl" rotWithShape="0">
              <a:srgbClr val="000000">
                <a:alpha val="12000"/>
              </a:srgbClr>
            </a:outerShdw>
          </a:effectLst>
        </p:spPr>
        <p:txBody>
          <a:bodyPr/>
          <a:lstStyle/>
          <a:p>
            <a:endParaRPr lang="en-SG"/>
          </a:p>
        </p:txBody>
      </p:sp>
      <p:sp>
        <p:nvSpPr>
          <p:cNvPr id="20" name="Text 18"/>
          <p:cNvSpPr/>
          <p:nvPr/>
        </p:nvSpPr>
        <p:spPr>
          <a:xfrm>
            <a:off x="2504496" y="4210812"/>
            <a:ext cx="594360" cy="59436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1" name="Text 19"/>
          <p:cNvSpPr/>
          <p:nvPr/>
        </p:nvSpPr>
        <p:spPr>
          <a:xfrm>
            <a:off x="3233716" y="4057650"/>
            <a:ext cx="4343400" cy="347472"/>
          </a:xfrm>
          <a:prstGeom prst="rect">
            <a:avLst/>
          </a:prstGeom>
          <a:noFill/>
          <a:ln/>
        </p:spPr>
        <p:txBody>
          <a:bodyPr wrap="square" lIns="0" tIns="0" rIns="0" bIns="0" rtlCol="0" anchor="ctr"/>
          <a:lstStyle/>
          <a:p>
            <a:pPr marL="0" indent="0">
              <a:buNone/>
            </a:pPr>
            <a:r>
              <a:rPr lang="en-US" sz="1200" b="1" dirty="0">
                <a:solidFill>
                  <a:srgbClr val="065A82"/>
                </a:solidFill>
                <a:latin typeface="Cambria" pitchFamily="34" charset="0"/>
                <a:ea typeface="Cambria" pitchFamily="34" charset="-122"/>
                <a:cs typeface="Cambria" pitchFamily="34" charset="-120"/>
              </a:rPr>
              <a:t>Customer Behaviour Analysis</a:t>
            </a:r>
            <a:endParaRPr lang="en-US" sz="1200" dirty="0"/>
          </a:p>
        </p:txBody>
      </p:sp>
      <p:sp>
        <p:nvSpPr>
          <p:cNvPr id="22" name="Text 20"/>
          <p:cNvSpPr/>
          <p:nvPr/>
        </p:nvSpPr>
        <p:spPr>
          <a:xfrm>
            <a:off x="3047570" y="4411980"/>
            <a:ext cx="4343400" cy="100584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Analyse fraud and cancellation patterns to improve risk scoring and detection models for high-risk customers.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30352"/>
          </a:xfrm>
          <a:prstGeom prst="rect">
            <a:avLst/>
          </a:prstGeom>
          <a:noFill/>
          <a:ln/>
        </p:spPr>
        <p:txBody>
          <a:bodyPr wrap="square" rtlCol="0" anchor="ctr"/>
          <a:lstStyle/>
          <a:p>
            <a:pPr marL="0" indent="0">
              <a:buNone/>
            </a:pPr>
            <a:r>
              <a:rPr lang="en-US" sz="2600" b="1" dirty="0">
                <a:solidFill>
                  <a:srgbClr val="065A82"/>
                </a:solidFill>
                <a:latin typeface="Cambria" pitchFamily="34" charset="0"/>
                <a:ea typeface="Cambria" pitchFamily="34" charset="-122"/>
                <a:cs typeface="Cambria" pitchFamily="34" charset="-120"/>
              </a:rPr>
              <a:t>PENDING_PAYMENT Deep Dive</a:t>
            </a:r>
            <a:endParaRPr lang="en-US" sz="2600" dirty="0"/>
          </a:p>
        </p:txBody>
      </p:sp>
      <p:sp>
        <p:nvSpPr>
          <p:cNvPr id="3" name="Shape 1"/>
          <p:cNvSpPr/>
          <p:nvPr/>
        </p:nvSpPr>
        <p:spPr>
          <a:xfrm>
            <a:off x="365760" y="841248"/>
            <a:ext cx="8412480" cy="868680"/>
          </a:xfrm>
          <a:prstGeom prst="roundRect">
            <a:avLst>
              <a:gd name="adj" fmla="val 8421"/>
            </a:avLst>
          </a:prstGeom>
          <a:solidFill>
            <a:srgbClr val="F59E0B">
              <a:alpha val="85000"/>
            </a:srgbClr>
          </a:solidFill>
          <a:ln/>
          <a:effectLst>
            <a:outerShdw blurRad="76200" dist="25400" dir="2700000" algn="bl" rotWithShape="0">
              <a:srgbClr val="000000">
                <a:alpha val="12000"/>
              </a:srgbClr>
            </a:outerShdw>
          </a:effectLst>
        </p:spPr>
        <p:txBody>
          <a:bodyPr/>
          <a:lstStyle/>
          <a:p>
            <a:endParaRPr lang="en-SG"/>
          </a:p>
        </p:txBody>
      </p:sp>
      <p:sp>
        <p:nvSpPr>
          <p:cNvPr id="4" name="Text 2"/>
          <p:cNvSpPr/>
          <p:nvPr/>
        </p:nvSpPr>
        <p:spPr>
          <a:xfrm>
            <a:off x="594360" y="868680"/>
            <a:ext cx="1920240" cy="777240"/>
          </a:xfrm>
          <a:prstGeom prst="rect">
            <a:avLst/>
          </a:prstGeom>
          <a:noFill/>
          <a:ln/>
        </p:spPr>
        <p:txBody>
          <a:bodyPr wrap="square" lIns="0" tIns="0" rIns="0" bIns="0" rtlCol="0" anchor="ctr"/>
          <a:lstStyle/>
          <a:p>
            <a:pPr marL="0" indent="0" algn="l">
              <a:buNone/>
            </a:pPr>
            <a:r>
              <a:rPr lang="en-US" sz="1200" b="1" dirty="0">
                <a:solidFill>
                  <a:srgbClr val="92400E"/>
                </a:solidFill>
              </a:rPr>
              <a:t>⚠️  Critical Finding: </a:t>
            </a:r>
            <a:endParaRPr lang="en-US" sz="1200" dirty="0"/>
          </a:p>
        </p:txBody>
      </p:sp>
      <p:sp>
        <p:nvSpPr>
          <p:cNvPr id="5" name="Text 3"/>
          <p:cNvSpPr/>
          <p:nvPr/>
        </p:nvSpPr>
        <p:spPr>
          <a:xfrm>
            <a:off x="2286000" y="868680"/>
            <a:ext cx="6309360" cy="777240"/>
          </a:xfrm>
          <a:prstGeom prst="rect">
            <a:avLst/>
          </a:prstGeom>
          <a:noFill/>
          <a:ln/>
        </p:spPr>
        <p:txBody>
          <a:bodyPr wrap="square" lIns="0" tIns="0" rIns="0" bIns="0" rtlCol="0" anchor="ctr"/>
          <a:lstStyle/>
          <a:p>
            <a:pPr marL="0" indent="0">
              <a:buNone/>
            </a:pPr>
            <a:r>
              <a:rPr lang="en-US" sz="1150" dirty="0">
                <a:solidFill>
                  <a:srgbClr val="92400E"/>
                </a:solidFill>
                <a:latin typeface="Calibri" pitchFamily="34" charset="0"/>
                <a:ea typeface="Calibri" pitchFamily="34" charset="-122"/>
                <a:cs typeface="Calibri" pitchFamily="34" charset="-120"/>
              </a:rPr>
              <a:t>All PENDING_PAYMENT orders are exclusively linked to Payment_Type_ID 4 — suggesting a systemic payment gateway failure rather than individual customer issues.</a:t>
            </a:r>
            <a:endParaRPr lang="en-US" sz="1150" dirty="0"/>
          </a:p>
        </p:txBody>
      </p:sp>
      <p:sp>
        <p:nvSpPr>
          <p:cNvPr id="6" name="Shape 4"/>
          <p:cNvSpPr/>
          <p:nvPr/>
        </p:nvSpPr>
        <p:spPr>
          <a:xfrm>
            <a:off x="365760" y="1828800"/>
            <a:ext cx="3931920" cy="3017520"/>
          </a:xfrm>
          <a:prstGeom prst="roundRect">
            <a:avLst>
              <a:gd name="adj" fmla="val 3030"/>
            </a:avLst>
          </a:prstGeom>
          <a:solidFill>
            <a:srgbClr val="FFFFFF"/>
          </a:solidFill>
          <a:ln/>
          <a:effectLst>
            <a:outerShdw blurRad="76200" dist="25400" dir="2700000" algn="bl" rotWithShape="0">
              <a:srgbClr val="000000">
                <a:alpha val="12000"/>
              </a:srgbClr>
            </a:outerShdw>
          </a:effectLst>
        </p:spPr>
        <p:txBody>
          <a:bodyPr/>
          <a:lstStyle/>
          <a:p>
            <a:endParaRPr lang="en-SG"/>
          </a:p>
        </p:txBody>
      </p:sp>
      <p:sp>
        <p:nvSpPr>
          <p:cNvPr id="7" name="Text 5"/>
          <p:cNvSpPr/>
          <p:nvPr/>
        </p:nvSpPr>
        <p:spPr>
          <a:xfrm>
            <a:off x="548640" y="1920240"/>
            <a:ext cx="3566160" cy="365760"/>
          </a:xfrm>
          <a:prstGeom prst="rect">
            <a:avLst/>
          </a:prstGeom>
          <a:noFill/>
          <a:ln/>
        </p:spPr>
        <p:txBody>
          <a:bodyPr wrap="square" lIns="0" tIns="0" rIns="0" bIns="0"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Top Affected Countries</a:t>
            </a:r>
            <a:endParaRPr lang="en-US" sz="1300" dirty="0"/>
          </a:p>
        </p:txBody>
      </p:sp>
      <p:sp>
        <p:nvSpPr>
          <p:cNvPr id="8" name="Shape 6"/>
          <p:cNvSpPr/>
          <p:nvPr/>
        </p:nvSpPr>
        <p:spPr>
          <a:xfrm>
            <a:off x="566928" y="2395728"/>
            <a:ext cx="182880" cy="182880"/>
          </a:xfrm>
          <a:prstGeom prst="ellipse">
            <a:avLst/>
          </a:prstGeom>
          <a:solidFill>
            <a:srgbClr val="1C7293"/>
          </a:solidFill>
          <a:ln w="12700">
            <a:solidFill>
              <a:srgbClr val="1C7293"/>
            </a:solidFill>
            <a:prstDash val="solid"/>
          </a:ln>
        </p:spPr>
        <p:txBody>
          <a:bodyPr/>
          <a:lstStyle/>
          <a:p>
            <a:endParaRPr lang="en-SG"/>
          </a:p>
        </p:txBody>
      </p:sp>
      <p:sp>
        <p:nvSpPr>
          <p:cNvPr id="9" name="Text 7"/>
          <p:cNvSpPr/>
          <p:nvPr/>
        </p:nvSpPr>
        <p:spPr>
          <a:xfrm>
            <a:off x="868680" y="2359152"/>
            <a:ext cx="1920240" cy="274320"/>
          </a:xfrm>
          <a:prstGeom prst="rect">
            <a:avLst/>
          </a:prstGeom>
          <a:noFill/>
          <a:ln/>
        </p:spPr>
        <p:txBody>
          <a:bodyPr wrap="square" lIns="0" tIns="0" rIns="0" bIns="0" rtlCol="0" anchor="ctr"/>
          <a:lstStyle/>
          <a:p>
            <a:pPr marL="0" indent="0">
              <a:buNone/>
            </a:pPr>
            <a:r>
              <a:rPr lang="en-US" sz="1100" b="1" dirty="0">
                <a:solidFill>
                  <a:srgbClr val="1E293B"/>
                </a:solidFill>
              </a:rPr>
              <a:t>Estados Unidos</a:t>
            </a:r>
            <a:endParaRPr lang="en-US" sz="1100" dirty="0"/>
          </a:p>
        </p:txBody>
      </p:sp>
      <p:sp>
        <p:nvSpPr>
          <p:cNvPr id="10" name="Text 8"/>
          <p:cNvSpPr/>
          <p:nvPr/>
        </p:nvSpPr>
        <p:spPr>
          <a:xfrm>
            <a:off x="868680" y="2615184"/>
            <a:ext cx="3200400" cy="228600"/>
          </a:xfrm>
          <a:prstGeom prst="rect">
            <a:avLst/>
          </a:prstGeom>
          <a:noFill/>
          <a:ln/>
        </p:spPr>
        <p:txBody>
          <a:bodyPr wrap="square" lIns="0" tIns="0" rIns="0" bIns="0" rtlCol="0" anchor="ctr"/>
          <a:lstStyle/>
          <a:p>
            <a:pPr marL="0" indent="0">
              <a:buNone/>
            </a:pPr>
            <a:r>
              <a:rPr lang="en-US" sz="1000" dirty="0">
                <a:solidFill>
                  <a:srgbClr val="64748B"/>
                </a:solidFill>
              </a:rPr>
              <a:t>Highest volume</a:t>
            </a:r>
            <a:endParaRPr lang="en-US" sz="1000" dirty="0"/>
          </a:p>
        </p:txBody>
      </p:sp>
      <p:sp>
        <p:nvSpPr>
          <p:cNvPr id="11" name="Shape 9"/>
          <p:cNvSpPr/>
          <p:nvPr/>
        </p:nvSpPr>
        <p:spPr>
          <a:xfrm>
            <a:off x="566928" y="2962656"/>
            <a:ext cx="182880" cy="182880"/>
          </a:xfrm>
          <a:prstGeom prst="ellipse">
            <a:avLst/>
          </a:prstGeom>
          <a:solidFill>
            <a:srgbClr val="1C7293"/>
          </a:solidFill>
          <a:ln w="12700">
            <a:solidFill>
              <a:srgbClr val="1C7293"/>
            </a:solidFill>
            <a:prstDash val="solid"/>
          </a:ln>
        </p:spPr>
        <p:txBody>
          <a:bodyPr/>
          <a:lstStyle/>
          <a:p>
            <a:endParaRPr lang="en-SG"/>
          </a:p>
        </p:txBody>
      </p:sp>
      <p:sp>
        <p:nvSpPr>
          <p:cNvPr id="12" name="Text 10"/>
          <p:cNvSpPr/>
          <p:nvPr/>
        </p:nvSpPr>
        <p:spPr>
          <a:xfrm>
            <a:off x="868680" y="2926080"/>
            <a:ext cx="1920240" cy="274320"/>
          </a:xfrm>
          <a:prstGeom prst="rect">
            <a:avLst/>
          </a:prstGeom>
          <a:noFill/>
          <a:ln/>
        </p:spPr>
        <p:txBody>
          <a:bodyPr wrap="square" lIns="0" tIns="0" rIns="0" bIns="0" rtlCol="0" anchor="ctr"/>
          <a:lstStyle/>
          <a:p>
            <a:pPr marL="0" indent="0">
              <a:buNone/>
            </a:pPr>
            <a:r>
              <a:rPr lang="en-US" sz="1100" b="1" dirty="0">
                <a:solidFill>
                  <a:srgbClr val="1E293B"/>
                </a:solidFill>
              </a:rPr>
              <a:t>Francia</a:t>
            </a:r>
            <a:endParaRPr lang="en-US" sz="1100" dirty="0"/>
          </a:p>
        </p:txBody>
      </p:sp>
      <p:sp>
        <p:nvSpPr>
          <p:cNvPr id="13" name="Text 11"/>
          <p:cNvSpPr/>
          <p:nvPr/>
        </p:nvSpPr>
        <p:spPr>
          <a:xfrm>
            <a:off x="868680" y="3182112"/>
            <a:ext cx="3200400" cy="228600"/>
          </a:xfrm>
          <a:prstGeom prst="rect">
            <a:avLst/>
          </a:prstGeom>
          <a:noFill/>
          <a:ln/>
        </p:spPr>
        <p:txBody>
          <a:bodyPr wrap="square" lIns="0" tIns="0" rIns="0" bIns="0" rtlCol="0" anchor="ctr"/>
          <a:lstStyle/>
          <a:p>
            <a:pPr marL="0" indent="0">
              <a:buNone/>
            </a:pPr>
            <a:r>
              <a:rPr lang="en-US" sz="1000" dirty="0">
                <a:solidFill>
                  <a:srgbClr val="64748B"/>
                </a:solidFill>
              </a:rPr>
              <a:t>High concentration</a:t>
            </a:r>
            <a:endParaRPr lang="en-US" sz="1000" dirty="0"/>
          </a:p>
        </p:txBody>
      </p:sp>
      <p:sp>
        <p:nvSpPr>
          <p:cNvPr id="14" name="Shape 12"/>
          <p:cNvSpPr/>
          <p:nvPr/>
        </p:nvSpPr>
        <p:spPr>
          <a:xfrm>
            <a:off x="566928" y="3529584"/>
            <a:ext cx="182880" cy="182880"/>
          </a:xfrm>
          <a:prstGeom prst="ellipse">
            <a:avLst/>
          </a:prstGeom>
          <a:solidFill>
            <a:srgbClr val="1C7293"/>
          </a:solidFill>
          <a:ln w="12700">
            <a:solidFill>
              <a:srgbClr val="1C7293"/>
            </a:solidFill>
            <a:prstDash val="solid"/>
          </a:ln>
        </p:spPr>
        <p:txBody>
          <a:bodyPr/>
          <a:lstStyle/>
          <a:p>
            <a:endParaRPr lang="en-SG"/>
          </a:p>
        </p:txBody>
      </p:sp>
      <p:sp>
        <p:nvSpPr>
          <p:cNvPr id="15" name="Text 13"/>
          <p:cNvSpPr/>
          <p:nvPr/>
        </p:nvSpPr>
        <p:spPr>
          <a:xfrm>
            <a:off x="868680" y="3493008"/>
            <a:ext cx="1920240" cy="274320"/>
          </a:xfrm>
          <a:prstGeom prst="rect">
            <a:avLst/>
          </a:prstGeom>
          <a:noFill/>
          <a:ln/>
        </p:spPr>
        <p:txBody>
          <a:bodyPr wrap="square" lIns="0" tIns="0" rIns="0" bIns="0" rtlCol="0" anchor="ctr"/>
          <a:lstStyle/>
          <a:p>
            <a:pPr marL="0" indent="0">
              <a:buNone/>
            </a:pPr>
            <a:r>
              <a:rPr lang="en-US" sz="1100" b="1" dirty="0">
                <a:solidFill>
                  <a:srgbClr val="1E293B"/>
                </a:solidFill>
              </a:rPr>
              <a:t>México</a:t>
            </a:r>
            <a:endParaRPr lang="en-US" sz="1100" dirty="0"/>
          </a:p>
        </p:txBody>
      </p:sp>
      <p:sp>
        <p:nvSpPr>
          <p:cNvPr id="16" name="Text 14"/>
          <p:cNvSpPr/>
          <p:nvPr/>
        </p:nvSpPr>
        <p:spPr>
          <a:xfrm>
            <a:off x="868680" y="3749040"/>
            <a:ext cx="3200400" cy="228600"/>
          </a:xfrm>
          <a:prstGeom prst="rect">
            <a:avLst/>
          </a:prstGeom>
          <a:noFill/>
          <a:ln/>
        </p:spPr>
        <p:txBody>
          <a:bodyPr wrap="square" lIns="0" tIns="0" rIns="0" bIns="0" rtlCol="0" anchor="ctr"/>
          <a:lstStyle/>
          <a:p>
            <a:pPr marL="0" indent="0">
              <a:buNone/>
            </a:pPr>
            <a:r>
              <a:rPr lang="en-US" sz="1000" dirty="0">
                <a:solidFill>
                  <a:srgbClr val="64748B"/>
                </a:solidFill>
              </a:rPr>
              <a:t>Regional priority</a:t>
            </a:r>
            <a:endParaRPr lang="en-US" sz="1000" dirty="0"/>
          </a:p>
        </p:txBody>
      </p:sp>
      <p:sp>
        <p:nvSpPr>
          <p:cNvPr id="17" name="Shape 15"/>
          <p:cNvSpPr/>
          <p:nvPr/>
        </p:nvSpPr>
        <p:spPr>
          <a:xfrm>
            <a:off x="566928" y="4096512"/>
            <a:ext cx="182880" cy="182880"/>
          </a:xfrm>
          <a:prstGeom prst="ellipse">
            <a:avLst/>
          </a:prstGeom>
          <a:solidFill>
            <a:srgbClr val="1C7293"/>
          </a:solidFill>
          <a:ln w="12700">
            <a:solidFill>
              <a:srgbClr val="1C7293"/>
            </a:solidFill>
            <a:prstDash val="solid"/>
          </a:ln>
        </p:spPr>
        <p:txBody>
          <a:bodyPr/>
          <a:lstStyle/>
          <a:p>
            <a:endParaRPr lang="en-SG"/>
          </a:p>
        </p:txBody>
      </p:sp>
      <p:sp>
        <p:nvSpPr>
          <p:cNvPr id="18" name="Text 16"/>
          <p:cNvSpPr/>
          <p:nvPr/>
        </p:nvSpPr>
        <p:spPr>
          <a:xfrm>
            <a:off x="868680" y="4059936"/>
            <a:ext cx="1920240" cy="274320"/>
          </a:xfrm>
          <a:prstGeom prst="rect">
            <a:avLst/>
          </a:prstGeom>
          <a:noFill/>
          <a:ln/>
        </p:spPr>
        <p:txBody>
          <a:bodyPr wrap="square" lIns="0" tIns="0" rIns="0" bIns="0" rtlCol="0" anchor="ctr"/>
          <a:lstStyle/>
          <a:p>
            <a:pPr marL="0" indent="0">
              <a:buNone/>
            </a:pPr>
            <a:r>
              <a:rPr lang="en-US" sz="1100" b="1" dirty="0">
                <a:solidFill>
                  <a:srgbClr val="1E293B"/>
                </a:solidFill>
              </a:rPr>
              <a:t>Other Markets</a:t>
            </a:r>
            <a:endParaRPr lang="en-US" sz="1100" dirty="0"/>
          </a:p>
        </p:txBody>
      </p:sp>
      <p:sp>
        <p:nvSpPr>
          <p:cNvPr id="19" name="Text 17"/>
          <p:cNvSpPr/>
          <p:nvPr/>
        </p:nvSpPr>
        <p:spPr>
          <a:xfrm>
            <a:off x="868680" y="4315968"/>
            <a:ext cx="3200400" cy="228600"/>
          </a:xfrm>
          <a:prstGeom prst="rect">
            <a:avLst/>
          </a:prstGeom>
          <a:noFill/>
          <a:ln/>
        </p:spPr>
        <p:txBody>
          <a:bodyPr wrap="square" lIns="0" tIns="0" rIns="0" bIns="0" rtlCol="0" anchor="ctr"/>
          <a:lstStyle/>
          <a:p>
            <a:pPr marL="0" indent="0">
              <a:buNone/>
            </a:pPr>
            <a:r>
              <a:rPr lang="en-US" sz="1000" dirty="0">
                <a:solidFill>
                  <a:srgbClr val="64748B"/>
                </a:solidFill>
              </a:rPr>
              <a:t>Systemic gateway issue</a:t>
            </a:r>
            <a:endParaRPr lang="en-US" sz="1000" dirty="0"/>
          </a:p>
        </p:txBody>
      </p:sp>
      <p:graphicFrame>
        <p:nvGraphicFramePr>
          <p:cNvPr id="20" name="Chart 0"/>
          <p:cNvGraphicFramePr/>
          <p:nvPr/>
        </p:nvGraphicFramePr>
        <p:xfrm>
          <a:off x="4480560" y="1828800"/>
          <a:ext cx="4297680" cy="30175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457200" y="228600"/>
            <a:ext cx="8412480" cy="530352"/>
          </a:xfrm>
          <a:prstGeom prst="rect">
            <a:avLst/>
          </a:prstGeom>
          <a:noFill/>
          <a:ln/>
        </p:spPr>
        <p:txBody>
          <a:bodyPr wrap="square" rtlCol="0" anchor="ctr"/>
          <a:lstStyle/>
          <a:p>
            <a:pPr marL="0" indent="0">
              <a:buNone/>
            </a:pPr>
            <a:r>
              <a:rPr lang="en-US" sz="2400" b="1" dirty="0">
                <a:solidFill>
                  <a:srgbClr val="065A82"/>
                </a:solidFill>
                <a:latin typeface="Cambria" pitchFamily="34" charset="0"/>
                <a:ea typeface="Cambria" pitchFamily="34" charset="-122"/>
                <a:cs typeface="Cambria" pitchFamily="34" charset="-120"/>
              </a:rPr>
              <a:t>PENDING_PAYMENT Mitigation Strategies</a:t>
            </a:r>
            <a:endParaRPr lang="en-US" sz="2400" dirty="0"/>
          </a:p>
        </p:txBody>
      </p:sp>
      <p:sp>
        <p:nvSpPr>
          <p:cNvPr id="3" name="Text 1"/>
          <p:cNvSpPr/>
          <p:nvPr/>
        </p:nvSpPr>
        <p:spPr>
          <a:xfrm>
            <a:off x="457200" y="713232"/>
            <a:ext cx="8412480" cy="320040"/>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Target: High-risk categories — Cleats, Men's Footwear, Women's Apparel | All linked to Payment_Type_ID 4</a:t>
            </a:r>
            <a:endParaRPr lang="en-US" sz="1150" dirty="0"/>
          </a:p>
        </p:txBody>
      </p:sp>
      <p:sp>
        <p:nvSpPr>
          <p:cNvPr id="4" name="Shape 2"/>
          <p:cNvSpPr/>
          <p:nvPr/>
        </p:nvSpPr>
        <p:spPr>
          <a:xfrm>
            <a:off x="365760" y="1234440"/>
            <a:ext cx="8412480" cy="1691640"/>
          </a:xfrm>
          <a:prstGeom prst="roundRect">
            <a:avLst>
              <a:gd name="adj" fmla="val 5405"/>
            </a:avLst>
          </a:prstGeom>
          <a:solidFill>
            <a:srgbClr val="FFFFFF"/>
          </a:solidFill>
          <a:ln/>
          <a:effectLst>
            <a:outerShdw blurRad="76200" dist="25400" dir="2700000" algn="bl" rotWithShape="0">
              <a:srgbClr val="000000">
                <a:alpha val="12000"/>
              </a:srgbClr>
            </a:outerShdw>
          </a:effectLst>
        </p:spPr>
        <p:txBody>
          <a:bodyPr/>
          <a:lstStyle/>
          <a:p>
            <a:endParaRPr lang="en-SG"/>
          </a:p>
        </p:txBody>
      </p:sp>
      <p:sp>
        <p:nvSpPr>
          <p:cNvPr id="5" name="Shape 3"/>
          <p:cNvSpPr/>
          <p:nvPr/>
        </p:nvSpPr>
        <p:spPr>
          <a:xfrm>
            <a:off x="548640" y="1371600"/>
            <a:ext cx="502920" cy="502920"/>
          </a:xfrm>
          <a:prstGeom prst="ellipse">
            <a:avLst/>
          </a:prstGeom>
          <a:solidFill>
            <a:srgbClr val="1C7293"/>
          </a:solidFill>
          <a:ln w="12700">
            <a:solidFill>
              <a:srgbClr val="1C7293"/>
            </a:solidFill>
            <a:prstDash val="solid"/>
          </a:ln>
        </p:spPr>
        <p:txBody>
          <a:bodyPr/>
          <a:lstStyle/>
          <a:p>
            <a:endParaRPr lang="en-SG"/>
          </a:p>
        </p:txBody>
      </p:sp>
      <p:sp>
        <p:nvSpPr>
          <p:cNvPr id="6" name="Text 4"/>
          <p:cNvSpPr/>
          <p:nvPr/>
        </p:nvSpPr>
        <p:spPr>
          <a:xfrm>
            <a:off x="548640" y="13716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Text 5"/>
          <p:cNvSpPr/>
          <p:nvPr/>
        </p:nvSpPr>
        <p:spPr>
          <a:xfrm>
            <a:off x="1170432" y="1371600"/>
            <a:ext cx="7406640" cy="365760"/>
          </a:xfrm>
          <a:prstGeom prst="rect">
            <a:avLst/>
          </a:prstGeom>
          <a:noFill/>
          <a:ln/>
        </p:spPr>
        <p:txBody>
          <a:bodyPr wrap="square" lIns="0" tIns="0" rIns="0" bIns="0" rtlCol="0" anchor="ctr"/>
          <a:lstStyle/>
          <a:p>
            <a:pPr marL="0" indent="0">
              <a:buNone/>
            </a:pPr>
            <a:r>
              <a:rPr lang="en-US" sz="1400" b="1" dirty="0">
                <a:solidFill>
                  <a:srgbClr val="065A82"/>
                </a:solidFill>
                <a:latin typeface="Cambria" pitchFamily="34" charset="0"/>
                <a:ea typeface="Cambria" pitchFamily="34" charset="-122"/>
                <a:cs typeface="Cambria" pitchFamily="34" charset="-120"/>
              </a:rPr>
              <a:t>Enhanced Gateway Monitoring</a:t>
            </a:r>
            <a:endParaRPr lang="en-US" sz="1400" dirty="0"/>
          </a:p>
        </p:txBody>
      </p:sp>
      <p:sp>
        <p:nvSpPr>
          <p:cNvPr id="8" name="Text 6"/>
          <p:cNvSpPr/>
          <p:nvPr/>
        </p:nvSpPr>
        <p:spPr>
          <a:xfrm>
            <a:off x="1170432" y="1783080"/>
            <a:ext cx="5120640" cy="5943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Implement real-time monitoring for Payment_Type_ID 4 transactions on high-risk categories. Identify and fix integration errors causing silent failures.</a:t>
            </a:r>
            <a:endParaRPr lang="en-US" sz="1100" dirty="0"/>
          </a:p>
        </p:txBody>
      </p:sp>
      <p:sp>
        <p:nvSpPr>
          <p:cNvPr id="9" name="Shape 7"/>
          <p:cNvSpPr/>
          <p:nvPr/>
        </p:nvSpPr>
        <p:spPr>
          <a:xfrm>
            <a:off x="6400800" y="1737360"/>
            <a:ext cx="2194560" cy="868680"/>
          </a:xfrm>
          <a:prstGeom prst="roundRect">
            <a:avLst>
              <a:gd name="adj" fmla="val 8421"/>
            </a:avLst>
          </a:prstGeom>
          <a:solidFill>
            <a:srgbClr val="E8F4F9"/>
          </a:solidFill>
          <a:ln/>
          <a:effectLst>
            <a:outerShdw blurRad="76200" dist="25400" dir="2700000" algn="bl" rotWithShape="0">
              <a:srgbClr val="000000">
                <a:alpha val="12000"/>
              </a:srgbClr>
            </a:outerShdw>
          </a:effectLst>
        </p:spPr>
        <p:txBody>
          <a:bodyPr/>
          <a:lstStyle/>
          <a:p>
            <a:endParaRPr lang="en-SG"/>
          </a:p>
        </p:txBody>
      </p:sp>
      <p:sp>
        <p:nvSpPr>
          <p:cNvPr id="10" name="Text 8"/>
          <p:cNvSpPr/>
          <p:nvPr/>
        </p:nvSpPr>
        <p:spPr>
          <a:xfrm>
            <a:off x="6492240" y="1755648"/>
            <a:ext cx="2011680" cy="256032"/>
          </a:xfrm>
          <a:prstGeom prst="rect">
            <a:avLst/>
          </a:prstGeom>
          <a:noFill/>
          <a:ln/>
        </p:spPr>
        <p:txBody>
          <a:bodyPr wrap="square" lIns="0" tIns="0" rIns="0" bIns="0" rtlCol="0" anchor="ctr"/>
          <a:lstStyle/>
          <a:p>
            <a:pPr marL="0" indent="0">
              <a:buNone/>
            </a:pPr>
            <a:r>
              <a:rPr lang="en-US" sz="950" b="1" dirty="0">
                <a:solidFill>
                  <a:srgbClr val="1C7293"/>
                </a:solidFill>
              </a:rPr>
              <a:t>Goal</a:t>
            </a:r>
            <a:endParaRPr lang="en-US" sz="950" dirty="0"/>
          </a:p>
        </p:txBody>
      </p:sp>
      <p:sp>
        <p:nvSpPr>
          <p:cNvPr id="11" name="Text 9"/>
          <p:cNvSpPr/>
          <p:nvPr/>
        </p:nvSpPr>
        <p:spPr>
          <a:xfrm>
            <a:off x="6492240" y="1984248"/>
            <a:ext cx="2011680" cy="59436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Reduce PENDING volume at the gateway level — addressing root cause rather than symptoms.</a:t>
            </a:r>
            <a:endParaRPr lang="en-US" sz="900" dirty="0"/>
          </a:p>
        </p:txBody>
      </p:sp>
      <p:sp>
        <p:nvSpPr>
          <p:cNvPr id="12" name="Shape 10"/>
          <p:cNvSpPr/>
          <p:nvPr/>
        </p:nvSpPr>
        <p:spPr>
          <a:xfrm>
            <a:off x="365760" y="3108960"/>
            <a:ext cx="8412480" cy="1691640"/>
          </a:xfrm>
          <a:prstGeom prst="roundRect">
            <a:avLst>
              <a:gd name="adj" fmla="val 5405"/>
            </a:avLst>
          </a:prstGeom>
          <a:solidFill>
            <a:srgbClr val="FFFFFF"/>
          </a:solidFill>
          <a:ln/>
          <a:effectLst>
            <a:outerShdw blurRad="76200" dist="25400" dir="2700000" algn="bl" rotWithShape="0">
              <a:srgbClr val="000000">
                <a:alpha val="12000"/>
              </a:srgbClr>
            </a:outerShdw>
          </a:effectLst>
        </p:spPr>
        <p:txBody>
          <a:bodyPr/>
          <a:lstStyle/>
          <a:p>
            <a:endParaRPr lang="en-SG"/>
          </a:p>
        </p:txBody>
      </p:sp>
      <p:sp>
        <p:nvSpPr>
          <p:cNvPr id="13" name="Shape 11"/>
          <p:cNvSpPr/>
          <p:nvPr/>
        </p:nvSpPr>
        <p:spPr>
          <a:xfrm>
            <a:off x="548640" y="3246120"/>
            <a:ext cx="502920" cy="502920"/>
          </a:xfrm>
          <a:prstGeom prst="ellipse">
            <a:avLst/>
          </a:prstGeom>
          <a:solidFill>
            <a:srgbClr val="1C7293"/>
          </a:solidFill>
          <a:ln w="12700">
            <a:solidFill>
              <a:srgbClr val="1C7293"/>
            </a:solidFill>
            <a:prstDash val="solid"/>
          </a:ln>
        </p:spPr>
        <p:txBody>
          <a:bodyPr/>
          <a:lstStyle/>
          <a:p>
            <a:endParaRPr lang="en-SG"/>
          </a:p>
        </p:txBody>
      </p:sp>
      <p:sp>
        <p:nvSpPr>
          <p:cNvPr id="14" name="Text 12"/>
          <p:cNvSpPr/>
          <p:nvPr/>
        </p:nvSpPr>
        <p:spPr>
          <a:xfrm>
            <a:off x="548640" y="32461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5" name="Text 13"/>
          <p:cNvSpPr/>
          <p:nvPr/>
        </p:nvSpPr>
        <p:spPr>
          <a:xfrm>
            <a:off x="1170432" y="3246120"/>
            <a:ext cx="7406640" cy="365760"/>
          </a:xfrm>
          <a:prstGeom prst="rect">
            <a:avLst/>
          </a:prstGeom>
          <a:noFill/>
          <a:ln/>
        </p:spPr>
        <p:txBody>
          <a:bodyPr wrap="square" lIns="0" tIns="0" rIns="0" bIns="0" rtlCol="0" anchor="ctr"/>
          <a:lstStyle/>
          <a:p>
            <a:pPr marL="0" indent="0">
              <a:buNone/>
            </a:pPr>
            <a:r>
              <a:rPr lang="en-US" sz="1400" b="1" dirty="0">
                <a:solidFill>
                  <a:srgbClr val="065A82"/>
                </a:solidFill>
                <a:latin typeface="Cambria" pitchFamily="34" charset="0"/>
                <a:ea typeface="Cambria" pitchFamily="34" charset="-122"/>
                <a:cs typeface="Cambria" pitchFamily="34" charset="-120"/>
              </a:rPr>
              <a:t>Proactive Customer Outreach &amp; Alternatives</a:t>
            </a:r>
            <a:endParaRPr lang="en-US" sz="1400" dirty="0"/>
          </a:p>
        </p:txBody>
      </p:sp>
      <p:sp>
        <p:nvSpPr>
          <p:cNvPr id="16" name="Text 14"/>
          <p:cNvSpPr/>
          <p:nvPr/>
        </p:nvSpPr>
        <p:spPr>
          <a:xfrm>
            <a:off x="1170432" y="3657600"/>
            <a:ext cx="5120640" cy="5943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For orders stuck in PENDING_PAYMENT &gt;24h, trigger automated communications with alternative payment options (card, wallet, etc.).</a:t>
            </a:r>
            <a:endParaRPr lang="en-US" sz="1100" dirty="0"/>
          </a:p>
        </p:txBody>
      </p:sp>
      <p:sp>
        <p:nvSpPr>
          <p:cNvPr id="17" name="Shape 15"/>
          <p:cNvSpPr/>
          <p:nvPr/>
        </p:nvSpPr>
        <p:spPr>
          <a:xfrm>
            <a:off x="6400800" y="3611880"/>
            <a:ext cx="2194560" cy="868680"/>
          </a:xfrm>
          <a:prstGeom prst="roundRect">
            <a:avLst>
              <a:gd name="adj" fmla="val 8421"/>
            </a:avLst>
          </a:prstGeom>
          <a:solidFill>
            <a:srgbClr val="E8F4F9"/>
          </a:solidFill>
          <a:ln/>
          <a:effectLst>
            <a:outerShdw blurRad="76200" dist="25400" dir="2700000" algn="bl" rotWithShape="0">
              <a:srgbClr val="000000">
                <a:alpha val="12000"/>
              </a:srgbClr>
            </a:outerShdw>
          </a:effectLst>
        </p:spPr>
        <p:txBody>
          <a:bodyPr/>
          <a:lstStyle/>
          <a:p>
            <a:endParaRPr lang="en-SG"/>
          </a:p>
        </p:txBody>
      </p:sp>
      <p:sp>
        <p:nvSpPr>
          <p:cNvPr id="18" name="Text 16"/>
          <p:cNvSpPr/>
          <p:nvPr/>
        </p:nvSpPr>
        <p:spPr>
          <a:xfrm>
            <a:off x="6492240" y="3630168"/>
            <a:ext cx="2011680" cy="256032"/>
          </a:xfrm>
          <a:prstGeom prst="rect">
            <a:avLst/>
          </a:prstGeom>
          <a:noFill/>
          <a:ln/>
        </p:spPr>
        <p:txBody>
          <a:bodyPr wrap="square" lIns="0" tIns="0" rIns="0" bIns="0" rtlCol="0" anchor="ctr"/>
          <a:lstStyle/>
          <a:p>
            <a:pPr marL="0" indent="0">
              <a:buNone/>
            </a:pPr>
            <a:r>
              <a:rPr lang="en-US" sz="950" b="1" dirty="0">
                <a:solidFill>
                  <a:srgbClr val="1C7293"/>
                </a:solidFill>
              </a:rPr>
              <a:t>Goal</a:t>
            </a:r>
            <a:endParaRPr lang="en-US" sz="950" dirty="0"/>
          </a:p>
        </p:txBody>
      </p:sp>
      <p:sp>
        <p:nvSpPr>
          <p:cNvPr id="19" name="Text 17"/>
          <p:cNvSpPr/>
          <p:nvPr/>
        </p:nvSpPr>
        <p:spPr>
          <a:xfrm>
            <a:off x="6492240" y="3858768"/>
            <a:ext cx="2011680" cy="59436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Convert stalled payments into successful transactions — recovering lost sales and profit.</a:t>
            </a:r>
            <a:endParaRPr lang="en-US" sz="900" dirty="0"/>
          </a:p>
        </p:txBody>
      </p:sp>
      <p:sp>
        <p:nvSpPr>
          <p:cNvPr id="20" name="Shape 18"/>
          <p:cNvSpPr/>
          <p:nvPr/>
        </p:nvSpPr>
        <p:spPr>
          <a:xfrm>
            <a:off x="365760" y="4663440"/>
            <a:ext cx="8412480" cy="320040"/>
          </a:xfrm>
          <a:prstGeom prst="roundRect">
            <a:avLst>
              <a:gd name="adj" fmla="val 17143"/>
            </a:avLst>
          </a:prstGeom>
          <a:solidFill>
            <a:srgbClr val="065A82"/>
          </a:solidFill>
          <a:ln w="12700">
            <a:solidFill>
              <a:srgbClr val="065A82"/>
            </a:solidFill>
            <a:prstDash val="solid"/>
          </a:ln>
        </p:spPr>
        <p:txBody>
          <a:bodyPr/>
          <a:lstStyle/>
          <a:p>
            <a:endParaRPr lang="en-SG"/>
          </a:p>
        </p:txBody>
      </p:sp>
      <p:sp>
        <p:nvSpPr>
          <p:cNvPr id="21" name="Text 19"/>
          <p:cNvSpPr/>
          <p:nvPr/>
        </p:nvSpPr>
        <p:spPr>
          <a:xfrm>
            <a:off x="548640" y="4663440"/>
            <a:ext cx="8229600" cy="3200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Action Priority: High — every PENDING_PAYMENT order represents unrecovered revenue and customer friction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Title"/>
          <p:cNvSpPr/>
          <p:nvPr/>
        </p:nvSpPr>
        <p:spPr>
          <a:xfrm>
            <a:off x="457200" y="220000"/>
            <a:ext cx="8229600" cy="380000"/>
          </a:xfrm>
          <a:prstGeom prst="rect">
            <a:avLst/>
          </a:prstGeom>
          <a:noFill/>
          <a:ln/>
        </p:spPr>
        <p:txBody>
          <a:bodyPr wrap="square" rtlCol="0" anchor="ctr"/>
          <a:lstStyle/>
          <a:p>
            <a:pPr marL="0" indent="0">
              <a:buNone/>
            </a:pPr>
            <a:r>
              <a:rPr lang="en-US" sz="2400" b="1" dirty="0">
                <a:solidFill>
                  <a:srgbClr val="065A82"/>
                </a:solidFill>
                <a:latin typeface="Cambria" pitchFamily="34" charset="0"/>
              </a:rPr>
              <a:t>Product Optimisation to mitigate Financial Impact</a:t>
            </a:r>
          </a:p>
        </p:txBody>
      </p:sp>
      <p:sp>
        <p:nvSpPr>
          <p:cNvPr id="3" name="Sub"/>
          <p:cNvSpPr/>
          <p:nvPr/>
        </p:nvSpPr>
        <p:spPr>
          <a:xfrm>
            <a:off x="456720" y="720000"/>
            <a:ext cx="8229600" cy="260000"/>
          </a:xfrm>
          <a:prstGeom prst="rect">
            <a:avLst/>
          </a:prstGeom>
          <a:noFill/>
          <a:ln/>
        </p:spPr>
        <p:txBody>
          <a:bodyPr wrap="square" rtlCol="0" anchor="ctr"/>
          <a:lstStyle/>
          <a:p>
            <a:pPr marL="0" indent="0">
              <a:buNone/>
            </a:pPr>
            <a:r>
              <a:rPr lang="en-US" sz="1300" dirty="0">
                <a:solidFill>
                  <a:srgbClr val="64748B"/>
                </a:solidFill>
                <a:latin typeface="Calibri" pitchFamily="34" charset="0"/>
              </a:rPr>
              <a:t>Four targeted actions for Cleats, Men’s Footwear, and Women’s Apparel to reduce cancellations, fraud, and fulfilment failures</a:t>
            </a:r>
          </a:p>
        </p:txBody>
      </p:sp>
      <p:sp>
        <p:nvSpPr>
          <p:cNvPr id="10" name="C1bg"/>
          <p:cNvSpPr/>
          <p:nvPr/>
        </p:nvSpPr>
        <p:spPr>
          <a:xfrm>
            <a:off x="457200" y="1100000"/>
            <a:ext cx="3931920" cy="186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11" name="C1top"/>
          <p:cNvSpPr/>
          <p:nvPr/>
        </p:nvSpPr>
        <p:spPr>
          <a:xfrm>
            <a:off x="457200" y="1100000"/>
            <a:ext cx="3931920" cy="130000"/>
          </a:xfrm>
          <a:prstGeom prst="roundRect">
            <a:avLst>
              <a:gd name="adj" fmla="val 8000"/>
            </a:avLst>
          </a:prstGeom>
          <a:solidFill>
            <a:srgbClr val="065A82"/>
          </a:solidFill>
          <a:ln>
            <a:noFill/>
          </a:ln>
        </p:spPr>
        <p:txBody>
          <a:bodyPr/>
          <a:lstStyle/>
          <a:p>
            <a:endParaRPr lang="en-US"/>
          </a:p>
        </p:txBody>
      </p:sp>
      <p:sp>
        <p:nvSpPr>
          <p:cNvPr id="12" name="C1badge"/>
          <p:cNvSpPr/>
          <p:nvPr/>
        </p:nvSpPr>
        <p:spPr>
          <a:xfrm>
            <a:off x="514000" y="1275000"/>
            <a:ext cx="370000" cy="370000"/>
          </a:xfrm>
          <a:prstGeom prst="ellipse">
            <a:avLst/>
          </a:prstGeom>
          <a:solidFill>
            <a:srgbClr val="065A82"/>
          </a:solidFill>
          <a:ln>
            <a:noFill/>
          </a:ln>
        </p:spPr>
        <p:txBody>
          <a:bodyPr wrap="square" lIns="0" tIns="0" rIns="0" bIns="0" rtlCol="0" anchor="ctr"/>
          <a:lstStyle/>
          <a:p>
            <a:pPr algn="ctr">
              <a:buNone/>
            </a:pPr>
            <a:r>
              <a:rPr lang="en-US" sz="1300" b="1" dirty="0">
                <a:solidFill>
                  <a:srgbClr val="FFFFFF"/>
                </a:solidFill>
                <a:latin typeface="Cambria"/>
              </a:rPr>
              <a:t>1</a:t>
            </a:r>
          </a:p>
        </p:txBody>
      </p:sp>
      <p:sp>
        <p:nvSpPr>
          <p:cNvPr id="13" name="C1text"/>
          <p:cNvSpPr/>
          <p:nvPr/>
        </p:nvSpPr>
        <p:spPr>
          <a:xfrm>
            <a:off x="975000" y="1275000"/>
            <a:ext cx="3350000" cy="1640000"/>
          </a:xfrm>
          <a:prstGeom prst="rect">
            <a:avLst/>
          </a:prstGeom>
          <a:noFill/>
          <a:ln/>
        </p:spPr>
        <p:txBody>
          <a:bodyPr wrap="square" rtlCol="0" anchor="t"/>
          <a:lstStyle/>
          <a:p>
            <a:pPr marL="0" indent="0">
              <a:buNone/>
            </a:pPr>
            <a:r>
              <a:rPr lang="en-US" sz="1350" b="1" dirty="0">
                <a:solidFill>
                  <a:srgbClr val="065A82"/>
                </a:solidFill>
                <a:latin typeface="Cambria"/>
              </a:rPr>
              <a:t>Product Info &amp; Standardisation</a:t>
            </a:r>
          </a:p>
          <a:p>
            <a:pPr marL="0" indent="0">
              <a:buNone/>
            </a:pPr>
            <a:endParaRPr lang="en-US" sz="900"/>
          </a:p>
          <a:p>
            <a:pPr marL="0" indent="0">
              <a:buNone/>
            </a:pPr>
            <a:r>
              <a:rPr lang="en-US" sz="1050" dirty="0">
                <a:solidFill>
                  <a:srgbClr val="1E293B"/>
                </a:solidFill>
                <a:latin typeface="Calibri"/>
              </a:rPr>
              <a:t>Audit and standardise descriptions, images, and sizing guides. Add 360° views, measurements, and virtual try-on tools for Cleats, Footwear, and Apparel.</a:t>
            </a:r>
          </a:p>
          <a:p>
            <a:pPr marL="0" indent="0">
              <a:buNone/>
            </a:pPr>
            <a:endParaRPr lang="en-US" sz="900"/>
          </a:p>
          <a:p>
            <a:pPr marL="0" indent="0">
              <a:buNone/>
            </a:pPr>
            <a:r>
              <a:rPr lang="en-US" sz="1000" b="1" dirty="0">
                <a:solidFill>
                  <a:srgbClr val="065A82"/>
                </a:solidFill>
                <a:latin typeface="Calibri"/>
              </a:rPr>
              <a:t>Impact: </a:t>
            </a:r>
            <a:r>
              <a:rPr lang="en-US" sz="1000" dirty="0">
                <a:solidFill>
                  <a:srgbClr val="64748B"/>
                </a:solidFill>
                <a:latin typeface="Calibri"/>
              </a:rPr>
              <a:t>Reduce cancellations from expectation gaps — cutting reverse logistics costs.</a:t>
            </a:r>
          </a:p>
        </p:txBody>
      </p:sp>
      <p:sp>
        <p:nvSpPr>
          <p:cNvPr id="20" name="C2bg"/>
          <p:cNvSpPr/>
          <p:nvPr/>
        </p:nvSpPr>
        <p:spPr>
          <a:xfrm>
            <a:off x="4571520" y="1100000"/>
            <a:ext cx="3931920" cy="186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21" name="C2top"/>
          <p:cNvSpPr/>
          <p:nvPr/>
        </p:nvSpPr>
        <p:spPr>
          <a:xfrm>
            <a:off x="4571520" y="1100000"/>
            <a:ext cx="3931920" cy="130000"/>
          </a:xfrm>
          <a:prstGeom prst="roundRect">
            <a:avLst>
              <a:gd name="adj" fmla="val 8000"/>
            </a:avLst>
          </a:prstGeom>
          <a:solidFill>
            <a:srgbClr val="1C7293"/>
          </a:solidFill>
          <a:ln>
            <a:noFill/>
          </a:ln>
        </p:spPr>
        <p:txBody>
          <a:bodyPr/>
          <a:lstStyle/>
          <a:p>
            <a:endParaRPr lang="en-US"/>
          </a:p>
        </p:txBody>
      </p:sp>
      <p:sp>
        <p:nvSpPr>
          <p:cNvPr id="22" name="C2badge"/>
          <p:cNvSpPr/>
          <p:nvPr/>
        </p:nvSpPr>
        <p:spPr>
          <a:xfrm>
            <a:off x="4628000" y="1275000"/>
            <a:ext cx="370000" cy="370000"/>
          </a:xfrm>
          <a:prstGeom prst="ellipse">
            <a:avLst/>
          </a:prstGeom>
          <a:solidFill>
            <a:srgbClr val="1C7293"/>
          </a:solidFill>
          <a:ln>
            <a:noFill/>
          </a:ln>
        </p:spPr>
        <p:txBody>
          <a:bodyPr wrap="square" lIns="0" tIns="0" rIns="0" bIns="0" rtlCol="0" anchor="ctr"/>
          <a:lstStyle/>
          <a:p>
            <a:pPr algn="ctr">
              <a:buNone/>
            </a:pPr>
            <a:r>
              <a:rPr lang="en-US" sz="1300" b="1" dirty="0">
                <a:solidFill>
                  <a:srgbClr val="FFFFFF"/>
                </a:solidFill>
                <a:latin typeface="Cambria"/>
              </a:rPr>
              <a:t>2</a:t>
            </a:r>
          </a:p>
        </p:txBody>
      </p:sp>
      <p:sp>
        <p:nvSpPr>
          <p:cNvPr id="23" name="C2text"/>
          <p:cNvSpPr/>
          <p:nvPr/>
        </p:nvSpPr>
        <p:spPr>
          <a:xfrm>
            <a:off x="5089000" y="1275000"/>
            <a:ext cx="3350000" cy="1640000"/>
          </a:xfrm>
          <a:prstGeom prst="rect">
            <a:avLst/>
          </a:prstGeom>
          <a:noFill/>
          <a:ln/>
        </p:spPr>
        <p:txBody>
          <a:bodyPr wrap="square" rtlCol="0" anchor="t"/>
          <a:lstStyle/>
          <a:p>
            <a:pPr marL="0" indent="0">
              <a:buNone/>
            </a:pPr>
            <a:r>
              <a:rPr lang="en-US" sz="1350" b="1" dirty="0">
                <a:solidFill>
                  <a:srgbClr val="1C7293"/>
                </a:solidFill>
                <a:latin typeface="Cambria"/>
              </a:rPr>
              <a:t>Post-Cancellation Feedback Loop</a:t>
            </a:r>
          </a:p>
          <a:p>
            <a:pPr marL="0" indent="0">
              <a:buNone/>
            </a:pPr>
            <a:endParaRPr lang="en-US" sz="900" dirty="0"/>
          </a:p>
          <a:p>
            <a:pPr marL="0" indent="0">
              <a:buNone/>
            </a:pPr>
            <a:r>
              <a:rPr lang="en-US" sz="1050" dirty="0">
                <a:solidFill>
                  <a:srgbClr val="1E293B"/>
                </a:solidFill>
                <a:latin typeface="Calibri"/>
              </a:rPr>
              <a:t>Mandatory quick survey for cancelling customers. Analyse themes — pricing, availability, shipping — and link findings to inventory and product management systems.</a:t>
            </a:r>
          </a:p>
          <a:p>
            <a:pPr marL="0" indent="0">
              <a:buNone/>
            </a:pPr>
            <a:endParaRPr lang="en-US" sz="900" dirty="0"/>
          </a:p>
          <a:p>
            <a:pPr marL="0" indent="0">
              <a:buNone/>
            </a:pPr>
            <a:r>
              <a:rPr lang="en-US" sz="1000" b="1" dirty="0">
                <a:solidFill>
                  <a:srgbClr val="1C7293"/>
                </a:solidFill>
                <a:latin typeface="Calibri"/>
              </a:rPr>
              <a:t>Impact: </a:t>
            </a:r>
            <a:r>
              <a:rPr lang="en-US" sz="1000" dirty="0">
                <a:solidFill>
                  <a:srgbClr val="64748B"/>
                </a:solidFill>
                <a:latin typeface="Calibri"/>
              </a:rPr>
              <a:t>Address root causes and improve product availability in key regions.</a:t>
            </a:r>
          </a:p>
        </p:txBody>
      </p:sp>
      <p:sp>
        <p:nvSpPr>
          <p:cNvPr id="30" name="C3bg"/>
          <p:cNvSpPr/>
          <p:nvPr/>
        </p:nvSpPr>
        <p:spPr>
          <a:xfrm>
            <a:off x="457200" y="3050000"/>
            <a:ext cx="3931920" cy="186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31" name="C3top"/>
          <p:cNvSpPr/>
          <p:nvPr/>
        </p:nvSpPr>
        <p:spPr>
          <a:xfrm>
            <a:off x="457200" y="3050000"/>
            <a:ext cx="3931920" cy="130000"/>
          </a:xfrm>
          <a:prstGeom prst="roundRect">
            <a:avLst>
              <a:gd name="adj" fmla="val 8000"/>
            </a:avLst>
          </a:prstGeom>
          <a:solidFill>
            <a:srgbClr val="21295C"/>
          </a:solidFill>
          <a:ln>
            <a:noFill/>
          </a:ln>
        </p:spPr>
        <p:txBody>
          <a:bodyPr/>
          <a:lstStyle/>
          <a:p>
            <a:endParaRPr lang="en-US"/>
          </a:p>
        </p:txBody>
      </p:sp>
      <p:sp>
        <p:nvSpPr>
          <p:cNvPr id="32" name="C3badge"/>
          <p:cNvSpPr/>
          <p:nvPr/>
        </p:nvSpPr>
        <p:spPr>
          <a:xfrm>
            <a:off x="514000" y="3225000"/>
            <a:ext cx="370000" cy="370000"/>
          </a:xfrm>
          <a:prstGeom prst="ellipse">
            <a:avLst/>
          </a:prstGeom>
          <a:solidFill>
            <a:srgbClr val="21295C"/>
          </a:solidFill>
          <a:ln>
            <a:noFill/>
          </a:ln>
        </p:spPr>
        <p:txBody>
          <a:bodyPr wrap="square" lIns="0" tIns="0" rIns="0" bIns="0" rtlCol="0" anchor="ctr"/>
          <a:lstStyle/>
          <a:p>
            <a:pPr algn="ctr">
              <a:buNone/>
            </a:pPr>
            <a:r>
              <a:rPr lang="en-US" sz="1300" b="1" dirty="0">
                <a:solidFill>
                  <a:srgbClr val="FFFFFF"/>
                </a:solidFill>
                <a:latin typeface="Cambria"/>
              </a:rPr>
              <a:t>3</a:t>
            </a:r>
          </a:p>
        </p:txBody>
      </p:sp>
      <p:sp>
        <p:nvSpPr>
          <p:cNvPr id="33" name="C3text"/>
          <p:cNvSpPr/>
          <p:nvPr/>
        </p:nvSpPr>
        <p:spPr>
          <a:xfrm>
            <a:off x="975000" y="3225000"/>
            <a:ext cx="3350000" cy="1640000"/>
          </a:xfrm>
          <a:prstGeom prst="rect">
            <a:avLst/>
          </a:prstGeom>
          <a:noFill/>
          <a:ln/>
        </p:spPr>
        <p:txBody>
          <a:bodyPr wrap="square" rtlCol="0" anchor="t"/>
          <a:lstStyle/>
          <a:p>
            <a:pPr marL="0" indent="0">
              <a:buNone/>
            </a:pPr>
            <a:r>
              <a:rPr lang="en-US" sz="1350" b="1" dirty="0">
                <a:solidFill>
                  <a:srgbClr val="21295C"/>
                </a:solidFill>
                <a:latin typeface="Cambria"/>
              </a:rPr>
              <a:t>Inventory Placement Strategy</a:t>
            </a:r>
          </a:p>
          <a:p>
            <a:pPr marL="0" indent="0">
              <a:buNone/>
            </a:pPr>
            <a:endParaRPr lang="en-US" sz="900"/>
          </a:p>
          <a:p>
            <a:pPr marL="0" indent="0">
              <a:buNone/>
            </a:pPr>
            <a:r>
              <a:rPr lang="en-US" sz="1050" dirty="0">
                <a:solidFill>
                  <a:srgbClr val="1E293B"/>
                </a:solidFill>
                <a:latin typeface="Calibri"/>
              </a:rPr>
              <a:t>Pre-position stock for high late-rate categories closer to top markets (US, France, Mexico). Implement real-time inventory tracking for high-risk products.</a:t>
            </a:r>
          </a:p>
          <a:p>
            <a:pPr marL="0" indent="0">
              <a:buNone/>
            </a:pPr>
            <a:endParaRPr lang="en-US" sz="900"/>
          </a:p>
          <a:p>
            <a:pPr marL="0" indent="0">
              <a:buNone/>
            </a:pPr>
            <a:r>
              <a:rPr lang="en-US" sz="1000" b="1" dirty="0">
                <a:solidFill>
                  <a:srgbClr val="21295C"/>
                </a:solidFill>
                <a:latin typeface="Calibri"/>
              </a:rPr>
              <a:t>Impact: </a:t>
            </a:r>
            <a:r>
              <a:rPr lang="en-US" sz="1000" dirty="0">
                <a:solidFill>
                  <a:srgbClr val="64748B"/>
                </a:solidFill>
                <a:latin typeface="Calibri"/>
              </a:rPr>
              <a:t>Minimise stockouts and reduce transit times, especially for premium shipping.</a:t>
            </a:r>
          </a:p>
        </p:txBody>
      </p:sp>
      <p:sp>
        <p:nvSpPr>
          <p:cNvPr id="40" name="C4bg"/>
          <p:cNvSpPr/>
          <p:nvPr/>
        </p:nvSpPr>
        <p:spPr>
          <a:xfrm>
            <a:off x="4571520" y="3050000"/>
            <a:ext cx="3931920" cy="186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41" name="C4top"/>
          <p:cNvSpPr/>
          <p:nvPr/>
        </p:nvSpPr>
        <p:spPr>
          <a:xfrm>
            <a:off x="4571520" y="3050000"/>
            <a:ext cx="3931920" cy="130000"/>
          </a:xfrm>
          <a:prstGeom prst="roundRect">
            <a:avLst>
              <a:gd name="adj" fmla="val 8000"/>
            </a:avLst>
          </a:prstGeom>
          <a:solidFill>
            <a:srgbClr val="028090"/>
          </a:solidFill>
          <a:ln>
            <a:noFill/>
          </a:ln>
        </p:spPr>
        <p:txBody>
          <a:bodyPr/>
          <a:lstStyle/>
          <a:p>
            <a:endParaRPr lang="en-US"/>
          </a:p>
        </p:txBody>
      </p:sp>
      <p:sp>
        <p:nvSpPr>
          <p:cNvPr id="42" name="C4badge"/>
          <p:cNvSpPr/>
          <p:nvPr/>
        </p:nvSpPr>
        <p:spPr>
          <a:xfrm>
            <a:off x="4628000" y="3225000"/>
            <a:ext cx="370000" cy="370000"/>
          </a:xfrm>
          <a:prstGeom prst="ellipse">
            <a:avLst/>
          </a:prstGeom>
          <a:solidFill>
            <a:srgbClr val="028090"/>
          </a:solidFill>
          <a:ln>
            <a:noFill/>
          </a:ln>
        </p:spPr>
        <p:txBody>
          <a:bodyPr wrap="square" lIns="0" tIns="0" rIns="0" bIns="0" rtlCol="0" anchor="ctr"/>
          <a:lstStyle/>
          <a:p>
            <a:pPr algn="ctr">
              <a:buNone/>
            </a:pPr>
            <a:r>
              <a:rPr lang="en-US" sz="1300" b="1" dirty="0">
                <a:solidFill>
                  <a:srgbClr val="FFFFFF"/>
                </a:solidFill>
                <a:latin typeface="Cambria"/>
              </a:rPr>
              <a:t>4</a:t>
            </a:r>
          </a:p>
        </p:txBody>
      </p:sp>
      <p:sp>
        <p:nvSpPr>
          <p:cNvPr id="43" name="C4text"/>
          <p:cNvSpPr/>
          <p:nvPr/>
        </p:nvSpPr>
        <p:spPr>
          <a:xfrm>
            <a:off x="5089000" y="3225000"/>
            <a:ext cx="3350000" cy="1640000"/>
          </a:xfrm>
          <a:prstGeom prst="rect">
            <a:avLst/>
          </a:prstGeom>
          <a:noFill/>
          <a:ln/>
        </p:spPr>
        <p:txBody>
          <a:bodyPr wrap="square" rtlCol="0" anchor="t"/>
          <a:lstStyle/>
          <a:p>
            <a:pPr marL="0" indent="0">
              <a:buNone/>
            </a:pPr>
            <a:r>
              <a:rPr lang="en-US" sz="1350" b="1" dirty="0">
                <a:solidFill>
                  <a:srgbClr val="028090"/>
                </a:solidFill>
                <a:latin typeface="Cambria"/>
              </a:rPr>
              <a:t>Discount Strategy Review</a:t>
            </a:r>
          </a:p>
          <a:p>
            <a:pPr marL="0" indent="0">
              <a:buNone/>
            </a:pPr>
            <a:endParaRPr lang="en-US" sz="900" dirty="0"/>
          </a:p>
          <a:p>
            <a:pPr marL="0" indent="0">
              <a:buNone/>
            </a:pPr>
            <a:r>
              <a:rPr lang="en-US" sz="1050" dirty="0">
                <a:solidFill>
                  <a:srgbClr val="1E293B"/>
                </a:solidFill>
                <a:latin typeface="Calibri"/>
              </a:rPr>
              <a:t>High discount rates correlate strongly with late delivery risk. Re-evaluate promotions for operational feasibility. Cap volumes on deeply discounted items during peak periods.</a:t>
            </a:r>
          </a:p>
          <a:p>
            <a:pPr marL="0" indent="0">
              <a:buNone/>
            </a:pPr>
            <a:endParaRPr lang="en-US" sz="900" dirty="0"/>
          </a:p>
          <a:p>
            <a:pPr marL="0" indent="0">
              <a:buNone/>
            </a:pPr>
            <a:r>
              <a:rPr lang="en-US" sz="1000" b="1" dirty="0">
                <a:solidFill>
                  <a:srgbClr val="028090"/>
                </a:solidFill>
                <a:latin typeface="Calibri"/>
              </a:rPr>
              <a:t>Impact: </a:t>
            </a:r>
            <a:r>
              <a:rPr lang="en-US" sz="1000" dirty="0">
                <a:solidFill>
                  <a:srgbClr val="64748B"/>
                </a:solidFill>
                <a:latin typeface="Calibri"/>
              </a:rPr>
              <a:t>Decouple revenue strategy from operations to reduce fulfilment failures.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1C7293">
              <a:alpha val="18000"/>
            </a:srgbClr>
          </a:solidFill>
          <a:ln w="12700">
            <a:solidFill>
              <a:srgbClr val="1C7293">
                <a:alpha val="18000"/>
              </a:srgbClr>
            </a:solidFill>
            <a:prstDash val="solid"/>
          </a:ln>
        </p:spPr>
        <p:txBody>
          <a:bodyPr/>
          <a:lstStyle/>
          <a:p>
            <a:endParaRPr lang="en-SG"/>
          </a:p>
        </p:txBody>
      </p:sp>
      <p:sp>
        <p:nvSpPr>
          <p:cNvPr id="3" name="Shape 1"/>
          <p:cNvSpPr/>
          <p:nvPr/>
        </p:nvSpPr>
        <p:spPr>
          <a:xfrm>
            <a:off x="7772400" y="2286000"/>
            <a:ext cx="2743200" cy="2743200"/>
          </a:xfrm>
          <a:prstGeom prst="ellipse">
            <a:avLst/>
          </a:prstGeom>
          <a:solidFill>
            <a:srgbClr val="02C39A">
              <a:alpha val="12000"/>
            </a:srgbClr>
          </a:solidFill>
          <a:ln w="12700">
            <a:solidFill>
              <a:srgbClr val="02C39A">
                <a:alpha val="12000"/>
              </a:srgbClr>
            </a:solidFill>
            <a:prstDash val="solid"/>
          </a:ln>
        </p:spPr>
        <p:txBody>
          <a:bodyPr/>
          <a:lstStyle/>
          <a:p>
            <a:endParaRPr lang="en-SG"/>
          </a:p>
        </p:txBody>
      </p:sp>
      <p:sp>
        <p:nvSpPr>
          <p:cNvPr id="4" name="Text 2"/>
          <p:cNvSpPr/>
          <p:nvPr/>
        </p:nvSpPr>
        <p:spPr>
          <a:xfrm>
            <a:off x="914400" y="1645920"/>
            <a:ext cx="1097280" cy="1097280"/>
          </a:xfrm>
          <a:prstGeom prst="rect">
            <a:avLst/>
          </a:prstGeom>
          <a:noFill/>
          <a:ln/>
        </p:spPr>
        <p:txBody>
          <a:bodyPr wrap="square" rtlCol="0" anchor="ctr"/>
          <a:lstStyle/>
          <a:p>
            <a:pPr marL="0" indent="0" algn="ctr">
              <a:buNone/>
            </a:pPr>
            <a:r>
              <a:rPr lang="en-US" sz="4800" dirty="0">
                <a:solidFill>
                  <a:srgbClr val="000000"/>
                </a:solidFill>
              </a:rPr>
              <a:t>🤖</a:t>
            </a:r>
            <a:endParaRPr lang="en-US" sz="4800" dirty="0"/>
          </a:p>
        </p:txBody>
      </p:sp>
      <p:sp>
        <p:nvSpPr>
          <p:cNvPr id="5" name="Text 3"/>
          <p:cNvSpPr/>
          <p:nvPr/>
        </p:nvSpPr>
        <p:spPr>
          <a:xfrm>
            <a:off x="2194560" y="1737360"/>
            <a:ext cx="6400800" cy="109728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Prediction Model &amp; Feature Importance</a:t>
            </a:r>
            <a:endParaRPr lang="en-US" sz="3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Title"/>
          <p:cNvSpPr/>
          <p:nvPr/>
        </p:nvSpPr>
        <p:spPr>
          <a:xfrm>
            <a:off x="457200" y="274320"/>
            <a:ext cx="8229600" cy="500000"/>
          </a:xfrm>
          <a:prstGeom prst="rect">
            <a:avLst/>
          </a:prstGeom>
          <a:noFill/>
          <a:ln/>
        </p:spPr>
        <p:txBody>
          <a:bodyPr wrap="square" rtlCol="0" anchor="ctr"/>
          <a:lstStyle/>
          <a:p>
            <a:pPr marL="0" indent="0">
              <a:buNone/>
            </a:pPr>
            <a:r>
              <a:rPr lang="en-US" sz="2800" b="1" dirty="0">
                <a:solidFill>
                  <a:srgbClr val="065A82"/>
                </a:solidFill>
                <a:latin typeface="Cambria"/>
              </a:rPr>
              <a:t>Predictive Model Performance</a:t>
            </a:r>
          </a:p>
        </p:txBody>
      </p:sp>
      <p:sp>
        <p:nvSpPr>
          <p:cNvPr id="3" name="Sub"/>
          <p:cNvSpPr/>
          <p:nvPr/>
        </p:nvSpPr>
        <p:spPr>
          <a:xfrm>
            <a:off x="457200" y="749808"/>
            <a:ext cx="8229600" cy="280000"/>
          </a:xfrm>
          <a:prstGeom prst="rect">
            <a:avLst/>
          </a:prstGeom>
          <a:noFill/>
          <a:ln/>
        </p:spPr>
        <p:txBody>
          <a:bodyPr wrap="square" rtlCol="0" anchor="ctr"/>
          <a:lstStyle/>
          <a:p>
            <a:pPr marL="0" indent="0">
              <a:buNone/>
            </a:pPr>
            <a:r>
              <a:rPr lang="en-US" sz="1300" dirty="0">
                <a:solidFill>
                  <a:srgbClr val="64748B"/>
                </a:solidFill>
                <a:latin typeface="Calibri"/>
              </a:rPr>
              <a:t>Classification model trained on 32,825 orders — strong discriminative power for late delivery risk</a:t>
            </a:r>
          </a:p>
        </p:txBody>
      </p:sp>
      <p:sp>
        <p:nvSpPr>
          <p:cNvPr id="10" name="AccCard"/>
          <p:cNvSpPr/>
          <p:nvPr/>
        </p:nvSpPr>
        <p:spPr>
          <a:xfrm>
            <a:off x="457200" y="1160000"/>
            <a:ext cx="1880000" cy="1500000"/>
          </a:xfrm>
          <a:prstGeom prst="roundRect">
            <a:avLst>
              <a:gd name="adj" fmla="val 5000"/>
            </a:avLst>
          </a:prstGeom>
          <a:solidFill>
            <a:srgbClr val="065A82"/>
          </a:solidFill>
          <a:ln>
            <a:noFill/>
          </a:ln>
          <a:effectLst>
            <a:outerShdw blurRad="76200" dist="25400" dir="2700000" algn="bl" rotWithShape="0">
              <a:srgbClr val="000000">
                <a:alpha val="15000"/>
              </a:srgbClr>
            </a:outerShdw>
          </a:effectLst>
        </p:spPr>
        <p:txBody>
          <a:bodyPr wrap="square" lIns="182880" tIns="182880" rIns="182880" bIns="182880" rtlCol="0" anchor="ctr"/>
          <a:lstStyle/>
          <a:p>
            <a:pPr algn="ctr">
              <a:buNone/>
            </a:pPr>
            <a:r>
              <a:rPr lang="en-US" sz="4000" b="1" dirty="0">
                <a:solidFill>
                  <a:srgbClr val="FFFFFF"/>
                </a:solidFill>
                <a:latin typeface="Cambria"/>
              </a:rPr>
              <a:t>73%</a:t>
            </a:r>
          </a:p>
          <a:p>
            <a:pPr algn="ctr">
              <a:buNone/>
            </a:pPr>
            <a:r>
              <a:rPr lang="en-US" sz="1100" dirty="0">
                <a:solidFill>
                  <a:srgbClr val="CADCFC"/>
                </a:solidFill>
                <a:latin typeface="Calibri"/>
              </a:rPr>
              <a:t>Overall Accuracy</a:t>
            </a:r>
          </a:p>
        </p:txBody>
      </p:sp>
      <p:sp>
        <p:nvSpPr>
          <p:cNvPr id="11" name="AUCCard"/>
          <p:cNvSpPr/>
          <p:nvPr/>
        </p:nvSpPr>
        <p:spPr>
          <a:xfrm>
            <a:off x="2457200" y="1160000"/>
            <a:ext cx="1880000" cy="1500000"/>
          </a:xfrm>
          <a:prstGeom prst="roundRect">
            <a:avLst>
              <a:gd name="adj" fmla="val 5000"/>
            </a:avLst>
          </a:prstGeom>
          <a:solidFill>
            <a:srgbClr val="1C7293"/>
          </a:solidFill>
          <a:ln>
            <a:noFill/>
          </a:ln>
          <a:effectLst>
            <a:outerShdw blurRad="76200" dist="25400" dir="2700000" algn="bl" rotWithShape="0">
              <a:srgbClr val="000000">
                <a:alpha val="15000"/>
              </a:srgbClr>
            </a:outerShdw>
          </a:effectLst>
        </p:spPr>
        <p:txBody>
          <a:bodyPr wrap="square" lIns="182880" tIns="182880" rIns="182880" bIns="182880" rtlCol="0" anchor="ctr"/>
          <a:lstStyle/>
          <a:p>
            <a:pPr algn="ctr">
              <a:buNone/>
            </a:pPr>
            <a:r>
              <a:rPr lang="en-US" sz="4000" b="1" dirty="0">
                <a:solidFill>
                  <a:srgbClr val="FFFFFF"/>
                </a:solidFill>
                <a:latin typeface="Cambria"/>
              </a:rPr>
              <a:t>0.81</a:t>
            </a:r>
          </a:p>
          <a:p>
            <a:pPr algn="ctr">
              <a:buNone/>
            </a:pPr>
            <a:r>
              <a:rPr lang="en-US" sz="1100" dirty="0">
                <a:solidFill>
                  <a:srgbClr val="CADCFC"/>
                </a:solidFill>
                <a:latin typeface="Calibri"/>
              </a:rPr>
              <a:t>ROC AUC Score</a:t>
            </a:r>
          </a:p>
        </p:txBody>
      </p:sp>
      <p:sp>
        <p:nvSpPr>
          <p:cNvPr id="12" name="LPCard"/>
          <p:cNvSpPr/>
          <p:nvPr/>
        </p:nvSpPr>
        <p:spPr>
          <a:xfrm>
            <a:off x="4457200" y="1160000"/>
            <a:ext cx="1880000" cy="1500000"/>
          </a:xfrm>
          <a:prstGeom prst="roundRect">
            <a:avLst>
              <a:gd name="adj" fmla="val 5000"/>
            </a:avLst>
          </a:prstGeom>
          <a:solidFill>
            <a:srgbClr val="21295C"/>
          </a:solidFill>
          <a:ln>
            <a:noFill/>
          </a:ln>
          <a:effectLst>
            <a:outerShdw blurRad="76200" dist="25400" dir="2700000" algn="bl" rotWithShape="0">
              <a:srgbClr val="000000">
                <a:alpha val="15000"/>
              </a:srgbClr>
            </a:outerShdw>
          </a:effectLst>
        </p:spPr>
        <p:txBody>
          <a:bodyPr wrap="square" lIns="182880" tIns="182880" rIns="182880" bIns="182880" rtlCol="0" anchor="ctr"/>
          <a:lstStyle/>
          <a:p>
            <a:pPr algn="ctr">
              <a:buNone/>
            </a:pPr>
            <a:r>
              <a:rPr lang="en-US" sz="4000" b="1" dirty="0">
                <a:solidFill>
                  <a:srgbClr val="FFFFFF"/>
                </a:solidFill>
                <a:latin typeface="Cambria"/>
              </a:rPr>
              <a:t>79%</a:t>
            </a:r>
          </a:p>
          <a:p>
            <a:pPr algn="ctr">
              <a:buNone/>
            </a:pPr>
            <a:r>
              <a:rPr lang="en-US" sz="1100" dirty="0">
                <a:solidFill>
                  <a:srgbClr val="CADCFC"/>
                </a:solidFill>
                <a:latin typeface="Calibri"/>
              </a:rPr>
              <a:t>Late Risk Precision</a:t>
            </a:r>
          </a:p>
        </p:txBody>
      </p:sp>
      <p:sp>
        <p:nvSpPr>
          <p:cNvPr id="13" name="LRCard"/>
          <p:cNvSpPr/>
          <p:nvPr/>
        </p:nvSpPr>
        <p:spPr>
          <a:xfrm>
            <a:off x="6457200" y="1160000"/>
            <a:ext cx="1880000" cy="1500000"/>
          </a:xfrm>
          <a:prstGeom prst="roundRect">
            <a:avLst>
              <a:gd name="adj" fmla="val 5000"/>
            </a:avLst>
          </a:prstGeom>
          <a:solidFill>
            <a:srgbClr val="028090"/>
          </a:solidFill>
          <a:ln>
            <a:noFill/>
          </a:ln>
          <a:effectLst>
            <a:outerShdw blurRad="76200" dist="25400" dir="2700000" algn="bl" rotWithShape="0">
              <a:srgbClr val="000000">
                <a:alpha val="15000"/>
              </a:srgbClr>
            </a:outerShdw>
          </a:effectLst>
        </p:spPr>
        <p:txBody>
          <a:bodyPr wrap="square" lIns="182880" tIns="182880" rIns="182880" bIns="182880" rtlCol="0" anchor="ctr"/>
          <a:lstStyle/>
          <a:p>
            <a:pPr algn="ctr">
              <a:buNone/>
            </a:pPr>
            <a:r>
              <a:rPr lang="en-US" sz="4000" b="1" dirty="0">
                <a:solidFill>
                  <a:srgbClr val="FFFFFF"/>
                </a:solidFill>
                <a:latin typeface="Cambria"/>
              </a:rPr>
              <a:t>69%</a:t>
            </a:r>
          </a:p>
          <a:p>
            <a:pPr algn="ctr">
              <a:buNone/>
            </a:pPr>
            <a:r>
              <a:rPr lang="en-US" sz="1100" dirty="0">
                <a:solidFill>
                  <a:srgbClr val="CADCFC"/>
                </a:solidFill>
                <a:latin typeface="Calibri"/>
              </a:rPr>
              <a:t>Late Risk Recall</a:t>
            </a:r>
          </a:p>
        </p:txBody>
      </p:sp>
      <p:sp>
        <p:nvSpPr>
          <p:cNvPr id="20" name="CMCard"/>
          <p:cNvSpPr/>
          <p:nvPr/>
        </p:nvSpPr>
        <p:spPr>
          <a:xfrm>
            <a:off x="457200" y="2780000"/>
            <a:ext cx="4000000" cy="30112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wrap="square" lIns="182880" tIns="182880" rIns="182880" bIns="182880" rtlCol="0" anchor="t"/>
          <a:lstStyle/>
          <a:p>
            <a:pPr marL="0" indent="0">
              <a:buNone/>
            </a:pPr>
            <a:r>
              <a:rPr lang="en-US" sz="1300" b="1" dirty="0">
                <a:solidFill>
                  <a:srgbClr val="065A82"/>
                </a:solidFill>
                <a:latin typeface="Cambria"/>
              </a:rPr>
              <a:t>Confusion Matrix</a:t>
            </a:r>
          </a:p>
          <a:p>
            <a:pPr marL="0" indent="0">
              <a:buNone/>
            </a:pPr>
            <a:endParaRPr lang="en-US" sz="1000" dirty="0"/>
          </a:p>
          <a:p>
            <a:pPr marL="0" indent="0">
              <a:buNone/>
            </a:pPr>
            <a:r>
              <a:rPr lang="en-US" sz="1050" b="1" dirty="0">
                <a:solidFill>
                  <a:srgbClr val="16A34A"/>
                </a:solidFill>
                <a:latin typeface="Calibri"/>
              </a:rPr>
              <a:t>✓ True Negatives (on-time correctly predicted): </a:t>
            </a:r>
            <a:r>
              <a:rPr lang="en-US" sz="1050" dirty="0">
                <a:solidFill>
                  <a:srgbClr val="1E293B"/>
                </a:solidFill>
                <a:latin typeface="Calibri"/>
              </a:rPr>
              <a:t>11,600</a:t>
            </a:r>
          </a:p>
          <a:p>
            <a:pPr marL="0" indent="0">
              <a:buNone/>
            </a:pPr>
            <a:r>
              <a:rPr lang="en-US" sz="1050" b="1" dirty="0">
                <a:solidFill>
                  <a:srgbClr val="16A34A"/>
                </a:solidFill>
                <a:latin typeface="Calibri"/>
              </a:rPr>
              <a:t>✓ True Positives (late correctly flagged): </a:t>
            </a:r>
            <a:r>
              <a:rPr lang="en-US" sz="1050" dirty="0">
                <a:solidFill>
                  <a:srgbClr val="1E293B"/>
                </a:solidFill>
                <a:latin typeface="Calibri"/>
              </a:rPr>
              <a:t>12,441</a:t>
            </a:r>
          </a:p>
          <a:p>
            <a:pPr marL="0" indent="0">
              <a:buNone/>
            </a:pPr>
            <a:r>
              <a:rPr lang="en-US" sz="1050" b="1" dirty="0">
                <a:solidFill>
                  <a:srgbClr val="DC2626"/>
                </a:solidFill>
                <a:latin typeface="Calibri"/>
              </a:rPr>
              <a:t>⚠ False Negatives (late missed): </a:t>
            </a:r>
            <a:r>
              <a:rPr lang="en-US" sz="1050" dirty="0">
                <a:solidFill>
                  <a:srgbClr val="1E293B"/>
                </a:solidFill>
                <a:latin typeface="Calibri"/>
              </a:rPr>
              <a:t>5,540</a:t>
            </a:r>
          </a:p>
          <a:p>
            <a:pPr marL="0" indent="0">
              <a:buNone/>
            </a:pPr>
            <a:r>
              <a:rPr lang="en-US" sz="1050" b="1" dirty="0">
                <a:solidFill>
                  <a:srgbClr val="D97706"/>
                </a:solidFill>
                <a:latin typeface="Calibri"/>
              </a:rPr>
              <a:t>⚠ False Positives (false alarms): </a:t>
            </a:r>
            <a:r>
              <a:rPr lang="en-US" sz="1050" dirty="0">
                <a:solidFill>
                  <a:srgbClr val="1E293B"/>
                </a:solidFill>
                <a:latin typeface="Calibri"/>
              </a:rPr>
              <a:t>3,244</a:t>
            </a:r>
          </a:p>
        </p:txBody>
      </p:sp>
      <p:sp>
        <p:nvSpPr>
          <p:cNvPr id="30" name="Insight"/>
          <p:cNvSpPr/>
          <p:nvPr/>
        </p:nvSpPr>
        <p:spPr>
          <a:xfrm>
            <a:off x="4607200" y="2780000"/>
            <a:ext cx="4000000" cy="3011200"/>
          </a:xfrm>
          <a:prstGeom prst="roundRect">
            <a:avLst>
              <a:gd name="adj" fmla="val 3000"/>
            </a:avLst>
          </a:prstGeom>
          <a:solidFill>
            <a:srgbClr val="EFF6FF"/>
          </a:solidFill>
          <a:ln w="19050">
            <a:solidFill>
              <a:srgbClr val="065A82"/>
            </a:solidFill>
          </a:ln>
        </p:spPr>
        <p:txBody>
          <a:bodyPr wrap="square" lIns="182880" tIns="182880" rIns="182880" bIns="182880" rtlCol="0" anchor="t"/>
          <a:lstStyle/>
          <a:p>
            <a:pPr marL="0" indent="0">
              <a:buNone/>
            </a:pPr>
            <a:r>
              <a:rPr lang="en-US" sz="1300" b="1" dirty="0">
                <a:solidFill>
                  <a:srgbClr val="065A82"/>
                </a:solidFill>
                <a:latin typeface="Cambria"/>
              </a:rPr>
              <a:t>Operational Value</a:t>
            </a:r>
          </a:p>
          <a:p>
            <a:pPr marL="0" indent="0">
              <a:buNone/>
            </a:pPr>
            <a:endParaRPr lang="en-US" sz="1300" b="1" dirty="0">
              <a:solidFill>
                <a:srgbClr val="065A82"/>
              </a:solidFill>
              <a:latin typeface="Cambria"/>
            </a:endParaRPr>
          </a:p>
          <a:p>
            <a:r>
              <a:rPr lang="en-SG" sz="1100" dirty="0"/>
              <a:t>Out of every 100 total orders processed by the model, </a:t>
            </a:r>
            <a:r>
              <a:rPr lang="en-SG" sz="1100" b="1" dirty="0"/>
              <a:t>73 are correctly </a:t>
            </a:r>
            <a:r>
              <a:rPr lang="en-SG" sz="1100" dirty="0"/>
              <a:t>flagged as a late delivery risk or correctly identified as arriving on time</a:t>
            </a:r>
            <a:endParaRPr lang="en-US" sz="1100" b="1" dirty="0">
              <a:solidFill>
                <a:srgbClr val="065A82"/>
              </a:solidFill>
            </a:endParaRPr>
          </a:p>
          <a:p>
            <a:pPr marL="0" indent="0">
              <a:buNone/>
            </a:pPr>
            <a:endParaRPr lang="en-US" sz="900" dirty="0"/>
          </a:p>
          <a:p>
            <a:pPr marL="0" indent="0">
              <a:buNone/>
            </a:pPr>
            <a:r>
              <a:rPr lang="en-US" sz="1100" dirty="0">
                <a:solidFill>
                  <a:srgbClr val="1E293B"/>
                </a:solidFill>
                <a:latin typeface="Calibri"/>
              </a:rPr>
              <a:t>When the model flags an order as late risk, it is correct </a:t>
            </a:r>
            <a:r>
              <a:rPr lang="en-US" sz="1100" b="1" dirty="0">
                <a:solidFill>
                  <a:srgbClr val="065A82"/>
                </a:solidFill>
                <a:latin typeface="Calibri"/>
              </a:rPr>
              <a:t>79% of the time</a:t>
            </a:r>
            <a:r>
              <a:rPr lang="en-US" sz="1100" dirty="0">
                <a:solidFill>
                  <a:srgbClr val="1E293B"/>
                </a:solidFill>
                <a:latin typeface="Calibri"/>
              </a:rPr>
              <a:t> — a highly reliable signal for operations to act on proactively.</a:t>
            </a:r>
          </a:p>
          <a:p>
            <a:pPr marL="0" indent="0">
              <a:buNone/>
            </a:pPr>
            <a:endParaRPr lang="en-US" sz="900" dirty="0"/>
          </a:p>
          <a:p>
            <a:pPr marL="0" indent="0">
              <a:buNone/>
            </a:pPr>
            <a:r>
              <a:rPr lang="en-US" sz="1100" dirty="0">
                <a:solidFill>
                  <a:srgbClr val="1E293B"/>
                </a:solidFill>
                <a:latin typeface="Calibri"/>
              </a:rPr>
              <a:t>AUC of </a:t>
            </a:r>
            <a:r>
              <a:rPr lang="en-US" sz="1100" b="1" dirty="0">
                <a:solidFill>
                  <a:srgbClr val="065A82"/>
                </a:solidFill>
                <a:latin typeface="Calibri"/>
              </a:rPr>
              <a:t>0.81</a:t>
            </a:r>
            <a:r>
              <a:rPr lang="en-US" sz="1100" dirty="0">
                <a:solidFill>
                  <a:srgbClr val="1E293B"/>
                </a:solidFill>
                <a:latin typeface="Calibri"/>
              </a:rPr>
              <a:t> confirms strong discrimination power beyond chance.</a:t>
            </a:r>
          </a:p>
          <a:p>
            <a:pPr marL="0" indent="0">
              <a:buNone/>
            </a:pPr>
            <a:endParaRPr lang="en-US" sz="1100" dirty="0">
              <a:solidFill>
                <a:srgbClr val="1E293B"/>
              </a:solidFill>
              <a:latin typeface="Calibri"/>
            </a:endParaRPr>
          </a:p>
          <a:p>
            <a:r>
              <a:rPr lang="en-SG" sz="1100" dirty="0"/>
              <a:t>69% late risk recall measures the </a:t>
            </a:r>
            <a:r>
              <a:rPr lang="en-SG" sz="1100" b="1" dirty="0"/>
              <a:t>leakage rate</a:t>
            </a:r>
            <a:r>
              <a:rPr lang="en-SG" sz="1100" dirty="0"/>
              <a:t>. It also means </a:t>
            </a:r>
            <a:r>
              <a:rPr lang="en-SG" sz="1100" b="1" dirty="0"/>
              <a:t>31% </a:t>
            </a:r>
            <a:r>
              <a:rPr lang="en-SG" sz="1100" dirty="0"/>
              <a:t>of late deliveries will slip past the model completely undetected</a:t>
            </a:r>
            <a:endParaRPr lang="en-US" sz="1100" dirty="0">
              <a:solidFill>
                <a:srgbClr val="1E293B"/>
              </a:solidFill>
              <a:latin typeface="Calibri"/>
            </a:endParaRPr>
          </a:p>
          <a:p>
            <a:pPr marL="0" indent="0">
              <a:buNone/>
            </a:pPr>
            <a:endParaRPr lang="en-US" sz="1100" dirty="0">
              <a:solidFill>
                <a:srgbClr val="1E293B"/>
              </a:solidFill>
              <a:latin typeface="Calibri"/>
            </a:endParaRPr>
          </a:p>
          <a:p>
            <a:pPr marL="0" indent="0">
              <a:buNone/>
            </a:pPr>
            <a:endParaRPr lang="en-US" sz="1100" dirty="0">
              <a:solidFill>
                <a:srgbClr val="1E293B"/>
              </a:solidFill>
              <a:latin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457200" y="228600"/>
            <a:ext cx="8412480" cy="530352"/>
          </a:xfrm>
          <a:prstGeom prst="rect">
            <a:avLst/>
          </a:prstGeom>
          <a:noFill/>
          <a:ln/>
        </p:spPr>
        <p:txBody>
          <a:bodyPr wrap="square" rtlCol="0" anchor="ctr"/>
          <a:lstStyle/>
          <a:p>
            <a:pPr marL="0" indent="0">
              <a:buNone/>
            </a:pPr>
            <a:r>
              <a:rPr lang="en-US" sz="2600" b="1" dirty="0">
                <a:solidFill>
                  <a:srgbClr val="065A82"/>
                </a:solidFill>
                <a:latin typeface="Cambria" pitchFamily="34" charset="0"/>
                <a:ea typeface="Cambria" pitchFamily="34" charset="-122"/>
                <a:cs typeface="Cambria" pitchFamily="34" charset="-120"/>
              </a:rPr>
              <a:t>Late Delivery Prediction — Key Features</a:t>
            </a:r>
            <a:endParaRPr lang="en-US" sz="2600" dirty="0"/>
          </a:p>
        </p:txBody>
      </p:sp>
      <p:sp>
        <p:nvSpPr>
          <p:cNvPr id="4" name="Shape 1"/>
          <p:cNvSpPr/>
          <p:nvPr/>
        </p:nvSpPr>
        <p:spPr>
          <a:xfrm>
            <a:off x="5577840" y="1005840"/>
            <a:ext cx="3200400" cy="868680"/>
          </a:xfrm>
          <a:prstGeom prst="roundRect">
            <a:avLst>
              <a:gd name="adj" fmla="val 8421"/>
            </a:avLst>
          </a:prstGeom>
          <a:solidFill>
            <a:srgbClr val="FFFFFF"/>
          </a:solidFill>
          <a:ln/>
          <a:effectLst>
            <a:outerShdw blurRad="76200" dist="25400" dir="2700000" algn="bl" rotWithShape="0">
              <a:srgbClr val="000000">
                <a:alpha val="12000"/>
              </a:srgbClr>
            </a:outerShdw>
          </a:effectLst>
        </p:spPr>
        <p:txBody>
          <a:bodyPr/>
          <a:lstStyle/>
          <a:p>
            <a:endParaRPr lang="en-SG"/>
          </a:p>
        </p:txBody>
      </p:sp>
      <p:sp>
        <p:nvSpPr>
          <p:cNvPr id="5" name="Text 2"/>
          <p:cNvSpPr/>
          <p:nvPr/>
        </p:nvSpPr>
        <p:spPr>
          <a:xfrm>
            <a:off x="5760720" y="1051560"/>
            <a:ext cx="2834640" cy="292608"/>
          </a:xfrm>
          <a:prstGeom prst="rect">
            <a:avLst/>
          </a:prstGeom>
          <a:noFill/>
          <a:ln/>
        </p:spPr>
        <p:txBody>
          <a:bodyPr wrap="square" lIns="0" tIns="0" rIns="0" bIns="0" rtlCol="0" anchor="ctr"/>
          <a:lstStyle/>
          <a:p>
            <a:pPr marL="0" indent="0">
              <a:buNone/>
            </a:pPr>
            <a:r>
              <a:rPr lang="en-US" sz="1150" b="1" dirty="0">
                <a:solidFill>
                  <a:srgbClr val="065A82"/>
                </a:solidFill>
                <a:latin typeface="Cambria" pitchFamily="34" charset="0"/>
                <a:ea typeface="Cambria" pitchFamily="34" charset="-122"/>
                <a:cs typeface="Cambria" pitchFamily="34" charset="-120"/>
              </a:rPr>
              <a:t>#1 Discount Rate</a:t>
            </a:r>
            <a:endParaRPr lang="en-US" sz="1150" dirty="0"/>
          </a:p>
        </p:txBody>
      </p:sp>
      <p:sp>
        <p:nvSpPr>
          <p:cNvPr id="6" name="Text 3"/>
          <p:cNvSpPr/>
          <p:nvPr/>
        </p:nvSpPr>
        <p:spPr>
          <a:xfrm>
            <a:off x="5760720" y="1353312"/>
            <a:ext cx="2834640" cy="47548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High discounts drive late risk — possible stockout or slow pick/pack correlation.</a:t>
            </a:r>
            <a:endParaRPr lang="en-US" sz="1000" dirty="0"/>
          </a:p>
        </p:txBody>
      </p:sp>
      <p:sp>
        <p:nvSpPr>
          <p:cNvPr id="7" name="Shape 4"/>
          <p:cNvSpPr/>
          <p:nvPr/>
        </p:nvSpPr>
        <p:spPr>
          <a:xfrm>
            <a:off x="5577840" y="1993392"/>
            <a:ext cx="3200400" cy="868680"/>
          </a:xfrm>
          <a:prstGeom prst="roundRect">
            <a:avLst>
              <a:gd name="adj" fmla="val 8421"/>
            </a:avLst>
          </a:prstGeom>
          <a:solidFill>
            <a:srgbClr val="FFFFFF"/>
          </a:solidFill>
          <a:ln/>
          <a:effectLst>
            <a:outerShdw blurRad="76200" dist="25400" dir="2700000" algn="bl" rotWithShape="0">
              <a:srgbClr val="000000">
                <a:alpha val="12000"/>
              </a:srgbClr>
            </a:outerShdw>
          </a:effectLst>
        </p:spPr>
        <p:txBody>
          <a:bodyPr/>
          <a:lstStyle/>
          <a:p>
            <a:endParaRPr lang="en-SG"/>
          </a:p>
        </p:txBody>
      </p:sp>
      <p:sp>
        <p:nvSpPr>
          <p:cNvPr id="8" name="Text 5"/>
          <p:cNvSpPr/>
          <p:nvPr/>
        </p:nvSpPr>
        <p:spPr>
          <a:xfrm>
            <a:off x="5760720" y="2039112"/>
            <a:ext cx="2834640" cy="292608"/>
          </a:xfrm>
          <a:prstGeom prst="rect">
            <a:avLst/>
          </a:prstGeom>
          <a:noFill/>
          <a:ln/>
        </p:spPr>
        <p:txBody>
          <a:bodyPr wrap="square" lIns="0" tIns="0" rIns="0" bIns="0" rtlCol="0" anchor="ctr"/>
          <a:lstStyle/>
          <a:p>
            <a:pPr marL="0" indent="0">
              <a:buNone/>
            </a:pPr>
            <a:r>
              <a:rPr lang="en-US" sz="1150" b="1" dirty="0">
                <a:solidFill>
                  <a:srgbClr val="065A82"/>
                </a:solidFill>
                <a:latin typeface="Cambria" pitchFamily="34" charset="0"/>
                <a:ea typeface="Cambria" pitchFamily="34" charset="-122"/>
                <a:cs typeface="Cambria" pitchFamily="34" charset="-120"/>
              </a:rPr>
              <a:t>#2 Scheduled Days</a:t>
            </a:r>
            <a:endParaRPr lang="en-US" sz="1150" dirty="0"/>
          </a:p>
        </p:txBody>
      </p:sp>
      <p:sp>
        <p:nvSpPr>
          <p:cNvPr id="9" name="Text 6"/>
          <p:cNvSpPr/>
          <p:nvPr/>
        </p:nvSpPr>
        <p:spPr>
          <a:xfrm>
            <a:off x="5760720" y="2340864"/>
            <a:ext cx="2834640" cy="47548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Unrealistic SLAs (especially First Class) are a primary predictor.</a:t>
            </a:r>
            <a:endParaRPr lang="en-US" sz="1000" dirty="0"/>
          </a:p>
        </p:txBody>
      </p:sp>
      <p:sp>
        <p:nvSpPr>
          <p:cNvPr id="10" name="Shape 7"/>
          <p:cNvSpPr/>
          <p:nvPr/>
        </p:nvSpPr>
        <p:spPr>
          <a:xfrm>
            <a:off x="5577840" y="2980944"/>
            <a:ext cx="3200400" cy="868680"/>
          </a:xfrm>
          <a:prstGeom prst="roundRect">
            <a:avLst>
              <a:gd name="adj" fmla="val 8421"/>
            </a:avLst>
          </a:prstGeom>
          <a:solidFill>
            <a:srgbClr val="FFFFFF"/>
          </a:solidFill>
          <a:ln/>
          <a:effectLst>
            <a:outerShdw blurRad="76200" dist="25400" dir="2700000" algn="bl" rotWithShape="0">
              <a:srgbClr val="000000">
                <a:alpha val="12000"/>
              </a:srgbClr>
            </a:outerShdw>
          </a:effectLst>
        </p:spPr>
        <p:txBody>
          <a:bodyPr/>
          <a:lstStyle/>
          <a:p>
            <a:endParaRPr lang="en-SG"/>
          </a:p>
        </p:txBody>
      </p:sp>
      <p:sp>
        <p:nvSpPr>
          <p:cNvPr id="11" name="Text 8"/>
          <p:cNvSpPr/>
          <p:nvPr/>
        </p:nvSpPr>
        <p:spPr>
          <a:xfrm>
            <a:off x="5760720" y="3026664"/>
            <a:ext cx="2834640" cy="292608"/>
          </a:xfrm>
          <a:prstGeom prst="rect">
            <a:avLst/>
          </a:prstGeom>
          <a:noFill/>
          <a:ln/>
        </p:spPr>
        <p:txBody>
          <a:bodyPr wrap="square" lIns="0" tIns="0" rIns="0" bIns="0" rtlCol="0" anchor="ctr"/>
          <a:lstStyle/>
          <a:p>
            <a:pPr marL="0" indent="0">
              <a:buNone/>
            </a:pPr>
            <a:r>
              <a:rPr lang="en-US" sz="1150" b="1" dirty="0">
                <a:solidFill>
                  <a:srgbClr val="065A82"/>
                </a:solidFill>
                <a:latin typeface="Cambria" pitchFamily="34" charset="0"/>
                <a:ea typeface="Cambria" pitchFamily="34" charset="-122"/>
                <a:cs typeface="Cambria" pitchFamily="34" charset="-120"/>
              </a:rPr>
              <a:t>#3 Standard Class</a:t>
            </a:r>
            <a:endParaRPr lang="en-US" sz="1150" dirty="0"/>
          </a:p>
        </p:txBody>
      </p:sp>
      <p:sp>
        <p:nvSpPr>
          <p:cNvPr id="12" name="Text 9"/>
          <p:cNvSpPr/>
          <p:nvPr/>
        </p:nvSpPr>
        <p:spPr>
          <a:xfrm>
            <a:off x="5760720" y="3328416"/>
            <a:ext cx="2834640" cy="47548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38% late rate — routing, last-mile, and order complexity factors.</a:t>
            </a:r>
            <a:endParaRPr lang="en-US" sz="1000" dirty="0"/>
          </a:p>
        </p:txBody>
      </p:sp>
      <p:sp>
        <p:nvSpPr>
          <p:cNvPr id="13" name="Shape 10"/>
          <p:cNvSpPr/>
          <p:nvPr/>
        </p:nvSpPr>
        <p:spPr>
          <a:xfrm>
            <a:off x="5577840" y="3968496"/>
            <a:ext cx="3200400" cy="868680"/>
          </a:xfrm>
          <a:prstGeom prst="roundRect">
            <a:avLst>
              <a:gd name="adj" fmla="val 8421"/>
            </a:avLst>
          </a:prstGeom>
          <a:solidFill>
            <a:srgbClr val="FFFFFF"/>
          </a:solidFill>
          <a:ln/>
          <a:effectLst>
            <a:outerShdw blurRad="76200" dist="25400" dir="2700000" algn="bl" rotWithShape="0">
              <a:srgbClr val="000000">
                <a:alpha val="12000"/>
              </a:srgbClr>
            </a:outerShdw>
          </a:effectLst>
        </p:spPr>
        <p:txBody>
          <a:bodyPr/>
          <a:lstStyle/>
          <a:p>
            <a:endParaRPr lang="en-SG"/>
          </a:p>
        </p:txBody>
      </p:sp>
      <p:sp>
        <p:nvSpPr>
          <p:cNvPr id="14" name="Text 11"/>
          <p:cNvSpPr/>
          <p:nvPr/>
        </p:nvSpPr>
        <p:spPr>
          <a:xfrm>
            <a:off x="5760720" y="4014216"/>
            <a:ext cx="2834640" cy="292608"/>
          </a:xfrm>
          <a:prstGeom prst="rect">
            <a:avLst/>
          </a:prstGeom>
          <a:noFill/>
          <a:ln/>
        </p:spPr>
        <p:txBody>
          <a:bodyPr wrap="square" lIns="0" tIns="0" rIns="0" bIns="0" rtlCol="0" anchor="ctr"/>
          <a:lstStyle/>
          <a:p>
            <a:pPr marL="0" indent="0">
              <a:buNone/>
            </a:pPr>
            <a:r>
              <a:rPr lang="en-US" sz="1150" b="1" dirty="0">
                <a:solidFill>
                  <a:srgbClr val="065A82"/>
                </a:solidFill>
                <a:latin typeface="Cambria" pitchFamily="34" charset="0"/>
                <a:ea typeface="Cambria" pitchFamily="34" charset="-122"/>
                <a:cs typeface="Cambria" pitchFamily="34" charset="-120"/>
              </a:rPr>
              <a:t>Time Features</a:t>
            </a:r>
            <a:endParaRPr lang="en-US" sz="1150" dirty="0"/>
          </a:p>
        </p:txBody>
      </p:sp>
      <p:sp>
        <p:nvSpPr>
          <p:cNvPr id="15" name="Text 12"/>
          <p:cNvSpPr/>
          <p:nvPr/>
        </p:nvSpPr>
        <p:spPr>
          <a:xfrm>
            <a:off x="5760720" y="4315968"/>
            <a:ext cx="2834640" cy="47548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Order day, month, and scheduled weekday are significant — seasonal peaks exist.</a:t>
            </a:r>
            <a:endParaRPr lang="en-US" sz="1000" dirty="0"/>
          </a:p>
        </p:txBody>
      </p:sp>
      <p:pic>
        <p:nvPicPr>
          <p:cNvPr id="17" name="Picture 16">
            <a:extLst>
              <a:ext uri="{FF2B5EF4-FFF2-40B4-BE49-F238E27FC236}">
                <a16:creationId xmlns:a16="http://schemas.microsoft.com/office/drawing/2014/main" id="{0100E45E-B0D3-EBE0-F92B-93B0BF438139}"/>
              </a:ext>
            </a:extLst>
          </p:cNvPr>
          <p:cNvPicPr>
            <a:picLocks noChangeAspect="1"/>
          </p:cNvPicPr>
          <p:nvPr/>
        </p:nvPicPr>
        <p:blipFill>
          <a:blip r:embed="rId3"/>
          <a:stretch>
            <a:fillRect/>
          </a:stretch>
        </p:blipFill>
        <p:spPr>
          <a:xfrm>
            <a:off x="164592" y="1005840"/>
            <a:ext cx="5230368" cy="383133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p:cNvGrpSpPr/>
        <p:nvPr/>
      </p:nvGrpSpPr>
      <p:grpSpPr>
        <a:xfrm>
          <a:off x="0" y="0"/>
          <a:ext cx="0" cy="0"/>
          <a:chOff x="0" y="0"/>
          <a:chExt cx="0" cy="0"/>
        </a:xfrm>
      </p:grpSpPr>
      <p:sp>
        <p:nvSpPr>
          <p:cNvPr id="2" name="Title"/>
          <p:cNvSpPr/>
          <p:nvPr/>
        </p:nvSpPr>
        <p:spPr>
          <a:xfrm>
            <a:off x="457200" y="274320"/>
            <a:ext cx="8229600" cy="500000"/>
          </a:xfrm>
          <a:prstGeom prst="rect">
            <a:avLst/>
          </a:prstGeom>
          <a:noFill/>
          <a:ln/>
        </p:spPr>
        <p:txBody>
          <a:bodyPr wrap="square" rtlCol="0" anchor="ctr"/>
          <a:lstStyle/>
          <a:p>
            <a:pPr marL="0" indent="0">
              <a:buNone/>
            </a:pPr>
            <a:r>
              <a:rPr lang="en-US" sz="2800" b="1" dirty="0">
                <a:solidFill>
                  <a:srgbClr val="065A82"/>
                </a:solidFill>
                <a:latin typeface="Cambria"/>
              </a:rPr>
              <a:t>Feature Importance — Operational Actions</a:t>
            </a:r>
          </a:p>
        </p:txBody>
      </p:sp>
      <p:sp>
        <p:nvSpPr>
          <p:cNvPr id="3" name="Sub"/>
          <p:cNvSpPr/>
          <p:nvPr/>
        </p:nvSpPr>
        <p:spPr>
          <a:xfrm>
            <a:off x="457200" y="749808"/>
            <a:ext cx="8229600" cy="280000"/>
          </a:xfrm>
          <a:prstGeom prst="rect">
            <a:avLst/>
          </a:prstGeom>
          <a:noFill/>
          <a:ln/>
        </p:spPr>
        <p:txBody>
          <a:bodyPr wrap="square" rtlCol="0" anchor="ctr"/>
          <a:lstStyle/>
          <a:p>
            <a:pPr marL="0" indent="0">
              <a:buNone/>
            </a:pPr>
            <a:r>
              <a:rPr lang="en-US" sz="1300" dirty="0">
                <a:solidFill>
                  <a:srgbClr val="64748B"/>
                </a:solidFill>
                <a:latin typeface="Calibri"/>
              </a:rPr>
              <a:t>Top model predictors translated into business recommendations</a:t>
            </a:r>
          </a:p>
        </p:txBody>
      </p:sp>
      <p:sp>
        <p:nvSpPr>
          <p:cNvPr id="10" name="S1Card"/>
          <p:cNvSpPr/>
          <p:nvPr/>
        </p:nvSpPr>
        <p:spPr>
          <a:xfrm>
            <a:off x="457200" y="1140000"/>
            <a:ext cx="8229600" cy="154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11" name="S1Badge"/>
          <p:cNvSpPr/>
          <p:nvPr/>
        </p:nvSpPr>
        <p:spPr>
          <a:xfrm>
            <a:off x="560000" y="1210000"/>
            <a:ext cx="680000" cy="380000"/>
          </a:xfrm>
          <a:prstGeom prst="roundRect">
            <a:avLst>
              <a:gd name="adj" fmla="val 5000"/>
            </a:avLst>
          </a:prstGeom>
          <a:solidFill>
            <a:srgbClr val="065A82"/>
          </a:solidFill>
          <a:ln>
            <a:noFill/>
          </a:ln>
        </p:spPr>
        <p:txBody>
          <a:bodyPr wrap="square" lIns="0" tIns="0" rIns="0" bIns="0" rtlCol="0" anchor="ctr"/>
          <a:lstStyle/>
          <a:p>
            <a:pPr algn="ctr">
              <a:buNone/>
            </a:pPr>
            <a:r>
              <a:rPr lang="en-US" sz="1100" b="1" dirty="0">
                <a:solidFill>
                  <a:srgbClr val="FFFFFF"/>
                </a:solidFill>
                <a:latin typeface="Calibri"/>
              </a:rPr>
              <a:t>#1 — 10.1%</a:t>
            </a:r>
          </a:p>
        </p:txBody>
      </p:sp>
      <p:sp>
        <p:nvSpPr>
          <p:cNvPr id="12" name="S1Text"/>
          <p:cNvSpPr/>
          <p:nvPr/>
        </p:nvSpPr>
        <p:spPr>
          <a:xfrm>
            <a:off x="1340000" y="1175000"/>
            <a:ext cx="7200000" cy="1480000"/>
          </a:xfrm>
          <a:prstGeom prst="rect">
            <a:avLst/>
          </a:prstGeom>
          <a:noFill/>
          <a:ln/>
        </p:spPr>
        <p:txBody>
          <a:bodyPr wrap="square" rtlCol="0" anchor="ctr"/>
          <a:lstStyle/>
          <a:p>
            <a:pPr marL="0" indent="0">
              <a:buNone/>
            </a:pPr>
            <a:r>
              <a:rPr lang="en-US" sz="1400" b="1" dirty="0">
                <a:solidFill>
                  <a:srgbClr val="065A82"/>
                </a:solidFill>
                <a:latin typeface="Cambria"/>
              </a:rPr>
              <a:t>Promotional and Discount Strategy (Discount Rate)</a:t>
            </a:r>
          </a:p>
          <a:p>
            <a:pPr marL="0" indent="0">
              <a:buNone/>
            </a:pPr>
            <a:r>
              <a:rPr lang="en-US" sz="1100" dirty="0">
                <a:solidFill>
                  <a:srgbClr val="1E293B"/>
                </a:solidFill>
                <a:latin typeface="Calibri"/>
              </a:rPr>
              <a:t>High discounts trigger volume spikes that overwhelm fulfilment capacity. </a:t>
            </a:r>
            <a:r>
              <a:rPr lang="en-US" sz="1100" b="1" dirty="0">
                <a:solidFill>
                  <a:srgbClr val="065A82"/>
                </a:solidFill>
                <a:latin typeface="Calibri"/>
              </a:rPr>
              <a:t>Recommendations: </a:t>
            </a:r>
            <a:r>
              <a:rPr lang="en-US" sz="1100" dirty="0">
                <a:solidFill>
                  <a:srgbClr val="1E293B"/>
                </a:solidFill>
                <a:latin typeface="Calibri"/>
              </a:rPr>
              <a:t>Cap daily order volumes for deeply discounted items; add 1–2 buffer days to scheduled delivery when discount codes are applied; pre-stage inventory before sale events.</a:t>
            </a:r>
          </a:p>
        </p:txBody>
      </p:sp>
      <p:sp>
        <p:nvSpPr>
          <p:cNvPr id="20" name="S2Card"/>
          <p:cNvSpPr/>
          <p:nvPr/>
        </p:nvSpPr>
        <p:spPr>
          <a:xfrm>
            <a:off x="457200" y="2800000"/>
            <a:ext cx="8229600" cy="1540000"/>
          </a:xfrm>
          <a:prstGeom prst="roundRect">
            <a:avLst>
              <a:gd name="adj" fmla="val 3000"/>
            </a:avLst>
          </a:prstGeom>
          <a:solidFill>
            <a:srgbClr val="FFFFFF"/>
          </a:solidFill>
          <a:ln>
            <a:noFill/>
          </a:ln>
          <a:effectLst>
            <a:outerShdw blurRad="76200" dist="25400" dir="2700000" algn="bl" rotWithShape="0">
              <a:srgbClr val="000000">
                <a:alpha val="10000"/>
              </a:srgbClr>
            </a:outerShdw>
          </a:effectLst>
        </p:spPr>
        <p:txBody>
          <a:bodyPr/>
          <a:lstStyle/>
          <a:p>
            <a:endParaRPr lang="en-US"/>
          </a:p>
        </p:txBody>
      </p:sp>
      <p:sp>
        <p:nvSpPr>
          <p:cNvPr id="21" name="S2Badge"/>
          <p:cNvSpPr/>
          <p:nvPr/>
        </p:nvSpPr>
        <p:spPr>
          <a:xfrm>
            <a:off x="560000" y="2875000"/>
            <a:ext cx="680000" cy="380000"/>
          </a:xfrm>
          <a:prstGeom prst="roundRect">
            <a:avLst>
              <a:gd name="adj" fmla="val 5000"/>
            </a:avLst>
          </a:prstGeom>
          <a:solidFill>
            <a:srgbClr val="1C7293"/>
          </a:solidFill>
          <a:ln>
            <a:noFill/>
          </a:ln>
        </p:spPr>
        <p:txBody>
          <a:bodyPr wrap="square" lIns="0" tIns="0" rIns="0" bIns="0" rtlCol="0" anchor="ctr"/>
          <a:lstStyle/>
          <a:p>
            <a:pPr algn="ctr">
              <a:buNone/>
            </a:pPr>
            <a:r>
              <a:rPr lang="en-US" sz="1100" b="1" dirty="0">
                <a:solidFill>
                  <a:srgbClr val="FFFFFF"/>
                </a:solidFill>
                <a:latin typeface="Calibri"/>
              </a:rPr>
              <a:t>#2 — 9.0%</a:t>
            </a:r>
          </a:p>
        </p:txBody>
      </p:sp>
      <p:sp>
        <p:nvSpPr>
          <p:cNvPr id="22" name="S2Text"/>
          <p:cNvSpPr/>
          <p:nvPr/>
        </p:nvSpPr>
        <p:spPr>
          <a:xfrm>
            <a:off x="1340000" y="2835000"/>
            <a:ext cx="7200000" cy="1480000"/>
          </a:xfrm>
          <a:prstGeom prst="rect">
            <a:avLst/>
          </a:prstGeom>
          <a:noFill/>
          <a:ln/>
        </p:spPr>
        <p:txBody>
          <a:bodyPr wrap="square" rtlCol="0" anchor="ctr"/>
          <a:lstStyle/>
          <a:p>
            <a:pPr marL="0" indent="0">
              <a:buNone/>
            </a:pPr>
            <a:r>
              <a:rPr lang="en-US" sz="1400" b="1" dirty="0">
                <a:solidFill>
                  <a:srgbClr val="1C7293"/>
                </a:solidFill>
                <a:latin typeface="Cambria"/>
              </a:rPr>
              <a:t>Shipping Mode Optimisation (Scheduled Days + Standard Class)</a:t>
            </a:r>
          </a:p>
          <a:p>
            <a:pPr marL="0" indent="0">
              <a:buNone/>
            </a:pPr>
            <a:r>
              <a:rPr lang="en-US" sz="1100" dirty="0">
                <a:solidFill>
                  <a:srgbClr val="1E293B"/>
                </a:solidFill>
                <a:latin typeface="Calibri"/>
              </a:rPr>
              <a:t>Scheduled windows are too rigid and don’t account for real carrier variability. </a:t>
            </a:r>
            <a:r>
              <a:rPr lang="en-US" sz="1100" b="1" dirty="0">
                <a:solidFill>
                  <a:srgbClr val="1C7293"/>
                </a:solidFill>
                <a:latin typeface="Calibri"/>
              </a:rPr>
              <a:t>Recommendations: </a:t>
            </a:r>
            <a:r>
              <a:rPr lang="en-US" sz="1100" dirty="0">
                <a:solidFill>
                  <a:srgbClr val="1E293B"/>
                </a:solidFill>
                <a:latin typeface="Calibri"/>
              </a:rPr>
              <a:t>Audit Standard Class carrier SLAs and shift volume to regional carriers on high-delay lanes; revise First Class SLA to 2 days to match operational reality.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6400800" y="-914400"/>
            <a:ext cx="5029200" cy="5029200"/>
          </a:xfrm>
          <a:prstGeom prst="ellipse">
            <a:avLst/>
          </a:prstGeom>
          <a:solidFill>
            <a:srgbClr val="1C7293">
              <a:alpha val="15000"/>
            </a:srgbClr>
          </a:solidFill>
          <a:ln w="12700">
            <a:solidFill>
              <a:srgbClr val="1C7293">
                <a:alpha val="15000"/>
              </a:srgbClr>
            </a:solidFill>
            <a:prstDash val="solid"/>
          </a:ln>
        </p:spPr>
        <p:txBody>
          <a:bodyPr/>
          <a:lstStyle/>
          <a:p>
            <a:endParaRPr lang="en-SG"/>
          </a:p>
        </p:txBody>
      </p:sp>
      <p:sp>
        <p:nvSpPr>
          <p:cNvPr id="3" name="Text 1"/>
          <p:cNvSpPr/>
          <p:nvPr/>
        </p:nvSpPr>
        <p:spPr>
          <a:xfrm>
            <a:off x="457200" y="228600"/>
            <a:ext cx="841248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Strategic Recommendations</a:t>
            </a:r>
            <a:endParaRPr lang="en-US" sz="2800" dirty="0"/>
          </a:p>
        </p:txBody>
      </p:sp>
      <p:sp>
        <p:nvSpPr>
          <p:cNvPr id="4" name="Shape 2"/>
          <p:cNvSpPr/>
          <p:nvPr/>
        </p:nvSpPr>
        <p:spPr>
          <a:xfrm>
            <a:off x="365760" y="1005840"/>
            <a:ext cx="4251960" cy="1170432"/>
          </a:xfrm>
          <a:prstGeom prst="roundRect">
            <a:avLst>
              <a:gd name="adj" fmla="val 6250"/>
            </a:avLst>
          </a:prstGeom>
          <a:solidFill>
            <a:srgbClr val="21295C"/>
          </a:solidFill>
          <a:ln/>
          <a:effectLst>
            <a:outerShdw blurRad="76200" dist="25400" dir="2700000" algn="bl" rotWithShape="0">
              <a:srgbClr val="000000">
                <a:alpha val="12000"/>
              </a:srgbClr>
            </a:outerShdw>
          </a:effectLst>
        </p:spPr>
        <p:txBody>
          <a:bodyPr/>
          <a:lstStyle/>
          <a:p>
            <a:endParaRPr lang="en-SG"/>
          </a:p>
        </p:txBody>
      </p:sp>
      <p:sp>
        <p:nvSpPr>
          <p:cNvPr id="5" name="Shape 3"/>
          <p:cNvSpPr/>
          <p:nvPr/>
        </p:nvSpPr>
        <p:spPr>
          <a:xfrm>
            <a:off x="502920" y="1143000"/>
            <a:ext cx="438912" cy="438912"/>
          </a:xfrm>
          <a:prstGeom prst="ellipse">
            <a:avLst/>
          </a:prstGeom>
          <a:solidFill>
            <a:srgbClr val="02C39A"/>
          </a:solidFill>
          <a:ln w="12700">
            <a:solidFill>
              <a:srgbClr val="02C39A"/>
            </a:solidFill>
            <a:prstDash val="solid"/>
          </a:ln>
        </p:spPr>
        <p:txBody>
          <a:bodyPr/>
          <a:lstStyle/>
          <a:p>
            <a:endParaRPr lang="en-SG"/>
          </a:p>
        </p:txBody>
      </p:sp>
      <p:sp>
        <p:nvSpPr>
          <p:cNvPr id="6" name="Text 4"/>
          <p:cNvSpPr/>
          <p:nvPr/>
        </p:nvSpPr>
        <p:spPr>
          <a:xfrm>
            <a:off x="502920" y="1143000"/>
            <a:ext cx="438912" cy="438912"/>
          </a:xfrm>
          <a:prstGeom prst="rect">
            <a:avLst/>
          </a:prstGeom>
          <a:noFill/>
          <a:ln/>
        </p:spPr>
        <p:txBody>
          <a:bodyPr wrap="square" lIns="0" tIns="0" rIns="0" bIns="0" rtlCol="0" anchor="ctr"/>
          <a:lstStyle/>
          <a:p>
            <a:pPr marL="0" indent="0" algn="ctr">
              <a:buNone/>
            </a:pPr>
            <a:r>
              <a:rPr lang="en-US" sz="1200" b="1" dirty="0">
                <a:solidFill>
                  <a:srgbClr val="065A82"/>
                </a:solidFill>
              </a:rPr>
              <a:t>01</a:t>
            </a:r>
            <a:endParaRPr lang="en-US" sz="1200" dirty="0"/>
          </a:p>
        </p:txBody>
      </p:sp>
      <p:sp>
        <p:nvSpPr>
          <p:cNvPr id="7" name="Text 5"/>
          <p:cNvSpPr/>
          <p:nvPr/>
        </p:nvSpPr>
        <p:spPr>
          <a:xfrm>
            <a:off x="1051560" y="1115568"/>
            <a:ext cx="3456432" cy="96926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Revise First Class SLA to 2 days to align with operational reality and reset customer expectations.</a:t>
            </a:r>
            <a:endParaRPr lang="en-US" sz="1100" dirty="0"/>
          </a:p>
        </p:txBody>
      </p:sp>
      <p:sp>
        <p:nvSpPr>
          <p:cNvPr id="8" name="Shape 6"/>
          <p:cNvSpPr/>
          <p:nvPr/>
        </p:nvSpPr>
        <p:spPr>
          <a:xfrm>
            <a:off x="4800600" y="1005840"/>
            <a:ext cx="4251960" cy="1170432"/>
          </a:xfrm>
          <a:prstGeom prst="roundRect">
            <a:avLst>
              <a:gd name="adj" fmla="val 6250"/>
            </a:avLst>
          </a:prstGeom>
          <a:solidFill>
            <a:srgbClr val="21295C"/>
          </a:solidFill>
          <a:ln/>
          <a:effectLst>
            <a:outerShdw blurRad="76200" dist="25400" dir="2700000" algn="bl" rotWithShape="0">
              <a:srgbClr val="000000">
                <a:alpha val="12000"/>
              </a:srgbClr>
            </a:outerShdw>
          </a:effectLst>
        </p:spPr>
        <p:txBody>
          <a:bodyPr/>
          <a:lstStyle/>
          <a:p>
            <a:endParaRPr lang="en-SG"/>
          </a:p>
        </p:txBody>
      </p:sp>
      <p:sp>
        <p:nvSpPr>
          <p:cNvPr id="9" name="Shape 7"/>
          <p:cNvSpPr/>
          <p:nvPr/>
        </p:nvSpPr>
        <p:spPr>
          <a:xfrm>
            <a:off x="4937760" y="1143000"/>
            <a:ext cx="438912" cy="438912"/>
          </a:xfrm>
          <a:prstGeom prst="ellipse">
            <a:avLst/>
          </a:prstGeom>
          <a:solidFill>
            <a:srgbClr val="02C39A"/>
          </a:solidFill>
          <a:ln w="12700">
            <a:solidFill>
              <a:srgbClr val="02C39A"/>
            </a:solidFill>
            <a:prstDash val="solid"/>
          </a:ln>
        </p:spPr>
        <p:txBody>
          <a:bodyPr/>
          <a:lstStyle/>
          <a:p>
            <a:endParaRPr lang="en-SG"/>
          </a:p>
        </p:txBody>
      </p:sp>
      <p:sp>
        <p:nvSpPr>
          <p:cNvPr id="10" name="Text 8"/>
          <p:cNvSpPr/>
          <p:nvPr/>
        </p:nvSpPr>
        <p:spPr>
          <a:xfrm>
            <a:off x="4937760" y="1143000"/>
            <a:ext cx="438912" cy="438912"/>
          </a:xfrm>
          <a:prstGeom prst="rect">
            <a:avLst/>
          </a:prstGeom>
          <a:noFill/>
          <a:ln/>
        </p:spPr>
        <p:txBody>
          <a:bodyPr wrap="square" lIns="0" tIns="0" rIns="0" bIns="0" rtlCol="0" anchor="ctr"/>
          <a:lstStyle/>
          <a:p>
            <a:pPr marL="0" indent="0" algn="ctr">
              <a:buNone/>
            </a:pPr>
            <a:r>
              <a:rPr lang="en-US" sz="1200" b="1" dirty="0">
                <a:solidFill>
                  <a:srgbClr val="065A82"/>
                </a:solidFill>
              </a:rPr>
              <a:t>02</a:t>
            </a:r>
            <a:endParaRPr lang="en-US" sz="1200" dirty="0"/>
          </a:p>
        </p:txBody>
      </p:sp>
      <p:sp>
        <p:nvSpPr>
          <p:cNvPr id="11" name="Text 9"/>
          <p:cNvSpPr/>
          <p:nvPr/>
        </p:nvSpPr>
        <p:spPr>
          <a:xfrm>
            <a:off x="5486400" y="1115568"/>
            <a:ext cx="3456432" cy="96926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Deep-dive audit of Payment_Type_ID 4 gateway. Partner with provider to fix silent failure mode.</a:t>
            </a:r>
            <a:endParaRPr lang="en-US" sz="1100" dirty="0"/>
          </a:p>
        </p:txBody>
      </p:sp>
      <p:sp>
        <p:nvSpPr>
          <p:cNvPr id="12" name="Shape 10"/>
          <p:cNvSpPr/>
          <p:nvPr/>
        </p:nvSpPr>
        <p:spPr>
          <a:xfrm>
            <a:off x="365760" y="2322576"/>
            <a:ext cx="4251960" cy="1170432"/>
          </a:xfrm>
          <a:prstGeom prst="roundRect">
            <a:avLst>
              <a:gd name="adj" fmla="val 6250"/>
            </a:avLst>
          </a:prstGeom>
          <a:solidFill>
            <a:srgbClr val="21295C"/>
          </a:solidFill>
          <a:ln/>
          <a:effectLst>
            <a:outerShdw blurRad="76200" dist="25400" dir="2700000" algn="bl" rotWithShape="0">
              <a:srgbClr val="000000">
                <a:alpha val="12000"/>
              </a:srgbClr>
            </a:outerShdw>
          </a:effectLst>
        </p:spPr>
        <p:txBody>
          <a:bodyPr/>
          <a:lstStyle/>
          <a:p>
            <a:endParaRPr lang="en-SG"/>
          </a:p>
        </p:txBody>
      </p:sp>
      <p:sp>
        <p:nvSpPr>
          <p:cNvPr id="13" name="Shape 11"/>
          <p:cNvSpPr/>
          <p:nvPr/>
        </p:nvSpPr>
        <p:spPr>
          <a:xfrm>
            <a:off x="502920" y="2459736"/>
            <a:ext cx="438912" cy="438912"/>
          </a:xfrm>
          <a:prstGeom prst="ellipse">
            <a:avLst/>
          </a:prstGeom>
          <a:solidFill>
            <a:srgbClr val="02C39A"/>
          </a:solidFill>
          <a:ln w="12700">
            <a:solidFill>
              <a:srgbClr val="02C39A"/>
            </a:solidFill>
            <a:prstDash val="solid"/>
          </a:ln>
        </p:spPr>
        <p:txBody>
          <a:bodyPr/>
          <a:lstStyle/>
          <a:p>
            <a:endParaRPr lang="en-SG"/>
          </a:p>
        </p:txBody>
      </p:sp>
      <p:sp>
        <p:nvSpPr>
          <p:cNvPr id="14" name="Text 12"/>
          <p:cNvSpPr/>
          <p:nvPr/>
        </p:nvSpPr>
        <p:spPr>
          <a:xfrm>
            <a:off x="502920" y="2459736"/>
            <a:ext cx="438912" cy="438912"/>
          </a:xfrm>
          <a:prstGeom prst="rect">
            <a:avLst/>
          </a:prstGeom>
          <a:noFill/>
          <a:ln/>
        </p:spPr>
        <p:txBody>
          <a:bodyPr wrap="square" lIns="0" tIns="0" rIns="0" bIns="0" rtlCol="0" anchor="ctr"/>
          <a:lstStyle/>
          <a:p>
            <a:pPr marL="0" indent="0" algn="ctr">
              <a:buNone/>
            </a:pPr>
            <a:r>
              <a:rPr lang="en-US" sz="1200" b="1" dirty="0">
                <a:solidFill>
                  <a:srgbClr val="065A82"/>
                </a:solidFill>
              </a:rPr>
              <a:t>03</a:t>
            </a:r>
            <a:endParaRPr lang="en-US" sz="1200" dirty="0"/>
          </a:p>
        </p:txBody>
      </p:sp>
      <p:sp>
        <p:nvSpPr>
          <p:cNvPr id="15" name="Text 13"/>
          <p:cNvSpPr/>
          <p:nvPr/>
        </p:nvSpPr>
        <p:spPr>
          <a:xfrm>
            <a:off x="1051560" y="2432304"/>
            <a:ext cx="3456432" cy="96926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Suspend or review shipping to 100%-late-rate countries. Engage regional logistics partners.</a:t>
            </a:r>
            <a:endParaRPr lang="en-US" sz="1100" dirty="0"/>
          </a:p>
        </p:txBody>
      </p:sp>
      <p:sp>
        <p:nvSpPr>
          <p:cNvPr id="16" name="Shape 14"/>
          <p:cNvSpPr/>
          <p:nvPr/>
        </p:nvSpPr>
        <p:spPr>
          <a:xfrm>
            <a:off x="4800600" y="2322576"/>
            <a:ext cx="4251960" cy="1170432"/>
          </a:xfrm>
          <a:prstGeom prst="roundRect">
            <a:avLst>
              <a:gd name="adj" fmla="val 6250"/>
            </a:avLst>
          </a:prstGeom>
          <a:solidFill>
            <a:srgbClr val="21295C"/>
          </a:solidFill>
          <a:ln/>
          <a:effectLst>
            <a:outerShdw blurRad="76200" dist="25400" dir="2700000" algn="bl" rotWithShape="0">
              <a:srgbClr val="000000">
                <a:alpha val="12000"/>
              </a:srgbClr>
            </a:outerShdw>
          </a:effectLst>
        </p:spPr>
        <p:txBody>
          <a:bodyPr/>
          <a:lstStyle/>
          <a:p>
            <a:endParaRPr lang="en-SG"/>
          </a:p>
        </p:txBody>
      </p:sp>
      <p:sp>
        <p:nvSpPr>
          <p:cNvPr id="17" name="Shape 15"/>
          <p:cNvSpPr/>
          <p:nvPr/>
        </p:nvSpPr>
        <p:spPr>
          <a:xfrm>
            <a:off x="4937760" y="2459736"/>
            <a:ext cx="438912" cy="438912"/>
          </a:xfrm>
          <a:prstGeom prst="ellipse">
            <a:avLst/>
          </a:prstGeom>
          <a:solidFill>
            <a:srgbClr val="02C39A"/>
          </a:solidFill>
          <a:ln w="12700">
            <a:solidFill>
              <a:srgbClr val="02C39A"/>
            </a:solidFill>
            <a:prstDash val="solid"/>
          </a:ln>
        </p:spPr>
        <p:txBody>
          <a:bodyPr/>
          <a:lstStyle/>
          <a:p>
            <a:endParaRPr lang="en-SG"/>
          </a:p>
        </p:txBody>
      </p:sp>
      <p:sp>
        <p:nvSpPr>
          <p:cNvPr id="18" name="Text 16"/>
          <p:cNvSpPr/>
          <p:nvPr/>
        </p:nvSpPr>
        <p:spPr>
          <a:xfrm>
            <a:off x="4937760" y="2459736"/>
            <a:ext cx="438912" cy="438912"/>
          </a:xfrm>
          <a:prstGeom prst="rect">
            <a:avLst/>
          </a:prstGeom>
          <a:noFill/>
          <a:ln/>
        </p:spPr>
        <p:txBody>
          <a:bodyPr wrap="square" lIns="0" tIns="0" rIns="0" bIns="0" rtlCol="0" anchor="ctr"/>
          <a:lstStyle/>
          <a:p>
            <a:pPr marL="0" indent="0" algn="ctr">
              <a:buNone/>
            </a:pPr>
            <a:r>
              <a:rPr lang="en-US" sz="1200" b="1" dirty="0">
                <a:solidFill>
                  <a:srgbClr val="065A82"/>
                </a:solidFill>
              </a:rPr>
              <a:t>04</a:t>
            </a:r>
            <a:endParaRPr lang="en-US" sz="1200" dirty="0"/>
          </a:p>
        </p:txBody>
      </p:sp>
      <p:sp>
        <p:nvSpPr>
          <p:cNvPr id="19" name="Text 17"/>
          <p:cNvSpPr/>
          <p:nvPr/>
        </p:nvSpPr>
        <p:spPr>
          <a:xfrm>
            <a:off x="5486400" y="2432304"/>
            <a:ext cx="3456432" cy="96926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Pre-position inventory near top markets (US, France, Mexico) for high-risk and discounted SKUs.</a:t>
            </a:r>
            <a:endParaRPr lang="en-US" sz="1100" dirty="0"/>
          </a:p>
        </p:txBody>
      </p:sp>
      <p:sp>
        <p:nvSpPr>
          <p:cNvPr id="20" name="Shape 18"/>
          <p:cNvSpPr/>
          <p:nvPr/>
        </p:nvSpPr>
        <p:spPr>
          <a:xfrm>
            <a:off x="365760" y="3639312"/>
            <a:ext cx="4251960" cy="1170432"/>
          </a:xfrm>
          <a:prstGeom prst="roundRect">
            <a:avLst>
              <a:gd name="adj" fmla="val 6250"/>
            </a:avLst>
          </a:prstGeom>
          <a:solidFill>
            <a:srgbClr val="21295C"/>
          </a:solidFill>
          <a:ln/>
          <a:effectLst>
            <a:outerShdw blurRad="76200" dist="25400" dir="2700000" algn="bl" rotWithShape="0">
              <a:srgbClr val="000000">
                <a:alpha val="12000"/>
              </a:srgbClr>
            </a:outerShdw>
          </a:effectLst>
        </p:spPr>
        <p:txBody>
          <a:bodyPr/>
          <a:lstStyle/>
          <a:p>
            <a:endParaRPr lang="en-SG"/>
          </a:p>
        </p:txBody>
      </p:sp>
      <p:sp>
        <p:nvSpPr>
          <p:cNvPr id="21" name="Shape 19"/>
          <p:cNvSpPr/>
          <p:nvPr/>
        </p:nvSpPr>
        <p:spPr>
          <a:xfrm>
            <a:off x="502920" y="3776472"/>
            <a:ext cx="438912" cy="438912"/>
          </a:xfrm>
          <a:prstGeom prst="ellipse">
            <a:avLst/>
          </a:prstGeom>
          <a:solidFill>
            <a:srgbClr val="02C39A"/>
          </a:solidFill>
          <a:ln w="12700">
            <a:solidFill>
              <a:srgbClr val="02C39A"/>
            </a:solidFill>
            <a:prstDash val="solid"/>
          </a:ln>
        </p:spPr>
        <p:txBody>
          <a:bodyPr/>
          <a:lstStyle/>
          <a:p>
            <a:endParaRPr lang="en-SG"/>
          </a:p>
        </p:txBody>
      </p:sp>
      <p:sp>
        <p:nvSpPr>
          <p:cNvPr id="22" name="Text 20"/>
          <p:cNvSpPr/>
          <p:nvPr/>
        </p:nvSpPr>
        <p:spPr>
          <a:xfrm>
            <a:off x="502920" y="3776472"/>
            <a:ext cx="438912" cy="438912"/>
          </a:xfrm>
          <a:prstGeom prst="rect">
            <a:avLst/>
          </a:prstGeom>
          <a:noFill/>
          <a:ln/>
        </p:spPr>
        <p:txBody>
          <a:bodyPr wrap="square" lIns="0" tIns="0" rIns="0" bIns="0" rtlCol="0" anchor="ctr"/>
          <a:lstStyle/>
          <a:p>
            <a:pPr marL="0" indent="0" algn="ctr">
              <a:buNone/>
            </a:pPr>
            <a:r>
              <a:rPr lang="en-US" sz="1200" b="1" dirty="0">
                <a:solidFill>
                  <a:srgbClr val="065A82"/>
                </a:solidFill>
              </a:rPr>
              <a:t>05</a:t>
            </a:r>
            <a:endParaRPr lang="en-US" sz="1200" dirty="0"/>
          </a:p>
        </p:txBody>
      </p:sp>
      <p:sp>
        <p:nvSpPr>
          <p:cNvPr id="23" name="Text 21"/>
          <p:cNvSpPr/>
          <p:nvPr/>
        </p:nvSpPr>
        <p:spPr>
          <a:xfrm>
            <a:off x="1051560" y="3749040"/>
            <a:ext cx="3456432" cy="96926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Implement predictive late-delivery model to flag at-risk orders at point of placement.</a:t>
            </a:r>
            <a:endParaRPr lang="en-US" sz="1100" dirty="0"/>
          </a:p>
        </p:txBody>
      </p:sp>
      <p:sp>
        <p:nvSpPr>
          <p:cNvPr id="24" name="Shape 22"/>
          <p:cNvSpPr/>
          <p:nvPr/>
        </p:nvSpPr>
        <p:spPr>
          <a:xfrm>
            <a:off x="4800600" y="3639312"/>
            <a:ext cx="4251960" cy="1170432"/>
          </a:xfrm>
          <a:prstGeom prst="roundRect">
            <a:avLst>
              <a:gd name="adj" fmla="val 6250"/>
            </a:avLst>
          </a:prstGeom>
          <a:solidFill>
            <a:srgbClr val="21295C"/>
          </a:solidFill>
          <a:ln/>
          <a:effectLst>
            <a:outerShdw blurRad="76200" dist="25400" dir="2700000" algn="bl" rotWithShape="0">
              <a:srgbClr val="000000">
                <a:alpha val="12000"/>
              </a:srgbClr>
            </a:outerShdw>
          </a:effectLst>
        </p:spPr>
        <p:txBody>
          <a:bodyPr/>
          <a:lstStyle/>
          <a:p>
            <a:endParaRPr lang="en-SG"/>
          </a:p>
        </p:txBody>
      </p:sp>
      <p:sp>
        <p:nvSpPr>
          <p:cNvPr id="25" name="Shape 23"/>
          <p:cNvSpPr/>
          <p:nvPr/>
        </p:nvSpPr>
        <p:spPr>
          <a:xfrm>
            <a:off x="4937760" y="3776472"/>
            <a:ext cx="438912" cy="438912"/>
          </a:xfrm>
          <a:prstGeom prst="ellipse">
            <a:avLst/>
          </a:prstGeom>
          <a:solidFill>
            <a:srgbClr val="02C39A"/>
          </a:solidFill>
          <a:ln w="12700">
            <a:solidFill>
              <a:srgbClr val="02C39A"/>
            </a:solidFill>
            <a:prstDash val="solid"/>
          </a:ln>
        </p:spPr>
        <p:txBody>
          <a:bodyPr/>
          <a:lstStyle/>
          <a:p>
            <a:endParaRPr lang="en-SG"/>
          </a:p>
        </p:txBody>
      </p:sp>
      <p:sp>
        <p:nvSpPr>
          <p:cNvPr id="26" name="Text 24"/>
          <p:cNvSpPr/>
          <p:nvPr/>
        </p:nvSpPr>
        <p:spPr>
          <a:xfrm>
            <a:off x="4937760" y="3776472"/>
            <a:ext cx="438912" cy="438912"/>
          </a:xfrm>
          <a:prstGeom prst="rect">
            <a:avLst/>
          </a:prstGeom>
          <a:noFill/>
          <a:ln/>
        </p:spPr>
        <p:txBody>
          <a:bodyPr wrap="square" lIns="0" tIns="0" rIns="0" bIns="0" rtlCol="0" anchor="ctr"/>
          <a:lstStyle/>
          <a:p>
            <a:pPr marL="0" indent="0" algn="ctr">
              <a:buNone/>
            </a:pPr>
            <a:r>
              <a:rPr lang="en-US" sz="1200" b="1" dirty="0">
                <a:solidFill>
                  <a:srgbClr val="065A82"/>
                </a:solidFill>
              </a:rPr>
              <a:t>06</a:t>
            </a:r>
            <a:endParaRPr lang="en-US" sz="1200" dirty="0"/>
          </a:p>
        </p:txBody>
      </p:sp>
      <p:sp>
        <p:nvSpPr>
          <p:cNvPr id="27" name="Text 25"/>
          <p:cNvSpPr/>
          <p:nvPr/>
        </p:nvSpPr>
        <p:spPr>
          <a:xfrm>
            <a:off x="5486400" y="3749040"/>
            <a:ext cx="3456432" cy="96926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Enhance product content for Cleats, Footwear, Apparel to cut cancellations and reverse logistics.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914400" y="2743200"/>
            <a:ext cx="5486400" cy="5486400"/>
          </a:xfrm>
          <a:prstGeom prst="ellipse">
            <a:avLst/>
          </a:prstGeom>
          <a:solidFill>
            <a:srgbClr val="1C7293">
              <a:alpha val="18000"/>
            </a:srgbClr>
          </a:solidFill>
          <a:ln w="12700">
            <a:solidFill>
              <a:srgbClr val="1C7293">
                <a:alpha val="18000"/>
              </a:srgbClr>
            </a:solidFill>
            <a:prstDash val="solid"/>
          </a:ln>
        </p:spPr>
        <p:txBody>
          <a:bodyPr/>
          <a:lstStyle/>
          <a:p>
            <a:endParaRPr lang="en-SG"/>
          </a:p>
        </p:txBody>
      </p:sp>
      <p:sp>
        <p:nvSpPr>
          <p:cNvPr id="3" name="Shape 1"/>
          <p:cNvSpPr/>
          <p:nvPr/>
        </p:nvSpPr>
        <p:spPr>
          <a:xfrm>
            <a:off x="6400800" y="-914400"/>
            <a:ext cx="4572000" cy="4572000"/>
          </a:xfrm>
          <a:prstGeom prst="ellipse">
            <a:avLst/>
          </a:prstGeom>
          <a:solidFill>
            <a:srgbClr val="02C39A">
              <a:alpha val="12000"/>
            </a:srgbClr>
          </a:solidFill>
          <a:ln w="12700">
            <a:solidFill>
              <a:srgbClr val="02C39A">
                <a:alpha val="12000"/>
              </a:srgbClr>
            </a:solidFill>
            <a:prstDash val="solid"/>
          </a:ln>
        </p:spPr>
        <p:txBody>
          <a:bodyPr/>
          <a:lstStyle/>
          <a:p>
            <a:endParaRPr lang="en-SG"/>
          </a:p>
        </p:txBody>
      </p:sp>
      <p:sp>
        <p:nvSpPr>
          <p:cNvPr id="4" name="Text 2"/>
          <p:cNvSpPr/>
          <p:nvPr/>
        </p:nvSpPr>
        <p:spPr>
          <a:xfrm>
            <a:off x="914400" y="1371600"/>
            <a:ext cx="7315200" cy="1280160"/>
          </a:xfrm>
          <a:prstGeom prst="rect">
            <a:avLst/>
          </a:prstGeom>
          <a:noFill/>
          <a:ln/>
        </p:spPr>
        <p:txBody>
          <a:bodyPr wrap="square"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5" name="Text 3"/>
          <p:cNvSpPr/>
          <p:nvPr/>
        </p:nvSpPr>
        <p:spPr>
          <a:xfrm>
            <a:off x="914400" y="2560000"/>
            <a:ext cx="7315200" cy="4600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rPr>
              <a:t>Freddy Fok</a:t>
            </a:r>
            <a:endParaRPr lang="en-US" sz="1800" dirty="0"/>
          </a:p>
        </p:txBody>
      </p:sp>
      <p:sp>
        <p:nvSpPr>
          <p:cNvPr id="55" name="Text 3b"/>
          <p:cNvSpPr/>
          <p:nvPr/>
        </p:nvSpPr>
        <p:spPr>
          <a:xfrm>
            <a:off x="914400" y="3030000"/>
            <a:ext cx="7315200" cy="460000"/>
          </a:xfrm>
          <a:prstGeom prst="rect">
            <a:avLst/>
          </a:prstGeom>
          <a:noFill/>
          <a:ln/>
        </p:spPr>
        <p:txBody>
          <a:bodyPr wrap="square" rtlCol="0" anchor="ctr"/>
          <a:lstStyle/>
          <a:p>
            <a:pPr marL="0" indent="0" algn="ctr">
              <a:buNone/>
            </a:pPr>
            <a:r>
              <a:rPr lang="en-US" sz="2200" i="1" dirty="0">
                <a:solidFill>
                  <a:srgbClr val="02C39A"/>
                </a:solidFill>
                <a:latin typeface="Calibri" pitchFamily="34" charset="0"/>
              </a:rPr>
              <a:t>Questions &amp; Discussion</a:t>
            </a:r>
            <a:endParaRPr lang="en-US" sz="2200" dirty="0"/>
          </a:p>
        </p:txBody>
      </p:sp>
      <p:sp>
        <p:nvSpPr>
          <p:cNvPr id="6" name="Shape 4"/>
          <p:cNvSpPr/>
          <p:nvPr/>
        </p:nvSpPr>
        <p:spPr>
          <a:xfrm>
            <a:off x="3200400" y="3374136"/>
            <a:ext cx="2743200" cy="36576"/>
          </a:xfrm>
          <a:prstGeom prst="rect">
            <a:avLst/>
          </a:prstGeom>
          <a:solidFill>
            <a:srgbClr val="4A7A9B"/>
          </a:solidFill>
          <a:ln w="12700">
            <a:solidFill>
              <a:srgbClr val="4A7A9B"/>
            </a:solidFill>
            <a:prstDash val="solid"/>
          </a:ln>
        </p:spPr>
        <p:txBody>
          <a:bodyPr/>
          <a:lstStyle/>
          <a:p>
            <a:endParaRPr lang="en-SG"/>
          </a:p>
        </p:txBody>
      </p:sp>
      <p:sp>
        <p:nvSpPr>
          <p:cNvPr id="7" name="Text 5"/>
          <p:cNvSpPr/>
          <p:nvPr/>
        </p:nvSpPr>
        <p:spPr>
          <a:xfrm>
            <a:off x="914400" y="3474720"/>
            <a:ext cx="7315200" cy="594360"/>
          </a:xfrm>
          <a:prstGeom prst="rect">
            <a:avLst/>
          </a:prstGeom>
          <a:noFill/>
          <a:ln/>
        </p:spPr>
        <p:txBody>
          <a:bodyPr wrap="square" rtlCol="0" anchor="ctr"/>
          <a:lstStyle/>
          <a:p>
            <a:pPr marL="0" indent="0" algn="ctr">
              <a:buNone/>
            </a:pPr>
            <a:r>
              <a:rPr lang="en-US" sz="1100" dirty="0">
                <a:solidFill>
                  <a:srgbClr val="7FB8D4"/>
                </a:solidFill>
                <a:latin typeface="Calibri" pitchFamily="34" charset="0"/>
                <a:ea typeface="Calibri" pitchFamily="34" charset="-122"/>
                <a:cs typeface="Calibri" pitchFamily="34" charset="-120"/>
              </a:rPr>
              <a:t>DataCo Supply Chain Analytics  ·  Comprehensive analysis of late deliveries, payment issues, product optimisation &amp; predictive modelling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1433</TotalTime>
  <Words>2776</Words>
  <Application>Microsoft Office PowerPoint</Application>
  <PresentationFormat>On-screen Show (16:9)</PresentationFormat>
  <Paragraphs>490</Paragraphs>
  <Slides>27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DataCo Supply Chain Analytics</dc:title>
  <dc:subject>PptxGenJS Presentation</dc:subject>
  <dc:creator>PptxGenJS</dc:creator>
  <cp:lastModifiedBy>Freddy Fok</cp:lastModifiedBy>
  <cp:revision>40</cp:revision>
  <dcterms:created xsi:type="dcterms:W3CDTF">2026-06-22T07:00:58Z</dcterms:created>
  <dcterms:modified xsi:type="dcterms:W3CDTF">2026-07-01T02:07:34Z</dcterms:modified>
</cp:coreProperties>
</file>